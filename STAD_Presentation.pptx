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8" r:id="rId3"/>
    <p:sldId id="259" r:id="rId4"/>
    <p:sldId id="260" r:id="rId5"/>
    <p:sldId id="261" r:id="rId6"/>
    <p:sldId id="262" r:id="rId7"/>
    <p:sldId id="263" r:id="rId8"/>
    <p:sldId id="264" r:id="rId9"/>
    <p:sldId id="265" r:id="rId10"/>
    <p:sldId id="266" r:id="rId11"/>
    <p:sldId id="267" r:id="rId12"/>
    <p:sldId id="269" r:id="rId13"/>
    <p:sldId id="270"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B821EE-7EDE-1BC5-47E8-878E1312EDD0}" v="1" dt="2026-04-19T20:20:23.509"/>
    <p1510:client id="{4D092DEF-00EA-1342-BEEC-CD78CE3D238A}" v="15" dt="2026-04-20T17:16:32.175"/>
    <p1510:client id="{BA0031A8-0E7E-60AA-9CAD-810ECDCE7A02}" v="6" dt="2026-04-19T21:02:18.8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75000"/>
  </p:normalViewPr>
  <p:slideViewPr>
    <p:cSldViewPr snapToGrid="0">
      <p:cViewPr varScale="1">
        <p:scale>
          <a:sx n="100" d="100"/>
          <a:sy n="100" d="100"/>
        </p:scale>
        <p:origin x="1192"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ran Agarwal" userId="S::tagarwa4@jh.edu::23fb2fbf-5efe-4fc2-bc14-d8efdc45d2e1" providerId="AD" clId="Web-{04B821EE-7EDE-1BC5-47E8-878E1312EDD0}"/>
    <pc:docChg chg="delSld">
      <pc:chgData name="Taran Agarwal" userId="S::tagarwa4@jh.edu::23fb2fbf-5efe-4fc2-bc14-d8efdc45d2e1" providerId="AD" clId="Web-{04B821EE-7EDE-1BC5-47E8-878E1312EDD0}" dt="2026-04-19T20:20:23.509" v="0"/>
      <pc:docMkLst>
        <pc:docMk/>
      </pc:docMkLst>
      <pc:sldChg chg="del">
        <pc:chgData name="Taran Agarwal" userId="S::tagarwa4@jh.edu::23fb2fbf-5efe-4fc2-bc14-d8efdc45d2e1" providerId="AD" clId="Web-{04B821EE-7EDE-1BC5-47E8-878E1312EDD0}" dt="2026-04-19T20:20:23.509" v="0"/>
        <pc:sldMkLst>
          <pc:docMk/>
          <pc:sldMk cId="0" sldId="257"/>
        </pc:sldMkLst>
      </pc:sldChg>
    </pc:docChg>
  </pc:docChgLst>
  <pc:docChgLst>
    <pc:chgData name="Justin Bravo" userId="S::jbravo3@jh.edu::9f1fe055-3690-41f2-9521-e4d72659387d" providerId="AD" clId="Web-{BA0031A8-0E7E-60AA-9CAD-810ECDCE7A02}"/>
    <pc:docChg chg="delSld modSld">
      <pc:chgData name="Justin Bravo" userId="S::jbravo3@jh.edu::9f1fe055-3690-41f2-9521-e4d72659387d" providerId="AD" clId="Web-{BA0031A8-0E7E-60AA-9CAD-810ECDCE7A02}" dt="2026-04-19T21:04:01.549" v="217"/>
      <pc:docMkLst>
        <pc:docMk/>
      </pc:docMkLst>
      <pc:sldChg chg="modNotes">
        <pc:chgData name="Justin Bravo" userId="S::jbravo3@jh.edu::9f1fe055-3690-41f2-9521-e4d72659387d" providerId="AD" clId="Web-{BA0031A8-0E7E-60AA-9CAD-810ECDCE7A02}" dt="2026-04-19T20:53:30.061" v="166"/>
        <pc:sldMkLst>
          <pc:docMk/>
          <pc:sldMk cId="0" sldId="256"/>
        </pc:sldMkLst>
      </pc:sldChg>
      <pc:sldChg chg="modNotes">
        <pc:chgData name="Justin Bravo" userId="S::jbravo3@jh.edu::9f1fe055-3690-41f2-9521-e4d72659387d" providerId="AD" clId="Web-{BA0031A8-0E7E-60AA-9CAD-810ECDCE7A02}" dt="2026-04-19T20:54:49.782" v="171"/>
        <pc:sldMkLst>
          <pc:docMk/>
          <pc:sldMk cId="0" sldId="258"/>
        </pc:sldMkLst>
      </pc:sldChg>
      <pc:sldChg chg="modNotes">
        <pc:chgData name="Justin Bravo" userId="S::jbravo3@jh.edu::9f1fe055-3690-41f2-9521-e4d72659387d" providerId="AD" clId="Web-{BA0031A8-0E7E-60AA-9CAD-810ECDCE7A02}" dt="2026-04-19T20:38:14.490" v="18"/>
        <pc:sldMkLst>
          <pc:docMk/>
          <pc:sldMk cId="0" sldId="259"/>
        </pc:sldMkLst>
      </pc:sldChg>
      <pc:sldChg chg="modNotes">
        <pc:chgData name="Justin Bravo" userId="S::jbravo3@jh.edu::9f1fe055-3690-41f2-9521-e4d72659387d" providerId="AD" clId="Web-{BA0031A8-0E7E-60AA-9CAD-810ECDCE7A02}" dt="2026-04-19T20:55:39.908" v="180"/>
        <pc:sldMkLst>
          <pc:docMk/>
          <pc:sldMk cId="0" sldId="260"/>
        </pc:sldMkLst>
      </pc:sldChg>
      <pc:sldChg chg="modNotes">
        <pc:chgData name="Justin Bravo" userId="S::jbravo3@jh.edu::9f1fe055-3690-41f2-9521-e4d72659387d" providerId="AD" clId="Web-{BA0031A8-0E7E-60AA-9CAD-810ECDCE7A02}" dt="2026-04-19T20:46:09.564" v="94"/>
        <pc:sldMkLst>
          <pc:docMk/>
          <pc:sldMk cId="0" sldId="261"/>
        </pc:sldMkLst>
      </pc:sldChg>
      <pc:sldChg chg="modNotes">
        <pc:chgData name="Justin Bravo" userId="S::jbravo3@jh.edu::9f1fe055-3690-41f2-9521-e4d72659387d" providerId="AD" clId="Web-{BA0031A8-0E7E-60AA-9CAD-810ECDCE7A02}" dt="2026-04-19T20:57:21.488" v="182"/>
        <pc:sldMkLst>
          <pc:docMk/>
          <pc:sldMk cId="0" sldId="262"/>
        </pc:sldMkLst>
      </pc:sldChg>
      <pc:sldChg chg="modNotes">
        <pc:chgData name="Justin Bravo" userId="S::jbravo3@jh.edu::9f1fe055-3690-41f2-9521-e4d72659387d" providerId="AD" clId="Web-{BA0031A8-0E7E-60AA-9CAD-810ECDCE7A02}" dt="2026-04-19T20:58:01.942" v="184"/>
        <pc:sldMkLst>
          <pc:docMk/>
          <pc:sldMk cId="0" sldId="263"/>
        </pc:sldMkLst>
      </pc:sldChg>
      <pc:sldChg chg="modNotes">
        <pc:chgData name="Justin Bravo" userId="S::jbravo3@jh.edu::9f1fe055-3690-41f2-9521-e4d72659387d" providerId="AD" clId="Web-{BA0031A8-0E7E-60AA-9CAD-810ECDCE7A02}" dt="2026-04-19T20:58:38.333" v="186"/>
        <pc:sldMkLst>
          <pc:docMk/>
          <pc:sldMk cId="0" sldId="264"/>
        </pc:sldMkLst>
      </pc:sldChg>
      <pc:sldChg chg="modNotes">
        <pc:chgData name="Justin Bravo" userId="S::jbravo3@jh.edu::9f1fe055-3690-41f2-9521-e4d72659387d" providerId="AD" clId="Web-{BA0031A8-0E7E-60AA-9CAD-810ECDCE7A02}" dt="2026-04-19T20:59:15.334" v="188"/>
        <pc:sldMkLst>
          <pc:docMk/>
          <pc:sldMk cId="0" sldId="265"/>
        </pc:sldMkLst>
      </pc:sldChg>
      <pc:sldChg chg="modNotes">
        <pc:chgData name="Justin Bravo" userId="S::jbravo3@jh.edu::9f1fe055-3690-41f2-9521-e4d72659387d" providerId="AD" clId="Web-{BA0031A8-0E7E-60AA-9CAD-810ECDCE7A02}" dt="2026-04-19T20:59:51.538" v="190"/>
        <pc:sldMkLst>
          <pc:docMk/>
          <pc:sldMk cId="0" sldId="266"/>
        </pc:sldMkLst>
      </pc:sldChg>
      <pc:sldChg chg="modNotes">
        <pc:chgData name="Justin Bravo" userId="S::jbravo3@jh.edu::9f1fe055-3690-41f2-9521-e4d72659387d" providerId="AD" clId="Web-{BA0031A8-0E7E-60AA-9CAD-810ECDCE7A02}" dt="2026-04-19T21:01:15.664" v="195"/>
        <pc:sldMkLst>
          <pc:docMk/>
          <pc:sldMk cId="0" sldId="267"/>
        </pc:sldMkLst>
      </pc:sldChg>
      <pc:sldChg chg="del">
        <pc:chgData name="Justin Bravo" userId="S::jbravo3@jh.edu::9f1fe055-3690-41f2-9521-e4d72659387d" providerId="AD" clId="Web-{BA0031A8-0E7E-60AA-9CAD-810ECDCE7A02}" dt="2026-04-19T21:02:12.727" v="196"/>
        <pc:sldMkLst>
          <pc:docMk/>
          <pc:sldMk cId="0" sldId="268"/>
        </pc:sldMkLst>
      </pc:sldChg>
      <pc:sldChg chg="modNotes">
        <pc:chgData name="Justin Bravo" userId="S::jbravo3@jh.edu::9f1fe055-3690-41f2-9521-e4d72659387d" providerId="AD" clId="Web-{BA0031A8-0E7E-60AA-9CAD-810ECDCE7A02}" dt="2026-04-19T21:03:05.387" v="209"/>
        <pc:sldMkLst>
          <pc:docMk/>
          <pc:sldMk cId="0" sldId="269"/>
        </pc:sldMkLst>
      </pc:sldChg>
      <pc:sldChg chg="modNotes">
        <pc:chgData name="Justin Bravo" userId="S::jbravo3@jh.edu::9f1fe055-3690-41f2-9521-e4d72659387d" providerId="AD" clId="Web-{BA0031A8-0E7E-60AA-9CAD-810ECDCE7A02}" dt="2026-04-19T21:04:01.549" v="217"/>
        <pc:sldMkLst>
          <pc:docMk/>
          <pc:sldMk cId="0" sldId="270"/>
        </pc:sldMkLst>
      </pc:sldChg>
    </pc:docChg>
  </pc:docChgLst>
  <pc:docChgLst>
    <pc:chgData name="Justin Bravo" userId="S::jbravo3@jh.edu::9f1fe055-3690-41f2-9521-e4d72659387d" providerId="AD" clId="Web-{FE1C4833-AAEE-82E8-D71B-6A127E3CE1D7}"/>
    <pc:docChg chg="modSld">
      <pc:chgData name="Justin Bravo" userId="S::jbravo3@jh.edu::9f1fe055-3690-41f2-9521-e4d72659387d" providerId="AD" clId="Web-{FE1C4833-AAEE-82E8-D71B-6A127E3CE1D7}" dt="2026-04-20T16:45:31.726" v="7"/>
      <pc:docMkLst>
        <pc:docMk/>
      </pc:docMkLst>
      <pc:sldChg chg="modNotes">
        <pc:chgData name="Justin Bravo" userId="S::jbravo3@jh.edu::9f1fe055-3690-41f2-9521-e4d72659387d" providerId="AD" clId="Web-{FE1C4833-AAEE-82E8-D71B-6A127E3CE1D7}" dt="2026-04-20T16:45:31.726" v="7"/>
        <pc:sldMkLst>
          <pc:docMk/>
          <pc:sldMk cId="0" sldId="256"/>
        </pc:sldMkLst>
      </pc:sldChg>
      <pc:sldChg chg="modNotes">
        <pc:chgData name="Justin Bravo" userId="S::jbravo3@jh.edu::9f1fe055-3690-41f2-9521-e4d72659387d" providerId="AD" clId="Web-{FE1C4833-AAEE-82E8-D71B-6A127E3CE1D7}" dt="2026-04-20T16:44:25.537" v="1"/>
        <pc:sldMkLst>
          <pc:docMk/>
          <pc:sldMk cId="0" sldId="266"/>
        </pc:sldMkLst>
      </pc:sldChg>
    </pc:docChg>
  </pc:docChgLst>
  <pc:docChgLst>
    <pc:chgData name="Taran Agarwal" userId="23fb2fbf-5efe-4fc2-bc14-d8efdc45d2e1" providerId="ADAL" clId="{769CAB3C-907B-50F2-9DBE-6F964ACBC6A4}"/>
    <pc:docChg chg="undo custSel modSld">
      <pc:chgData name="Taran Agarwal" userId="23fb2fbf-5efe-4fc2-bc14-d8efdc45d2e1" providerId="ADAL" clId="{769CAB3C-907B-50F2-9DBE-6F964ACBC6A4}" dt="2026-04-20T17:37:02.436" v="27" actId="20577"/>
      <pc:docMkLst>
        <pc:docMk/>
      </pc:docMkLst>
      <pc:sldChg chg="modSp mod">
        <pc:chgData name="Taran Agarwal" userId="23fb2fbf-5efe-4fc2-bc14-d8efdc45d2e1" providerId="ADAL" clId="{769CAB3C-907B-50F2-9DBE-6F964ACBC6A4}" dt="2026-04-20T17:37:02.436" v="27" actId="20577"/>
        <pc:sldMkLst>
          <pc:docMk/>
          <pc:sldMk cId="0" sldId="256"/>
        </pc:sldMkLst>
        <pc:spChg chg="mod">
          <ac:chgData name="Taran Agarwal" userId="23fb2fbf-5efe-4fc2-bc14-d8efdc45d2e1" providerId="ADAL" clId="{769CAB3C-907B-50F2-9DBE-6F964ACBC6A4}" dt="2026-04-20T17:37:02.436" v="27" actId="20577"/>
          <ac:spMkLst>
            <pc:docMk/>
            <pc:sldMk cId="0" sldId="256"/>
            <ac:spMk id="8" creationId="{00000000-0000-0000-0000-000000000000}"/>
          </ac:spMkLst>
        </pc:spChg>
      </pc:sldChg>
      <pc:sldChg chg="addSp delSp modSp mod">
        <pc:chgData name="Taran Agarwal" userId="23fb2fbf-5efe-4fc2-bc14-d8efdc45d2e1" providerId="ADAL" clId="{769CAB3C-907B-50F2-9DBE-6F964ACBC6A4}" dt="2026-04-20T16:03:27.073" v="3" actId="478"/>
        <pc:sldMkLst>
          <pc:docMk/>
          <pc:sldMk cId="0" sldId="261"/>
        </pc:sldMkLst>
        <pc:spChg chg="add del">
          <ac:chgData name="Taran Agarwal" userId="23fb2fbf-5efe-4fc2-bc14-d8efdc45d2e1" providerId="ADAL" clId="{769CAB3C-907B-50F2-9DBE-6F964ACBC6A4}" dt="2026-04-20T16:03:27.073" v="3" actId="478"/>
          <ac:spMkLst>
            <pc:docMk/>
            <pc:sldMk cId="0" sldId="261"/>
            <ac:spMk id="25" creationId="{00000000-0000-0000-0000-000000000000}"/>
          </ac:spMkLst>
        </pc:spChg>
        <pc:spChg chg="mod">
          <ac:chgData name="Taran Agarwal" userId="23fb2fbf-5efe-4fc2-bc14-d8efdc45d2e1" providerId="ADAL" clId="{769CAB3C-907B-50F2-9DBE-6F964ACBC6A4}" dt="2026-04-20T16:03:24.932" v="1" actId="20577"/>
          <ac:spMkLst>
            <pc:docMk/>
            <pc:sldMk cId="0" sldId="261"/>
            <ac:spMk id="27" creationId="{00000000-0000-0000-0000-000000000000}"/>
          </ac:spMkLst>
        </pc:spChg>
      </pc:sldChg>
      <pc:sldChg chg="modNotesTx">
        <pc:chgData name="Taran Agarwal" userId="23fb2fbf-5efe-4fc2-bc14-d8efdc45d2e1" providerId="ADAL" clId="{769CAB3C-907B-50F2-9DBE-6F964ACBC6A4}" dt="2026-04-20T16:22:29.658" v="13" actId="20577"/>
        <pc:sldMkLst>
          <pc:docMk/>
          <pc:sldMk cId="0" sldId="262"/>
        </pc:sldMkLst>
      </pc:sldChg>
      <pc:sldChg chg="addSp modSp">
        <pc:chgData name="Taran Agarwal" userId="23fb2fbf-5efe-4fc2-bc14-d8efdc45d2e1" providerId="ADAL" clId="{769CAB3C-907B-50F2-9DBE-6F964ACBC6A4}" dt="2026-04-20T17:16:32.175" v="18" actId="1076"/>
        <pc:sldMkLst>
          <pc:docMk/>
          <pc:sldMk cId="0" sldId="270"/>
        </pc:sldMkLst>
        <pc:picChg chg="add mod">
          <ac:chgData name="Taran Agarwal" userId="23fb2fbf-5efe-4fc2-bc14-d8efdc45d2e1" providerId="ADAL" clId="{769CAB3C-907B-50F2-9DBE-6F964ACBC6A4}" dt="2026-04-20T17:16:32.175" v="18" actId="1076"/>
          <ac:picMkLst>
            <pc:docMk/>
            <pc:sldMk cId="0" sldId="270"/>
            <ac:picMk id="1026" creationId="{88E6E9C2-BFC4-CB4F-A619-513922122E0C}"/>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28251D"/>
                </a:solidFill>
                <a:latin typeface="Calibri"/>
              </a:defRPr>
            </a:pPr>
            <a:r>
              <a:rPr lang="en-US" sz="1200" b="0" i="0" u="none" strike="noStrike">
                <a:solidFill>
                  <a:srgbClr val="28251D"/>
                </a:solidFill>
                <a:latin typeface="Calibri"/>
              </a:rPr>
              <a:t>Mutation score by module (%)</a:t>
            </a:r>
          </a:p>
        </c:rich>
      </c:tx>
      <c:overlay val="0"/>
    </c:title>
    <c:autoTitleDeleted val="0"/>
    <c:plotArea>
      <c:layout/>
      <c:barChart>
        <c:barDir val="col"/>
        <c:grouping val="clustered"/>
        <c:varyColors val="0"/>
        <c:ser>
          <c:idx val="0"/>
          <c:order val="0"/>
          <c:tx>
            <c:strRef>
              <c:f>Sheet1!$B$1</c:f>
              <c:strCache>
                <c:ptCount val="1"/>
                <c:pt idx="0">
                  <c:v>Baseline</c:v>
                </c:pt>
              </c:strCache>
            </c:strRef>
          </c:tx>
          <c:spPr>
            <a:solidFill>
              <a:srgbClr val="BAB9B4"/>
            </a:solidFill>
            <a:effectLst/>
          </c:spPr>
          <c:invertIfNegative val="0"/>
          <c:cat>
            <c:strRef>
              <c:f>Sheet1!$A$2:$A$7</c:f>
              <c:strCache>
                <c:ptCount val="6"/>
                <c:pt idx="0">
                  <c:v>__init__</c:v>
                </c:pt>
                <c:pt idx="1">
                  <c:v>habit_display</c:v>
                </c:pt>
                <c:pt idx="2">
                  <c:v>habit_io</c:v>
                </c:pt>
                <c:pt idx="3">
                  <c:v>habit_logic</c:v>
                </c:pt>
                <c:pt idx="4">
                  <c:v>habit_setup</c:v>
                </c:pt>
                <c:pt idx="5">
                  <c:v>habit_visualization</c:v>
                </c:pt>
              </c:strCache>
            </c:strRef>
          </c:cat>
          <c:val>
            <c:numRef>
              <c:f>Sheet1!$B$2:$B$7</c:f>
              <c:numCache>
                <c:formatCode>General</c:formatCode>
                <c:ptCount val="6"/>
                <c:pt idx="0">
                  <c:v>17.600000000000001</c:v>
                </c:pt>
                <c:pt idx="1">
                  <c:v>32.5</c:v>
                </c:pt>
                <c:pt idx="2">
                  <c:v>57.8</c:v>
                </c:pt>
                <c:pt idx="3">
                  <c:v>77.3</c:v>
                </c:pt>
                <c:pt idx="4">
                  <c:v>44.7</c:v>
                </c:pt>
                <c:pt idx="5">
                  <c:v>35</c:v>
                </c:pt>
              </c:numCache>
            </c:numRef>
          </c:val>
          <c:extLst>
            <c:ext xmlns:c16="http://schemas.microsoft.com/office/drawing/2014/chart" uri="{C3380CC4-5D6E-409C-BE32-E72D297353CC}">
              <c16:uniqueId val="{00000000-235E-4A35-8B2E-4108D957A6D7}"/>
            </c:ext>
          </c:extLst>
        </c:ser>
        <c:ser>
          <c:idx val="1"/>
          <c:order val="1"/>
          <c:tx>
            <c:strRef>
              <c:f>Sheet1!$C$1</c:f>
              <c:strCache>
                <c:ptCount val="1"/>
                <c:pt idx="0">
                  <c:v>Post-Improvement</c:v>
                </c:pt>
              </c:strCache>
            </c:strRef>
          </c:tx>
          <c:spPr>
            <a:solidFill>
              <a:srgbClr val="01696F"/>
            </a:solidFill>
            <a:effectLst/>
          </c:spPr>
          <c:invertIfNegative val="0"/>
          <c:cat>
            <c:strRef>
              <c:f>Sheet1!$A$2:$A$7</c:f>
              <c:strCache>
                <c:ptCount val="6"/>
                <c:pt idx="0">
                  <c:v>__init__</c:v>
                </c:pt>
                <c:pt idx="1">
                  <c:v>habit_display</c:v>
                </c:pt>
                <c:pt idx="2">
                  <c:v>habit_io</c:v>
                </c:pt>
                <c:pt idx="3">
                  <c:v>habit_logic</c:v>
                </c:pt>
                <c:pt idx="4">
                  <c:v>habit_setup</c:v>
                </c:pt>
                <c:pt idx="5">
                  <c:v>habit_visualization</c:v>
                </c:pt>
              </c:strCache>
            </c:strRef>
          </c:cat>
          <c:val>
            <c:numRef>
              <c:f>Sheet1!$C$2:$C$7</c:f>
              <c:numCache>
                <c:formatCode>General</c:formatCode>
                <c:ptCount val="6"/>
                <c:pt idx="0">
                  <c:v>100</c:v>
                </c:pt>
                <c:pt idx="1">
                  <c:v>96.5</c:v>
                </c:pt>
                <c:pt idx="2">
                  <c:v>92</c:v>
                </c:pt>
                <c:pt idx="3">
                  <c:v>98.5</c:v>
                </c:pt>
                <c:pt idx="4">
                  <c:v>97.5</c:v>
                </c:pt>
                <c:pt idx="5">
                  <c:v>51</c:v>
                </c:pt>
              </c:numCache>
            </c:numRef>
          </c:val>
          <c:extLst>
            <c:ext xmlns:c16="http://schemas.microsoft.com/office/drawing/2014/chart" uri="{C3380CC4-5D6E-409C-BE32-E72D297353CC}">
              <c16:uniqueId val="{00000001-235E-4A35-8B2E-4108D957A6D7}"/>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4D1CA"/>
            </a:solidFill>
            <a:prstDash val="solid"/>
            <a:round/>
          </a:ln>
        </c:spPr>
        <c:txPr>
          <a:bodyPr/>
          <a:lstStyle/>
          <a:p>
            <a:pPr>
              <a:defRPr sz="1000" b="0" i="0" u="none" strike="noStrike">
                <a:solidFill>
                  <a:srgbClr val="28251D"/>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D4D1CA"/>
            </a:solidFill>
            <a:prstDash val="solid"/>
            <a:round/>
          </a:ln>
        </c:spPr>
        <c:txPr>
          <a:bodyPr/>
          <a:lstStyle/>
          <a:p>
            <a:pPr>
              <a:defRPr sz="900" b="0" i="0" u="none" strike="noStrike">
                <a:solidFill>
                  <a:srgbClr val="7A7974"/>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A39C1E88-DA28-44AF-A8FC-ECF82B6DB55D}" type="datetimeFigureOut">
              <a:t>4/20/26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201E9CDA-DA21-43B7-B248-7FAB3E62E09E}" type="slidenum">
              <a:t>‹#›</a:t>
            </a:fld>
            <a:endParaRPr lang="en-US"/>
          </a:p>
        </p:txBody>
      </p:sp>
    </p:spTree>
    <p:extLst>
      <p:ext uri="{BB962C8B-B14F-4D97-AF65-F5344CB8AC3E}">
        <p14:creationId xmlns:p14="http://schemas.microsoft.com/office/powerpoint/2010/main" val="2010422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[JUSTIN] Good afternoon. Justin Bravo and Taran Agarwal, and this is our STAD final project: a systematic testing campaign against HERALDEXX habit-tracker.</a:t>
            </a:r>
          </a:p>
          <a:p>
            <a:r>
              <a:rPr lang="en-US" dirty="0"/>
              <a:t> </a:t>
            </a:r>
            <a:endParaRPr lang="en-US" dirty="0">
              <a:ea typeface="Calibri"/>
              <a:cs typeface="Calibri"/>
            </a:endParaRPr>
          </a:p>
          <a:p>
            <a:r>
              <a:rPr lang="en-US" dirty="0"/>
              <a:t>We did not write the app — HERALDEXX is a real open-source Python project on GitHub with roughly 3,600 lines of code and ZERO automated tests shipping in the repository. Our job was to design a complete testing strategy from scratch: 355 tests covering </a:t>
            </a:r>
            <a:r>
              <a:rPr lang="en-US" dirty="0" err="1"/>
              <a:t>blackbox</a:t>
            </a:r>
            <a:r>
              <a:rPr lang="en-US" dirty="0"/>
              <a:t>, </a:t>
            </a:r>
            <a:r>
              <a:rPr lang="en-US" dirty="0" err="1"/>
              <a:t>whitebox</a:t>
            </a:r>
            <a:r>
              <a:rPr lang="en-US" dirty="0"/>
              <a:t>, mutation, and an alternate strategy for the GUI.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[TARAN] Our subject-under-test is HERALDEXX habit-tracker It is a small but real cross-platform app for daily habit tracking.</a:t>
            </a:r>
          </a:p>
          <a:p>
            <a:r>
              <a:rPr lang="en-US" dirty="0"/>
              <a:t> </a:t>
            </a:r>
            <a:endParaRPr lang="en-US" dirty="0">
              <a:ea typeface="Calibri"/>
              <a:cs typeface="Calibri"/>
            </a:endParaRPr>
          </a:p>
          <a:p>
            <a:r>
              <a:rPr lang="en-US" dirty="0"/>
              <a:t>What it does: the user creates between two and ten habits through an interactive wizard, marks them complete or not complete each day, and the app tracks consecutive-day streaks. Matplotlib generates per-habit streak plots on demand. Everything persists to local JSON — no cloud, no account, fully offline. And the same engine powers both a CLI and a GUI, so whatever you do on one surface shows up on the other.</a:t>
            </a:r>
          </a:p>
          <a:p>
            <a:r>
              <a:rPr lang="en-US" dirty="0"/>
              <a:t> </a:t>
            </a:r>
            <a:endParaRPr lang="en-US" dirty="0">
              <a:ea typeface="Calibri"/>
              <a:cs typeface="Calibri"/>
            </a:endParaRPr>
          </a:p>
          <a:p>
            <a:r>
              <a:rPr lang="en-US" dirty="0"/>
              <a:t>Two things worth calling out:</a:t>
            </a:r>
          </a:p>
          <a:p>
            <a:r>
              <a:rPr lang="en-US" dirty="0"/>
              <a:t> </a:t>
            </a:r>
            <a:endParaRPr lang="en-US" dirty="0">
              <a:ea typeface="Calibri"/>
              <a:cs typeface="Calibri"/>
            </a:endParaRPr>
          </a:p>
          <a:p>
            <a:r>
              <a:rPr lang="en-US" dirty="0"/>
              <a:t>It is 100% Python, which made </a:t>
            </a:r>
            <a:r>
              <a:rPr lang="en-US" dirty="0" err="1"/>
              <a:t>pytest</a:t>
            </a:r>
            <a:r>
              <a:rPr lang="en-US" dirty="0"/>
              <a:t> plus </a:t>
            </a:r>
            <a:r>
              <a:rPr lang="en-US" dirty="0" err="1"/>
              <a:t>mutmut</a:t>
            </a:r>
            <a:r>
              <a:rPr lang="en-US" dirty="0"/>
              <a:t> plus coverage a natural toolchain.</a:t>
            </a:r>
            <a:endParaRPr lang="en-US" dirty="0">
              <a:ea typeface="Calibri"/>
              <a:cs typeface="Calibri"/>
            </a:endParaRPr>
          </a:p>
          <a:p>
            <a:r>
              <a:rPr lang="en-US" dirty="0"/>
              <a:t> </a:t>
            </a:r>
            <a:endParaRPr lang="en-US" dirty="0">
              <a:ea typeface="Calibri"/>
              <a:cs typeface="Calibri"/>
            </a:endParaRPr>
          </a:p>
          <a:p>
            <a:r>
              <a:rPr lang="en-US" dirty="0"/>
              <a:t>There were zero pre-existing automated tests. When we measured the untouched codebase the mutation score came in under 48%, so there was a lot of room to move the needle.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[JUSTIN] Quick rundown of platform, users, and tech:</a:t>
            </a:r>
          </a:p>
          <a:p>
            <a:r>
              <a:rPr lang="en-US" dirty="0"/>
              <a:t> </a:t>
            </a:r>
            <a:endParaRPr lang="en-US" dirty="0">
              <a:ea typeface="Calibri"/>
              <a:cs typeface="Calibri"/>
            </a:endParaRPr>
          </a:p>
          <a:p>
            <a:r>
              <a:rPr lang="en-US" dirty="0"/>
              <a:t>App type: Python desktop app, cross-platform — Windows, macOS, Linux. Ships as source plus prebuilt </a:t>
            </a:r>
            <a:r>
              <a:rPr lang="en-US" dirty="0" err="1"/>
              <a:t>PyInstaller</a:t>
            </a:r>
            <a:r>
              <a:rPr lang="en-US" dirty="0"/>
              <a:t> binaries. Importantly, there are two interfaces sharing one core: a full CLI and a </a:t>
            </a:r>
            <a:r>
              <a:rPr lang="en-US" dirty="0" err="1"/>
              <a:t>customtkinter</a:t>
            </a:r>
            <a:r>
              <a:rPr lang="en-US" dirty="0"/>
              <a:t> GUI — so our test strategy has to cover both surfaces.</a:t>
            </a:r>
          </a:p>
          <a:p>
            <a:r>
              <a:rPr lang="en-US" dirty="0"/>
              <a:t> </a:t>
            </a:r>
            <a:endParaRPr lang="en-US" dirty="0">
              <a:ea typeface="Calibri"/>
              <a:cs typeface="Calibri"/>
            </a:endParaRPr>
          </a:p>
          <a:p>
            <a:r>
              <a:rPr lang="en-US" dirty="0"/>
              <a:t>Users: privacy-first individuals who want a lightweight, offline tracker and are comfortable installing a Python app. Casual daily-usage pattern.</a:t>
            </a:r>
          </a:p>
          <a:p>
            <a:r>
              <a:rPr lang="en-US" dirty="0"/>
              <a:t> </a:t>
            </a:r>
            <a:endParaRPr lang="en-US" dirty="0">
              <a:ea typeface="Calibri"/>
              <a:cs typeface="Calibri"/>
            </a:endParaRPr>
          </a:p>
          <a:p>
            <a:r>
              <a:rPr lang="en-US" dirty="0"/>
              <a:t>Tech stack: Python 3.10+, </a:t>
            </a:r>
            <a:r>
              <a:rPr lang="en-US" dirty="0" err="1"/>
              <a:t>customtkinter</a:t>
            </a:r>
            <a:r>
              <a:rPr lang="en-US" dirty="0"/>
              <a:t> for the themed Tk GUI, matplotlib for visualization, </a:t>
            </a:r>
            <a:r>
              <a:rPr lang="en-US" dirty="0" err="1"/>
              <a:t>colorama</a:t>
            </a:r>
            <a:r>
              <a:rPr lang="en-US" dirty="0"/>
              <a:t>, </a:t>
            </a:r>
            <a:r>
              <a:rPr lang="en-US" dirty="0" err="1"/>
              <a:t>darkdetect</a:t>
            </a:r>
            <a:r>
              <a:rPr lang="en-US" dirty="0"/>
              <a:t>, Pillow, </a:t>
            </a:r>
            <a:r>
              <a:rPr lang="en-US" dirty="0" err="1"/>
              <a:t>PyInstaller</a:t>
            </a:r>
            <a:r>
              <a:rPr lang="en-US" dirty="0"/>
              <a:t> for packaging, and JSON for state.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[TARAN] This slide frames everything we are about to show you. Our proposal set a concrete target: at least 85% branch coverage on the non-GUI logic, plus a maximized mutation score. We attacked that with four complementary strategies.</a:t>
            </a:r>
          </a:p>
          <a:p>
            <a:r>
              <a:rPr lang="en-US" dirty="0"/>
              <a:t> </a:t>
            </a:r>
            <a:endParaRPr lang="en-US" dirty="0">
              <a:ea typeface="Calibri"/>
              <a:cs typeface="Calibri"/>
            </a:endParaRPr>
          </a:p>
          <a:p>
            <a:r>
              <a:rPr lang="en-US" dirty="0"/>
              <a:t>First, </a:t>
            </a:r>
            <a:r>
              <a:rPr lang="en-US" dirty="0" err="1"/>
              <a:t>blackbox</a:t>
            </a:r>
            <a:r>
              <a:rPr lang="en-US" dirty="0"/>
              <a:t> — 135 tests using equivalence partitioning, boundary analysis, error guessing, and pairwise combinatorial coverage. </a:t>
            </a:r>
            <a:endParaRPr lang="en-US" dirty="0">
              <a:ea typeface="Calibri"/>
              <a:cs typeface="Calibri"/>
            </a:endParaRPr>
          </a:p>
          <a:p>
            <a:r>
              <a:rPr lang="en-US" dirty="0"/>
              <a:t> </a:t>
            </a:r>
            <a:endParaRPr lang="en-US" dirty="0">
              <a:ea typeface="Calibri"/>
              <a:cs typeface="Calibri"/>
            </a:endParaRPr>
          </a:p>
          <a:p>
            <a:r>
              <a:rPr lang="en-US" dirty="0"/>
              <a:t>Second, </a:t>
            </a:r>
            <a:r>
              <a:rPr lang="en-US" dirty="0" err="1"/>
              <a:t>whitebox</a:t>
            </a:r>
            <a:r>
              <a:rPr lang="en-US" dirty="0"/>
              <a:t> — 134 unit tests plus 18 integration tests, branch-targeted using coverage in branch mode. </a:t>
            </a:r>
            <a:endParaRPr lang="en-US" dirty="0">
              <a:ea typeface="Calibri"/>
              <a:cs typeface="Calibri"/>
            </a:endParaRPr>
          </a:p>
          <a:p>
            <a:r>
              <a:rPr lang="en-US" dirty="0"/>
              <a:t> </a:t>
            </a:r>
            <a:endParaRPr lang="en-US" dirty="0">
              <a:ea typeface="Calibri"/>
              <a:cs typeface="Calibri"/>
            </a:endParaRPr>
          </a:p>
          <a:p>
            <a:r>
              <a:rPr lang="en-US" dirty="0"/>
              <a:t>Third, mutation — We ran a baseline </a:t>
            </a:r>
            <a:r>
              <a:rPr lang="en-US" dirty="0" err="1"/>
              <a:t>mutmut</a:t>
            </a:r>
            <a:r>
              <a:rPr lang="en-US" dirty="0"/>
              <a:t> sweep, analyzed the survivors, then wrote 23 targeted killers that drove the score up 28 points.</a:t>
            </a:r>
            <a:endParaRPr lang="en-US" dirty="0">
              <a:ea typeface="Calibri"/>
              <a:cs typeface="Calibri"/>
            </a:endParaRPr>
          </a:p>
          <a:p>
            <a:r>
              <a:rPr lang="en-US" dirty="0"/>
              <a:t> </a:t>
            </a:r>
            <a:endParaRPr lang="en-US" dirty="0">
              <a:ea typeface="Calibri"/>
              <a:cs typeface="Calibri"/>
            </a:endParaRPr>
          </a:p>
          <a:p>
            <a:r>
              <a:rPr lang="en-US" dirty="0"/>
              <a:t>Fourth, an alternate strategy for the GUI — 45 tests using Tk introspection. </a:t>
            </a:r>
            <a:endParaRPr lang="en-US" dirty="0">
              <a:ea typeface="Calibri"/>
              <a:cs typeface="Calibri"/>
            </a:endParaRPr>
          </a:p>
          <a:p>
            <a:r>
              <a:rPr lang="en-US" dirty="0"/>
              <a:t> </a:t>
            </a:r>
            <a:endParaRPr lang="en-US" dirty="0">
              <a:ea typeface="Calibri"/>
              <a:cs typeface="Calibri"/>
            </a:endParaRPr>
          </a:p>
          <a:p>
            <a:r>
              <a:rPr lang="en-US" dirty="0"/>
              <a:t>355 tests in total. </a:t>
            </a:r>
            <a:r>
              <a:rPr lang="en-US" dirty="0" err="1"/>
              <a:t>pytest</a:t>
            </a:r>
            <a:r>
              <a:rPr lang="en-US" dirty="0"/>
              <a:t> across the board. </a:t>
            </a:r>
            <a:r>
              <a:rPr lang="en-US" dirty="0" err="1"/>
              <a:t>mutmut</a:t>
            </a:r>
            <a:r>
              <a:rPr lang="en-US" dirty="0"/>
              <a:t> for mutation. </a:t>
            </a:r>
            <a:r>
              <a:rPr lang="en-US" dirty="0" err="1"/>
              <a:t>pytest-cov</a:t>
            </a:r>
            <a:r>
              <a:rPr lang="en-US" dirty="0"/>
              <a:t> with branch mode on. Let us get into the demo.</a:t>
            </a:r>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(TARAN)</a:t>
            </a:r>
          </a:p>
          <a:p>
            <a:r>
              <a:rPr lang="en-US" dirty="0"/>
              <a:t>Step 1 — App walkthrough</a:t>
            </a:r>
            <a:endParaRPr lang="en-US" dirty="0">
              <a:ea typeface="Calibri"/>
              <a:cs typeface="Calibri"/>
            </a:endParaRPr>
          </a:p>
          <a:p>
            <a:r>
              <a:rPr lang="en-US" dirty="0"/>
              <a:t>Step 2 — Blackbox run</a:t>
            </a:r>
            <a:endParaRPr lang="en-US" dirty="0">
              <a:ea typeface="Calibri"/>
              <a:cs typeface="Calibri"/>
            </a:endParaRPr>
          </a:p>
          <a:p>
            <a:pPr marL="171450" indent="-171450">
              <a:buFont typeface="Calibri"/>
              <a:buChar char="-"/>
            </a:pPr>
            <a:r>
              <a:rPr lang="en-US" dirty="0"/>
              <a:t>Expected: 135 PASSED. Key files: </a:t>
            </a:r>
            <a:r>
              <a:rPr lang="en-US" dirty="0" err="1"/>
              <a:t>test_habit_logic_bb.py</a:t>
            </a:r>
            <a:r>
              <a:rPr lang="en-US" dirty="0"/>
              <a:t> (57 tests), </a:t>
            </a:r>
            <a:r>
              <a:rPr lang="en-US" dirty="0" err="1"/>
              <a:t>test_habit_io_bb.py</a:t>
            </a:r>
            <a:r>
              <a:rPr lang="en-US" dirty="0"/>
              <a:t> (36), </a:t>
            </a:r>
            <a:r>
              <a:rPr lang="en-US" dirty="0" err="1"/>
              <a:t>test_plot_combinatorial.py</a:t>
            </a:r>
            <a:r>
              <a:rPr lang="en-US" dirty="0"/>
              <a:t> (26).</a:t>
            </a:r>
            <a:endParaRPr lang="en-US" dirty="0">
              <a:ea typeface="Calibri"/>
              <a:cs typeface="Calibri"/>
            </a:endParaRPr>
          </a:p>
          <a:p>
            <a:r>
              <a:rPr lang="en-US" dirty="0">
                <a:ea typeface="Calibri"/>
                <a:cs typeface="Calibri"/>
              </a:rPr>
              <a:t>Step 3 — Branch coverage</a:t>
            </a:r>
          </a:p>
          <a:p>
            <a:endParaRPr lang="en-US" dirty="0">
              <a:ea typeface="Calibri"/>
              <a:cs typeface="Calibri"/>
            </a:endParaRPr>
          </a:p>
          <a:p>
            <a:r>
              <a:rPr lang="en-US" dirty="0"/>
              <a:t>(JUSTIN)</a:t>
            </a:r>
            <a:endParaRPr lang="en-US" dirty="0">
              <a:ea typeface="Calibri"/>
              <a:cs typeface="Calibri"/>
            </a:endParaRPr>
          </a:p>
          <a:p>
            <a:r>
              <a:rPr lang="en-US" dirty="0"/>
              <a:t>Step 4 — Validation suite</a:t>
            </a:r>
            <a:endParaRPr lang="en-US" dirty="0">
              <a:ea typeface="Calibri"/>
              <a:cs typeface="+mn-lt"/>
            </a:endParaRPr>
          </a:p>
          <a:p>
            <a:r>
              <a:rPr lang="en-US" dirty="0"/>
              <a:t>Step 5 — We are NOT re-running </a:t>
            </a:r>
            <a:r>
              <a:rPr lang="en-US" dirty="0" err="1"/>
              <a:t>mutmut</a:t>
            </a:r>
            <a:r>
              <a:rPr lang="en-US" dirty="0"/>
              <a:t> live (takes ~4 minutes). Instead I will cat docs/mutation/</a:t>
            </a:r>
            <a:r>
              <a:rPr lang="en-US" dirty="0" err="1"/>
              <a:t>post_improvement_report.md</a:t>
            </a:r>
            <a:r>
              <a:rPr lang="en-US" dirty="0"/>
              <a:t> and walk the delta chart on the next slide.</a:t>
            </a:r>
            <a:endParaRPr lang="en-US" dirty="0">
              <a:ea typeface="Calibri"/>
              <a:cs typeface="Calibri"/>
            </a:endParaRPr>
          </a:p>
          <a:p>
            <a:r>
              <a:rPr lang="en-US" dirty="0"/>
              <a:t>Step 6 — GUI introspection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[TARAN] We partitioned six input domains:</a:t>
            </a:r>
          </a:p>
          <a:p>
            <a:r>
              <a:rPr lang="en-US" dirty="0"/>
              <a:t> </a:t>
            </a:r>
            <a:endParaRPr lang="en-US" dirty="0">
              <a:ea typeface="Calibri"/>
              <a:cs typeface="Calibri"/>
            </a:endParaRPr>
          </a:p>
          <a:p>
            <a:r>
              <a:rPr lang="en-US" dirty="0"/>
              <a:t>Habit count — the app requires between two and ten habits. Boundaries are one, two, ten, and eleven.</a:t>
            </a:r>
          </a:p>
          <a:p>
            <a:r>
              <a:rPr lang="en-US" dirty="0"/>
              <a:t> </a:t>
            </a:r>
            <a:endParaRPr lang="en-US" dirty="0">
              <a:ea typeface="Calibri"/>
              <a:cs typeface="Calibri"/>
            </a:endParaRPr>
          </a:p>
          <a:p>
            <a:r>
              <a:rPr lang="en-US" dirty="0"/>
              <a:t>Dates — YYYY-MM-DD format, including the leap-year boundary 2024-02-29.</a:t>
            </a:r>
          </a:p>
          <a:p>
            <a:r>
              <a:rPr lang="en-US" dirty="0"/>
              <a:t> </a:t>
            </a:r>
            <a:endParaRPr lang="en-US" dirty="0">
              <a:ea typeface="Calibri"/>
              <a:cs typeface="Calibri"/>
            </a:endParaRPr>
          </a:p>
          <a:p>
            <a:r>
              <a:rPr lang="en-US" dirty="0"/>
              <a:t>Habit names — empty, whitespace-only, over fifty characters, wrong types.</a:t>
            </a:r>
          </a:p>
          <a:p>
            <a:r>
              <a:rPr lang="en-US" dirty="0"/>
              <a:t> </a:t>
            </a:r>
            <a:endParaRPr lang="en-US" dirty="0">
              <a:ea typeface="Calibri"/>
              <a:cs typeface="Calibri"/>
            </a:endParaRPr>
          </a:p>
          <a:p>
            <a:r>
              <a:rPr lang="en-US" dirty="0"/>
              <a:t>Streak values, log entries, and CLI flags follow the same pattern.</a:t>
            </a:r>
          </a:p>
          <a:p>
            <a:r>
              <a:rPr lang="en-US" dirty="0"/>
              <a:t> </a:t>
            </a:r>
            <a:endParaRPr lang="en-US" dirty="0">
              <a:ea typeface="Calibri"/>
              <a:cs typeface="Calibri"/>
            </a:endParaRPr>
          </a:p>
          <a:p>
            <a:r>
              <a:rPr lang="en-US" dirty="0"/>
              <a:t>The files on the right: one file hits habit logic with 57 tests, another hits file I/O with 36, and a third is the combinatorial matrix — that has 26 tests and it is the next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[TARAN] This is where </a:t>
            </a:r>
            <a:r>
              <a:rPr lang="en-US" dirty="0" err="1"/>
              <a:t>blackbox</a:t>
            </a:r>
            <a:r>
              <a:rPr lang="en-US" dirty="0"/>
              <a:t> gets interesting. The --plot flag pairs with every other CLI flag, and that interaction surface is where defects hide. So we built a pairwise matrix.</a:t>
            </a:r>
          </a:p>
          <a:p>
            <a:r>
              <a:rPr lang="en-US" dirty="0"/>
              <a:t> </a:t>
            </a:r>
            <a:endParaRPr lang="en-US" dirty="0">
              <a:ea typeface="Calibri"/>
              <a:cs typeface="Calibri"/>
            </a:endParaRPr>
          </a:p>
          <a:p>
            <a:r>
              <a:rPr lang="en-US" dirty="0"/>
              <a:t>Twenty-three cases in total; this slide shows twelve of them. The IDs are not sequential because we are showing a representative sample.</a:t>
            </a:r>
          </a:p>
          <a:p>
            <a:r>
              <a:rPr lang="en-US" dirty="0"/>
              <a:t> </a:t>
            </a:r>
            <a:endParaRPr lang="en-US" dirty="0">
              <a:ea typeface="Calibri"/>
              <a:cs typeface="Calibri"/>
            </a:endParaRPr>
          </a:p>
          <a:p>
            <a:r>
              <a:rPr lang="en-US" dirty="0"/>
              <a:t>Three kinds of case. First, normal pairs — --plot by itself, --plot with --cli, duplicate --plot. All succeed. Second, precedence conflicts — rows 4, 5, 7, 9 — and this is where the interesting finding is. Whichever flag appears first on the command line wins; everything after is silently dropped. That is a real latent defect we will come back to. Third, error guessing — --plot with no habits, no logs, bad input, out-of-range — every one of those must exit with code 1 and the correct error message.</a:t>
            </a:r>
          </a:p>
          <a:p>
            <a:r>
              <a:rPr lang="en-US" dirty="0"/>
              <a:t> </a:t>
            </a:r>
            <a:endParaRPr lang="en-US" dirty="0">
              <a:ea typeface="Calibri"/>
              <a:cs typeface="Calibri"/>
            </a:endParaRPr>
          </a:p>
          <a:p>
            <a:r>
              <a:rPr lang="en-US" dirty="0"/>
              <a:t>No failures. The tests encode the app's actual behavior, including the quirky precedence rule.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[TARAN] Whitebox — we are measuring branch coverage, not just line coverage.</a:t>
            </a:r>
          </a:p>
          <a:p>
            <a:r>
              <a:rPr lang="en-US" dirty="0"/>
              <a:t> </a:t>
            </a:r>
            <a:endParaRPr lang="en-US" dirty="0">
              <a:ea typeface="Calibri"/>
              <a:cs typeface="Calibri"/>
            </a:endParaRPr>
          </a:p>
          <a:p>
            <a:r>
              <a:rPr lang="en-US" dirty="0"/>
              <a:t>The proposal target was at least 85% on the non-GUI logic. Actuals on screen:</a:t>
            </a:r>
          </a:p>
          <a:p>
            <a:r>
              <a:rPr lang="en-US" dirty="0"/>
              <a:t> </a:t>
            </a:r>
            <a:endParaRPr lang="en-US" dirty="0">
              <a:ea typeface="Calibri"/>
              <a:cs typeface="Calibri"/>
            </a:endParaRPr>
          </a:p>
          <a:p>
            <a:r>
              <a:rPr lang="en-US" dirty="0"/>
              <a:t>Three modules at 100 percent: the package </a:t>
            </a:r>
            <a:r>
              <a:rPr lang="en-US" dirty="0" err="1"/>
              <a:t>init</a:t>
            </a:r>
            <a:r>
              <a:rPr lang="en-US" dirty="0"/>
              <a:t>, the display module, and the core logic.</a:t>
            </a:r>
            <a:endParaRPr lang="en-US" dirty="0">
              <a:ea typeface="Calibri"/>
              <a:cs typeface="Calibri"/>
            </a:endParaRPr>
          </a:p>
          <a:p>
            <a:r>
              <a:rPr lang="en-US" dirty="0"/>
              <a:t> </a:t>
            </a:r>
            <a:endParaRPr lang="en-US" dirty="0">
              <a:ea typeface="Calibri"/>
              <a:cs typeface="Calibri"/>
            </a:endParaRPr>
          </a:p>
          <a:p>
            <a:r>
              <a:rPr lang="en-US" dirty="0"/>
              <a:t>Setup at 98, I/O at 97, visualization at 87.</a:t>
            </a:r>
          </a:p>
          <a:p>
            <a:r>
              <a:rPr lang="en-US" dirty="0"/>
              <a:t>Every non-GUI module clears 85.</a:t>
            </a:r>
          </a:p>
          <a:p>
            <a:r>
              <a:rPr lang="en-US" dirty="0"/>
              <a:t> </a:t>
            </a:r>
            <a:endParaRPr lang="en-US" dirty="0">
              <a:ea typeface="Calibri"/>
              <a:cs typeface="Calibri"/>
            </a:endParaRPr>
          </a:p>
          <a:p>
            <a:r>
              <a:rPr lang="en-US" dirty="0"/>
              <a:t>The yellow card is important. The GUI file sits at 37%, and we deliberately exclude it from our target. It is 1,638 statements — roughly 70% of the whole codebase — and almost all of that is widget wiring, not business logic. Forcing branch coverage there would either demand pixel-level UI tests, which are fragile and slow, or coverage hacks that don't exercise real behavior. Instead the GUI is covered by our alternate strategy — Tk introspection — which Justin will demo in a couple slides.</a:t>
            </a:r>
            <a:endParaRPr lang="en-US" dirty="0">
              <a:ea typeface="Calibri"/>
              <a:cs typeface="Calibri"/>
            </a:endParaRPr>
          </a:p>
          <a:p>
            <a:r>
              <a:rPr lang="en-US" dirty="0"/>
              <a:t> </a:t>
            </a:r>
            <a:endParaRPr lang="en-US" dirty="0">
              <a:ea typeface="Calibri"/>
              <a:cs typeface="Calibri"/>
            </a:endParaRPr>
          </a:p>
          <a:p>
            <a:r>
              <a:rPr lang="en-US" dirty="0"/>
              <a:t>The command you just saw me run produces exactly this table, plus a green summary line.</a:t>
            </a:r>
          </a:p>
          <a:p>
            <a:r>
              <a:rPr lang="en-US" dirty="0"/>
              <a:t> </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[JUSTIN takes over] Mutation testing — the most interesting number in the project.</a:t>
            </a:r>
          </a:p>
          <a:p>
            <a:r>
              <a:rPr lang="en-US" dirty="0"/>
              <a:t> </a:t>
            </a:r>
            <a:endParaRPr lang="en-US" dirty="0">
              <a:ea typeface="Calibri"/>
              <a:cs typeface="Calibri"/>
            </a:endParaRPr>
          </a:p>
          <a:p>
            <a:r>
              <a:rPr lang="en-US" dirty="0" err="1"/>
              <a:t>mutmut</a:t>
            </a:r>
            <a:r>
              <a:rPr lang="en-US" dirty="0"/>
              <a:t> generates 684 mutants across the non-GUI logic. On our baseline run — before we added any mutation-specific tests — 327 mutants were killed. 47.9%. Borderline embarrassing for a suite of 285 tests.</a:t>
            </a:r>
            <a:endParaRPr lang="en-US" dirty="0">
              <a:ea typeface="Calibri"/>
              <a:cs typeface="Calibri"/>
            </a:endParaRPr>
          </a:p>
          <a:p>
            <a:r>
              <a:rPr lang="en-US" dirty="0"/>
              <a:t> </a:t>
            </a:r>
            <a:endParaRPr lang="en-US" dirty="0">
              <a:ea typeface="Calibri"/>
              <a:cs typeface="Calibri"/>
            </a:endParaRPr>
          </a:p>
          <a:p>
            <a:r>
              <a:rPr lang="en-US" dirty="0"/>
              <a:t>So I took a step back. I wrote up an attribution report that grouped every surviving mutant by module and by category — </a:t>
            </a:r>
            <a:r>
              <a:rPr lang="en-US" dirty="0" err="1"/>
              <a:t>boolean</a:t>
            </a:r>
            <a:r>
              <a:rPr lang="en-US" dirty="0"/>
              <a:t> operators, string replacements, environment-path checks — to see where effort would have the highest payoff. From that analysis I wrote 23 targeted mutant-killers across five small test files: one that wipes out all 28 </a:t>
            </a:r>
            <a:r>
              <a:rPr lang="en-US" dirty="0" err="1"/>
              <a:t>init</a:t>
            </a:r>
            <a:r>
              <a:rPr lang="en-US" dirty="0"/>
              <a:t>-file mutants in a single shot, three for </a:t>
            </a:r>
            <a:r>
              <a:rPr lang="en-US" dirty="0" err="1"/>
              <a:t>boolean</a:t>
            </a:r>
            <a:r>
              <a:rPr lang="en-US" dirty="0"/>
              <a:t> operators in the core logic, four for display string formatting, three for interaction-loop constants, and twelve broad-coverage tests.</a:t>
            </a:r>
            <a:endParaRPr lang="en-US" dirty="0">
              <a:ea typeface="Calibri"/>
              <a:cs typeface="Calibri"/>
            </a:endParaRPr>
          </a:p>
          <a:p>
            <a:r>
              <a:rPr lang="en-US" dirty="0"/>
              <a:t> </a:t>
            </a:r>
            <a:endParaRPr lang="en-US" dirty="0">
              <a:ea typeface="Calibri"/>
              <a:cs typeface="Calibri"/>
            </a:endParaRPr>
          </a:p>
          <a:p>
            <a:r>
              <a:rPr lang="en-US" dirty="0"/>
              <a:t>After the re-run: 521 killed, 163 survivors. 76.1%. A jump of 28.2 points from a day's worth of targeted work.</a:t>
            </a:r>
          </a:p>
          <a:p>
            <a:r>
              <a:rPr lang="en-US" dirty="0"/>
              <a:t> </a:t>
            </a:r>
            <a:endParaRPr lang="en-US" dirty="0">
              <a:ea typeface="Calibri"/>
              <a:cs typeface="Calibri"/>
            </a:endParaRPr>
          </a:p>
          <a:p>
            <a:r>
              <a:rPr lang="en-US" dirty="0"/>
              <a:t>The chart at the bottom shows per-module. The </a:t>
            </a:r>
            <a:r>
              <a:rPr lang="en-US" dirty="0" err="1"/>
              <a:t>init</a:t>
            </a:r>
            <a:r>
              <a:rPr lang="en-US" dirty="0"/>
              <a:t> file went from 17.6 to 100. Core logic went 77 to 98. Visualization went 35 to 51 — and that last one is why the next slide exists.</a:t>
            </a:r>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[JUSTIN] Survivors, and why we stopped at 76% instead of chasing 100.</a:t>
            </a:r>
          </a:p>
          <a:p>
            <a:r>
              <a:rPr lang="en-US" dirty="0"/>
              <a:t> </a:t>
            </a:r>
            <a:endParaRPr lang="en-US" dirty="0">
              <a:ea typeface="Calibri"/>
              <a:cs typeface="Calibri"/>
            </a:endParaRPr>
          </a:p>
          <a:p>
            <a:r>
              <a:rPr lang="en-US" dirty="0"/>
              <a:t>Breakdown on the left, from the attribution analysis we wrote:</a:t>
            </a:r>
          </a:p>
          <a:p>
            <a:r>
              <a:rPr lang="en-US" dirty="0"/>
              <a:t> </a:t>
            </a:r>
            <a:endParaRPr lang="en-US" dirty="0">
              <a:ea typeface="Calibri"/>
              <a:cs typeface="Calibri"/>
            </a:endParaRPr>
          </a:p>
          <a:p>
            <a:r>
              <a:rPr lang="en-US" dirty="0"/>
              <a:t>Display — 2 survivors, cosmetic string mutations.</a:t>
            </a:r>
          </a:p>
          <a:p>
            <a:r>
              <a:rPr lang="en-US" dirty="0"/>
              <a:t> </a:t>
            </a:r>
            <a:endParaRPr lang="en-US" dirty="0">
              <a:ea typeface="Calibri"/>
              <a:cs typeface="Calibri"/>
            </a:endParaRPr>
          </a:p>
          <a:p>
            <a:r>
              <a:rPr lang="en-US" dirty="0"/>
              <a:t>I/O — 7, around backup/restore and environment-path </a:t>
            </a:r>
            <a:r>
              <a:rPr lang="en-US" dirty="0" err="1"/>
              <a:t>booleans</a:t>
            </a:r>
            <a:r>
              <a:rPr lang="en-US" dirty="0"/>
              <a:t>.</a:t>
            </a:r>
            <a:endParaRPr lang="en-US" dirty="0">
              <a:ea typeface="Calibri"/>
              <a:cs typeface="Calibri"/>
            </a:endParaRPr>
          </a:p>
          <a:p>
            <a:r>
              <a:rPr lang="en-US" dirty="0"/>
              <a:t> </a:t>
            </a:r>
            <a:endParaRPr lang="en-US" dirty="0">
              <a:ea typeface="Calibri"/>
              <a:cs typeface="Calibri"/>
            </a:endParaRPr>
          </a:p>
          <a:p>
            <a:r>
              <a:rPr lang="en-US" dirty="0"/>
              <a:t>Core logic — 2, and we have proven those are Equivalent Mutants.</a:t>
            </a:r>
          </a:p>
          <a:p>
            <a:r>
              <a:rPr lang="en-US" dirty="0"/>
              <a:t> </a:t>
            </a:r>
            <a:endParaRPr lang="en-US" dirty="0">
              <a:ea typeface="Calibri"/>
              <a:cs typeface="Calibri"/>
            </a:endParaRPr>
          </a:p>
          <a:p>
            <a:r>
              <a:rPr lang="en-US" dirty="0"/>
              <a:t>Setup — 1, interaction-loop timing.</a:t>
            </a:r>
          </a:p>
          <a:p>
            <a:r>
              <a:rPr lang="en-US" dirty="0"/>
              <a:t> </a:t>
            </a:r>
            <a:endParaRPr lang="en-US" dirty="0">
              <a:ea typeface="Calibri"/>
              <a:cs typeface="Calibri"/>
            </a:endParaRPr>
          </a:p>
          <a:p>
            <a:r>
              <a:rPr lang="en-US" dirty="0"/>
              <a:t>Visualization — about 150. This is the elephant.</a:t>
            </a:r>
          </a:p>
          <a:p>
            <a:r>
              <a:rPr lang="en-US" dirty="0"/>
              <a:t> </a:t>
            </a:r>
            <a:endParaRPr lang="en-US" dirty="0">
              <a:ea typeface="Calibri"/>
              <a:cs typeface="Calibri"/>
            </a:endParaRPr>
          </a:p>
          <a:p>
            <a:r>
              <a:rPr lang="en-US" dirty="0"/>
              <a:t>Init — zero. Every mutant there was killed by one assertion per constant.</a:t>
            </a:r>
          </a:p>
          <a:p>
            <a:r>
              <a:rPr lang="en-US" dirty="0"/>
              <a:t> </a:t>
            </a:r>
            <a:endParaRPr lang="en-US" dirty="0">
              <a:ea typeface="Calibri"/>
              <a:cs typeface="Calibri"/>
            </a:endParaRPr>
          </a:p>
          <a:p>
            <a:r>
              <a:rPr lang="en-US" dirty="0"/>
              <a:t>Why we stopped: the 150 visualization survivors are all matplotlib aesthetics — figure sizes, hex color strings, legend titles, progress-spinner characters. Killing them would require tests like "assert the figure size is exactly ten by six," which would break the first time anyone bumps the chart to twelve inches. That is classic overfit. We made a conscious tradeoff: brittle visual tests are worse than an honest score.</a:t>
            </a:r>
          </a:p>
          <a:p>
            <a:r>
              <a:rPr lang="en-US" dirty="0"/>
              <a:t> </a:t>
            </a:r>
            <a:endParaRPr lang="en-US" dirty="0">
              <a:ea typeface="Calibri"/>
              <a:cs typeface="Calibri"/>
            </a:endParaRPr>
          </a:p>
          <a:p>
            <a:r>
              <a:rPr lang="en-US" dirty="0"/>
              <a:t>And the two survivors in the core logic are Equivalent Mutants — swapping a continue for a break in a loop where the very next line is a guaranteed-false date validation. There is no observable difference in behavior. We document them as equivalents rather than inventing a test that would just encode an implementation detail.</a:t>
            </a:r>
          </a:p>
          <a:p>
            <a:r>
              <a:rPr lang="en-US" dirty="0"/>
              <a:t> </a:t>
            </a:r>
            <a:endParaRPr lang="en-US" dirty="0">
              <a:ea typeface="Calibri"/>
              <a:cs typeface="Calibri"/>
            </a:endParaRPr>
          </a:p>
          <a:p>
            <a:r>
              <a:rPr lang="en-US" dirty="0"/>
              <a:t>The takeaway: not every survivor is a test gap.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[JUSTIN] Alternate strategy: GUI testing without a display, without flaky pixel coordinates.</a:t>
            </a:r>
            <a:endParaRPr lang="en-US" dirty="0">
              <a:ea typeface="Calibri"/>
              <a:cs typeface="Calibri"/>
            </a:endParaRPr>
          </a:p>
          <a:p>
            <a:endParaRPr lang="en-US" dirty="0"/>
          </a:p>
          <a:p>
            <a:r>
              <a:rPr lang="en-US" dirty="0"/>
              <a:t>The approach: we import the GUI class directly, instantiate it with real </a:t>
            </a:r>
            <a:r>
              <a:rPr lang="en-US" dirty="0" err="1"/>
              <a:t>customtkinter</a:t>
            </a:r>
            <a:r>
              <a:rPr lang="en-US" dirty="0"/>
              <a:t> widgets, but we never call </a:t>
            </a:r>
            <a:r>
              <a:rPr lang="en-US" dirty="0" err="1"/>
              <a:t>mainloop</a:t>
            </a:r>
            <a:r>
              <a:rPr lang="en-US" dirty="0"/>
              <a:t>. Instead we pump the event queue manually with </a:t>
            </a:r>
            <a:r>
              <a:rPr lang="en-US" dirty="0" err="1"/>
              <a:t>update_idletasks</a:t>
            </a:r>
            <a:r>
              <a:rPr lang="en-US" dirty="0"/>
              <a:t>, and we trigger buttons by calling invoke on them directly. Our fixtures redirect every data and plot path into a temp directory, so tests are fully isolated.</a:t>
            </a:r>
            <a:endParaRPr lang="en-US" dirty="0">
              <a:ea typeface="Calibri"/>
              <a:cs typeface="Calibri"/>
            </a:endParaRPr>
          </a:p>
          <a:p>
            <a:br>
              <a:rPr lang="en-US" dirty="0">
                <a:cs typeface="+mn-lt"/>
              </a:rPr>
            </a:br>
            <a:r>
              <a:rPr lang="en-US" dirty="0"/>
              <a:t>We split this suite. Taran wrote the smoke layer — 23 tests — asking things like "does the wizard open, does the theme switch, do logs render." I wrote the functional layer — 22 tests — covering log roundtrips, reminder scheduling, autosave integrity. 45 tests total.</a:t>
            </a:r>
            <a:endParaRPr lang="en-US" dirty="0">
              <a:ea typeface="Calibri"/>
              <a:cs typeface="Calibri"/>
            </a:endParaRPr>
          </a:p>
          <a:p>
            <a:r>
              <a:rPr lang="en-US" dirty="0"/>
              <a:t> </a:t>
            </a:r>
            <a:endParaRPr lang="en-US" dirty="0">
              <a:ea typeface="Calibri"/>
              <a:cs typeface="Calibri"/>
            </a:endParaRPr>
          </a:p>
          <a:p>
            <a:r>
              <a:rPr lang="en-US" dirty="0"/>
              <a:t>We did consider two alternatives. </a:t>
            </a:r>
            <a:r>
              <a:rPr lang="en-US" dirty="0" err="1"/>
              <a:t>pytest-tk</a:t>
            </a:r>
            <a:r>
              <a:rPr lang="en-US" dirty="0"/>
              <a:t> is unmaintained with zero </a:t>
            </a:r>
            <a:r>
              <a:rPr lang="en-US" dirty="0" err="1"/>
              <a:t>customtkinter</a:t>
            </a:r>
            <a:r>
              <a:rPr lang="en-US" dirty="0"/>
              <a:t> support, so that was out. </a:t>
            </a:r>
            <a:r>
              <a:rPr lang="en-US" dirty="0" err="1"/>
              <a:t>pyautogui</a:t>
            </a:r>
            <a:r>
              <a:rPr lang="en-US" dirty="0"/>
              <a:t> needs a visible display, uses fragile pixel coordinates, and is slow on CI — also out. Introspection was the right call: no extra dependencies, full widget-tree access, fastest in the harness.</a:t>
            </a:r>
          </a:p>
          <a:p>
            <a:r>
              <a:rPr lang="en-US" dirty="0"/>
              <a:t> </a:t>
            </a:r>
            <a:endParaRPr lang="en-US" dirty="0">
              <a:ea typeface="Calibri"/>
              <a:cs typeface="Calibri"/>
            </a:endParaRPr>
          </a:p>
          <a:p>
            <a:r>
              <a:rPr lang="en-US" dirty="0"/>
              <a:t>The command you just saw me run was </a:t>
            </a:r>
            <a:r>
              <a:rPr lang="en-US" dirty="0" err="1"/>
              <a:t>xvfb</a:t>
            </a:r>
            <a:r>
              <a:rPr lang="en-US" dirty="0"/>
              <a:t>-run -a </a:t>
            </a:r>
            <a:r>
              <a:rPr lang="en-US" dirty="0" err="1"/>
              <a:t>pytest</a:t>
            </a:r>
            <a:r>
              <a:rPr lang="en-US" dirty="0"/>
              <a:t> tests/</a:t>
            </a:r>
            <a:r>
              <a:rPr lang="en-US" dirty="0" err="1"/>
              <a:t>gui</a:t>
            </a:r>
            <a:r>
              <a:rPr lang="en-US" dirty="0"/>
              <a:t>/ -v. </a:t>
            </a:r>
            <a:r>
              <a:rPr lang="en-US" dirty="0" err="1"/>
              <a:t>xvfb</a:t>
            </a:r>
            <a:r>
              <a:rPr lang="en-US" dirty="0"/>
              <a:t> gives us a virtual X display, which is required on headless CI. All 45 pass in under twenty seconds. If you saw a _</a:t>
            </a:r>
            <a:r>
              <a:rPr lang="en-US" dirty="0" err="1"/>
              <a:t>set_window_icon</a:t>
            </a:r>
            <a:r>
              <a:rPr lang="en-US" dirty="0"/>
              <a:t> warning scroll past — that is an upstream </a:t>
            </a:r>
            <a:r>
              <a:rPr lang="en-US" dirty="0" err="1"/>
              <a:t>customtkinter</a:t>
            </a:r>
            <a:r>
              <a:rPr lang="en-US" dirty="0"/>
              <a:t> quirk on macOS; we documented it in our GUI test readme.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[TARAN — cards 1 and 2]</a:t>
            </a:r>
            <a:endParaRPr lang="en-US">
              <a:ea typeface="Calibri"/>
              <a:cs typeface="Calibri"/>
            </a:endParaRPr>
          </a:p>
          <a:p>
            <a:r>
              <a:rPr lang="en-US"/>
              <a:t>Card 1 — minor defect. CLI flag precedence silently drops later flags. If you run the app with --plot --reset, the reset does not happen. Only the first flag is honored. We found this through the combinatorial matrix — tests 4 through 15 on the previous table all encode this behavior. We are documenting it, not patching it; this is upstream code, not ours.</a:t>
            </a:r>
            <a:endParaRPr lang="en-US">
              <a:ea typeface="Calibri"/>
              <a:cs typeface="Calibri"/>
            </a:endParaRPr>
          </a:p>
          <a:p>
            <a:endParaRPr lang="en-US"/>
          </a:p>
          <a:p>
            <a:r>
              <a:rPr lang="en-US"/>
              <a:t>Card 2 — quality issue. Visualization mixes progress output with data logic. The visualization file prints spinner characters inside the same function that computes data values. That coupling makes the module essentially untestable at the mutant level without refactoring. This is the single largest reason our mutation score plateaued at 76.</a:t>
            </a:r>
            <a:endParaRPr lang="en-US">
              <a:ea typeface="Calibri"/>
              <a:cs typeface="Calibri"/>
            </a:endParaRPr>
          </a:p>
          <a:p>
            <a:r>
              <a:rPr lang="en-US"/>
              <a:t>[JUSTIN — cards 3 and 4]</a:t>
            </a:r>
            <a:endParaRPr lang="en-US">
              <a:ea typeface="Calibri"/>
              <a:cs typeface="Calibri"/>
            </a:endParaRPr>
          </a:p>
          <a:p>
            <a:endParaRPr lang="en-US"/>
          </a:p>
          <a:p>
            <a:r>
              <a:rPr lang="en-US"/>
              <a:t>Card 3 — not a defect. Equivalent mutants in the core logic. In a date-validation loop, swapping continue for break produces identical observable behavior because the next iteration's check is guaranteed to fail on the same bad input. Classic Budd and DeMillo equivalent-mutant territory. We flag it, we document it, we do not write a test for it. Writing one would just encode an implementation detail.</a:t>
            </a:r>
            <a:br>
              <a:rPr lang="en-US"/>
            </a:br>
            <a:endParaRPr lang="en-US">
              <a:ea typeface="Calibri"/>
              <a:cs typeface="Calibri"/>
            </a:endParaRPr>
          </a:p>
          <a:p>
            <a:r>
              <a:rPr lang="en-US"/>
              <a:t>Card 4 — cosmetic. A </a:t>
            </a:r>
            <a:r>
              <a:rPr lang="en-US" err="1"/>
              <a:t>customtkinter</a:t>
            </a:r>
            <a:r>
              <a:rPr lang="en-US"/>
              <a:t> warning on macOS about window icons. Originates upstream, surfaces during GUI tests, documented in our GUI test readme.</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[TARAN — three big numbers]</a:t>
            </a:r>
            <a:br>
              <a:rPr lang="en-US">
                <a:cs typeface="+mn-lt"/>
              </a:rPr>
            </a:br>
            <a:r>
              <a:rPr lang="en-US"/>
              <a:t>Wrapping up.</a:t>
            </a:r>
            <a:endParaRPr lang="en-US">
              <a:ea typeface="Calibri"/>
              <a:cs typeface="Calibri"/>
            </a:endParaRPr>
          </a:p>
          <a:p>
            <a:pPr marL="171450" indent="-171450">
              <a:buFont typeface="Arial"/>
              <a:buChar char="•"/>
            </a:pPr>
            <a:r>
              <a:rPr lang="en-US"/>
              <a:t>355 tests written from zero. This was a from-scratch suite.</a:t>
            </a:r>
            <a:endParaRPr lang="en-US">
              <a:ea typeface="Calibri"/>
              <a:cs typeface="Calibri"/>
            </a:endParaRPr>
          </a:p>
          <a:p>
            <a:pPr marL="171450" indent="-171450">
              <a:buFont typeface="Arial"/>
              <a:buChar char="•"/>
            </a:pPr>
            <a:r>
              <a:rPr lang="en-US"/>
              <a:t>87 to 100 percent branch coverage on every non-GUI module, clearing the proposal target.</a:t>
            </a:r>
            <a:endParaRPr lang="en-US">
              <a:ea typeface="Calibri"/>
              <a:cs typeface="Calibri"/>
            </a:endParaRPr>
          </a:p>
          <a:p>
            <a:pPr marL="171450" indent="-171450">
              <a:buFont typeface="Arial"/>
              <a:buChar char="•"/>
            </a:pPr>
            <a:r>
              <a:rPr lang="en-US"/>
              <a:t>76.1% mutation score, up from 47.9% at baseline. A 28.2 point jump from targeted killers, not shotgun testing.</a:t>
            </a:r>
            <a:endParaRPr lang="en-US">
              <a:ea typeface="Calibri"/>
              <a:cs typeface="Calibri"/>
            </a:endParaRPr>
          </a:p>
          <a:p>
            <a:endParaRPr lang="en-US">
              <a:ea typeface="Calibri"/>
              <a:cs typeface="Calibri"/>
            </a:endParaRPr>
          </a:p>
          <a:p>
            <a:r>
              <a:rPr lang="en-US"/>
              <a:t>[JUSTIN — lessons learned]</a:t>
            </a:r>
            <a:br>
              <a:rPr lang="en-US">
                <a:cs typeface="+mn-lt"/>
              </a:rPr>
            </a:br>
            <a:r>
              <a:rPr lang="en-US"/>
              <a:t>Four things we would tell ourselves at the start of the project.</a:t>
            </a:r>
            <a:br>
              <a:rPr lang="en-US">
                <a:cs typeface="+mn-lt"/>
              </a:rPr>
            </a:br>
            <a:r>
              <a:rPr lang="en-US"/>
              <a:t>One: isolate the GUI early. It is 70% of the lines and almost none of the actual logic. Had we tried to branch-cover it, we would still be writing tests.</a:t>
            </a:r>
            <a:br>
              <a:rPr lang="en-US">
                <a:cs typeface="+mn-lt"/>
              </a:rPr>
            </a:br>
            <a:r>
              <a:rPr lang="en-US"/>
              <a:t>Two: baseline first, then target. Running </a:t>
            </a:r>
            <a:r>
              <a:rPr lang="en-US" err="1"/>
              <a:t>mutmut</a:t>
            </a:r>
            <a:r>
              <a:rPr lang="en-US"/>
              <a:t> before writing mutation tests gave us a priority list. Writing mutation tests first is throwing darts blindfolded.</a:t>
            </a:r>
            <a:br>
              <a:rPr lang="en-US">
                <a:cs typeface="+mn-lt"/>
              </a:rPr>
            </a:br>
            <a:r>
              <a:rPr lang="en-US"/>
              <a:t>Three: not every survivor is a bug. Equivalent-mutant analysis is essential.</a:t>
            </a:r>
            <a:br>
              <a:rPr lang="en-US">
                <a:cs typeface="+mn-lt"/>
              </a:rPr>
            </a:br>
            <a:r>
              <a:rPr lang="en-US"/>
              <a:t>Four: for Tk GUIs, introspection beat both of the "obvious" off-the-shelf options on speed, CI-friendliness, and maintenance.</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taranagarwal/stad_final_habit_tracker"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HERALDEXX/habit-tracker"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taranagarwal/stad_final_habit_tracker"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614"/>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1696F"/>
          </a:solidFill>
          <a:ln w="12700">
            <a:solidFill>
              <a:srgbClr val="01696F"/>
            </a:solidFill>
            <a:prstDash val="solid"/>
          </a:ln>
        </p:spPr>
        <p:txBody>
          <a:bodyPr/>
          <a:lstStyle/>
          <a:p>
            <a:endParaRPr lang="en-US"/>
          </a:p>
        </p:txBody>
      </p:sp>
      <p:sp>
        <p:nvSpPr>
          <p:cNvPr id="3" name="Text 1"/>
          <p:cNvSpPr/>
          <p:nvPr/>
        </p:nvSpPr>
        <p:spPr>
          <a:xfrm>
            <a:off x="822960" y="1645920"/>
            <a:ext cx="10058400" cy="365760"/>
          </a:xfrm>
          <a:prstGeom prst="rect">
            <a:avLst/>
          </a:prstGeom>
          <a:noFill/>
          <a:ln/>
        </p:spPr>
        <p:txBody>
          <a:bodyPr wrap="square" rtlCol="0" anchor="ctr"/>
          <a:lstStyle/>
          <a:p>
            <a:pPr marL="0" indent="0">
              <a:buNone/>
            </a:pPr>
            <a:r>
              <a:rPr lang="en-US" sz="1200" b="1" kern="0" spc="300">
                <a:solidFill>
                  <a:srgbClr val="4F98A3"/>
                </a:solidFill>
                <a:latin typeface="Calibri" pitchFamily="34" charset="0"/>
                <a:ea typeface="Calibri" pitchFamily="34" charset="-122"/>
                <a:cs typeface="Calibri" pitchFamily="34" charset="-120"/>
              </a:rPr>
              <a:t>CS422 • SPRING 2026 • FINAL PROJECT</a:t>
            </a:r>
            <a:endParaRPr lang="en-US" sz="1200"/>
          </a:p>
        </p:txBody>
      </p:sp>
      <p:sp>
        <p:nvSpPr>
          <p:cNvPr id="4" name="Text 2"/>
          <p:cNvSpPr/>
          <p:nvPr/>
        </p:nvSpPr>
        <p:spPr>
          <a:xfrm>
            <a:off x="822960" y="2103120"/>
            <a:ext cx="10058400" cy="822960"/>
          </a:xfrm>
          <a:prstGeom prst="rect">
            <a:avLst/>
          </a:prstGeom>
          <a:noFill/>
          <a:ln/>
        </p:spPr>
        <p:txBody>
          <a:bodyPr wrap="square" rtlCol="0" anchor="ctr"/>
          <a:lstStyle/>
          <a:p>
            <a:pPr marL="0" indent="0">
              <a:buNone/>
            </a:pPr>
            <a:r>
              <a:rPr lang="en-US" sz="4400">
                <a:solidFill>
                  <a:srgbClr val="CDCCCA"/>
                </a:solidFill>
                <a:latin typeface="Calibri" pitchFamily="34" charset="0"/>
                <a:ea typeface="Calibri" pitchFamily="34" charset="-122"/>
                <a:cs typeface="Calibri" pitchFamily="34" charset="-120"/>
              </a:rPr>
              <a:t>Systematic Testing of</a:t>
            </a:r>
            <a:endParaRPr lang="en-US" sz="4400"/>
          </a:p>
        </p:txBody>
      </p:sp>
      <p:sp>
        <p:nvSpPr>
          <p:cNvPr id="5" name="Text 3"/>
          <p:cNvSpPr/>
          <p:nvPr/>
        </p:nvSpPr>
        <p:spPr>
          <a:xfrm>
            <a:off x="822960" y="2834640"/>
            <a:ext cx="10058400" cy="914400"/>
          </a:xfrm>
          <a:prstGeom prst="rect">
            <a:avLst/>
          </a:prstGeom>
          <a:noFill/>
          <a:ln/>
        </p:spPr>
        <p:txBody>
          <a:bodyPr wrap="square" rtlCol="0" anchor="ctr"/>
          <a:lstStyle/>
          <a:p>
            <a:pPr marL="0" indent="0">
              <a:buNone/>
            </a:pPr>
            <a:r>
              <a:rPr lang="en-US" sz="5600" b="1">
                <a:solidFill>
                  <a:srgbClr val="FFFFFF"/>
                </a:solidFill>
                <a:latin typeface="Calibri" pitchFamily="34" charset="0"/>
                <a:ea typeface="Calibri" pitchFamily="34" charset="-122"/>
                <a:cs typeface="Calibri" pitchFamily="34" charset="-120"/>
              </a:rPr>
              <a:t>HERALDEXX / habit-tracker</a:t>
            </a:r>
            <a:endParaRPr lang="en-US" sz="5600"/>
          </a:p>
        </p:txBody>
      </p:sp>
      <p:sp>
        <p:nvSpPr>
          <p:cNvPr id="6" name="Text 4"/>
          <p:cNvSpPr/>
          <p:nvPr/>
        </p:nvSpPr>
        <p:spPr>
          <a:xfrm>
            <a:off x="822960" y="3931920"/>
            <a:ext cx="10058400" cy="457200"/>
          </a:xfrm>
          <a:prstGeom prst="rect">
            <a:avLst/>
          </a:prstGeom>
          <a:noFill/>
          <a:ln/>
        </p:spPr>
        <p:txBody>
          <a:bodyPr wrap="square" rtlCol="0" anchor="ctr"/>
          <a:lstStyle/>
          <a:p>
            <a:pPr marL="0" indent="0">
              <a:buNone/>
            </a:pPr>
            <a:r>
              <a:rPr lang="en-US" sz="1800" i="1">
                <a:solidFill>
                  <a:srgbClr val="CDCCCA"/>
                </a:solidFill>
                <a:latin typeface="Calibri" pitchFamily="34" charset="0"/>
                <a:ea typeface="Calibri" pitchFamily="34" charset="-122"/>
                <a:cs typeface="Calibri" pitchFamily="34" charset="-120"/>
              </a:rPr>
              <a:t>A 355-test blackbox, whitebox, mutation, and alternate-testing campaign</a:t>
            </a:r>
            <a:endParaRPr lang="en-US" sz="1800"/>
          </a:p>
        </p:txBody>
      </p:sp>
      <p:sp>
        <p:nvSpPr>
          <p:cNvPr id="7" name="Text 5"/>
          <p:cNvSpPr/>
          <p:nvPr/>
        </p:nvSpPr>
        <p:spPr>
          <a:xfrm>
            <a:off x="822960" y="4937760"/>
            <a:ext cx="10058400" cy="365760"/>
          </a:xfrm>
          <a:prstGeom prst="rect">
            <a:avLst/>
          </a:prstGeom>
          <a:noFill/>
          <a:ln/>
        </p:spPr>
        <p:txBody>
          <a:bodyPr wrap="square" rtlCol="0" anchor="ctr"/>
          <a:lstStyle/>
          <a:p>
            <a:pPr marL="0" indent="0">
              <a:buNone/>
            </a:pPr>
            <a:r>
              <a:rPr lang="en-US" sz="1600" b="1">
                <a:solidFill>
                  <a:srgbClr val="797876"/>
                </a:solidFill>
                <a:latin typeface="Calibri" pitchFamily="34" charset="0"/>
                <a:ea typeface="Calibri" pitchFamily="34" charset="-122"/>
                <a:cs typeface="Calibri" pitchFamily="34" charset="-120"/>
              </a:rPr>
              <a:t>Team  </a:t>
            </a:r>
            <a:r>
              <a:rPr lang="en-US" sz="1600">
                <a:solidFill>
                  <a:srgbClr val="FFFFFF"/>
                </a:solidFill>
                <a:latin typeface="Calibri" pitchFamily="34" charset="0"/>
                <a:ea typeface="Calibri" pitchFamily="34" charset="-122"/>
                <a:cs typeface="Calibri" pitchFamily="34" charset="-120"/>
              </a:rPr>
              <a:t>Justin Bravo   ·   Taran Agarwal</a:t>
            </a:r>
            <a:endParaRPr lang="en-US" sz="1600"/>
          </a:p>
        </p:txBody>
      </p:sp>
      <p:sp>
        <p:nvSpPr>
          <p:cNvPr id="8" name="Text 6"/>
          <p:cNvSpPr/>
          <p:nvPr/>
        </p:nvSpPr>
        <p:spPr>
          <a:xfrm>
            <a:off x="822960" y="5349240"/>
            <a:ext cx="10058400" cy="365760"/>
          </a:xfrm>
          <a:prstGeom prst="rect">
            <a:avLst/>
          </a:prstGeom>
          <a:noFill/>
          <a:ln/>
        </p:spPr>
        <p:txBody>
          <a:bodyPr wrap="square" rtlCol="0" anchor="ctr"/>
          <a:lstStyle/>
          <a:p>
            <a:pPr marL="0" indent="0">
              <a:buNone/>
            </a:pPr>
            <a:r>
              <a:rPr lang="en-US" sz="1400" b="1" dirty="0">
                <a:solidFill>
                  <a:srgbClr val="797876"/>
                </a:solidFill>
                <a:latin typeface="Calibri" pitchFamily="34" charset="0"/>
                <a:ea typeface="Calibri" pitchFamily="34" charset="-122"/>
                <a:cs typeface="Calibri" pitchFamily="34" charset="-120"/>
              </a:rPr>
              <a:t>Course  </a:t>
            </a:r>
            <a:r>
              <a:rPr lang="en-US" sz="1400" dirty="0">
                <a:solidFill>
                  <a:srgbClr val="FFFFFF"/>
                </a:solidFill>
                <a:latin typeface="Calibri" pitchFamily="34" charset="0"/>
                <a:ea typeface="Calibri" pitchFamily="34" charset="-122"/>
                <a:cs typeface="Calibri" pitchFamily="34" charset="-120"/>
              </a:rPr>
              <a:t>CS422 — Software Testing &amp; Debugging</a:t>
            </a:r>
            <a:endParaRPr lang="en-US" sz="1400" dirty="0"/>
          </a:p>
        </p:txBody>
      </p:sp>
      <p:sp>
        <p:nvSpPr>
          <p:cNvPr id="9" name="Text 7"/>
          <p:cNvSpPr/>
          <p:nvPr/>
        </p:nvSpPr>
        <p:spPr>
          <a:xfrm>
            <a:off x="822960" y="5760720"/>
            <a:ext cx="10058400" cy="365760"/>
          </a:xfrm>
          <a:prstGeom prst="rect">
            <a:avLst/>
          </a:prstGeom>
          <a:noFill/>
          <a:ln/>
        </p:spPr>
        <p:txBody>
          <a:bodyPr wrap="square" rtlCol="0" anchor="ctr"/>
          <a:lstStyle/>
          <a:p>
            <a:pPr marL="0" indent="0">
              <a:buNone/>
            </a:pPr>
            <a:r>
              <a:rPr lang="en-US" sz="1400" b="1">
                <a:solidFill>
                  <a:srgbClr val="797876"/>
                </a:solidFill>
                <a:latin typeface="Calibri" pitchFamily="34" charset="0"/>
                <a:ea typeface="Calibri" pitchFamily="34" charset="-122"/>
                <a:cs typeface="Calibri" pitchFamily="34" charset="-120"/>
              </a:rPr>
              <a:t>Repository  </a:t>
            </a:r>
            <a:r>
              <a:rPr lang="en-US" sz="1400" u="sng">
                <a:solidFill>
                  <a:srgbClr val="4F98A3"/>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github.com/taranagarwal/stad_final_habit_tracker</a:t>
            </a:r>
            <a:endParaRPr lang="en-US" sz="1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rtlCol="0" anchor="ctr"/>
          <a:lstStyle/>
          <a:p>
            <a:pPr marL="0" indent="0">
              <a:buNone/>
            </a:pPr>
            <a:r>
              <a:rPr lang="en-US" sz="1100" b="1" kern="0" spc="200">
                <a:solidFill>
                  <a:srgbClr val="01696F"/>
                </a:solidFill>
                <a:latin typeface="Calibri" pitchFamily="34" charset="0"/>
                <a:ea typeface="Calibri" pitchFamily="34" charset="-122"/>
                <a:cs typeface="Calibri" pitchFamily="34" charset="-120"/>
              </a:rPr>
              <a:t>PART 1 · SUBJECT APP</a:t>
            </a:r>
            <a:endParaRPr lang="en-US" sz="1100"/>
          </a:p>
        </p:txBody>
      </p:sp>
      <p:sp>
        <p:nvSpPr>
          <p:cNvPr id="3" name="Text 1"/>
          <p:cNvSpPr/>
          <p:nvPr/>
        </p:nvSpPr>
        <p:spPr>
          <a:xfrm>
            <a:off x="548640" y="731520"/>
            <a:ext cx="10972800" cy="731520"/>
          </a:xfrm>
          <a:prstGeom prst="rect">
            <a:avLst/>
          </a:prstGeom>
          <a:noFill/>
          <a:ln/>
        </p:spPr>
        <p:txBody>
          <a:bodyPr wrap="square" rtlCol="0" anchor="ctr"/>
          <a:lstStyle/>
          <a:p>
            <a:pPr marL="0" indent="0">
              <a:buNone/>
            </a:pPr>
            <a:r>
              <a:rPr lang="en-US" sz="3200" b="1">
                <a:solidFill>
                  <a:srgbClr val="28251D"/>
                </a:solidFill>
                <a:latin typeface="Calibri" pitchFamily="34" charset="0"/>
                <a:ea typeface="Calibri" pitchFamily="34" charset="-122"/>
                <a:cs typeface="Calibri" pitchFamily="34" charset="-120"/>
              </a:rPr>
              <a:t>HERALDEXX Habit Tracker v2.2.0</a:t>
            </a:r>
            <a:endParaRPr lang="en-US" sz="3200"/>
          </a:p>
        </p:txBody>
      </p:sp>
      <p:sp>
        <p:nvSpPr>
          <p:cNvPr id="4" name="Text 2"/>
          <p:cNvSpPr/>
          <p:nvPr/>
        </p:nvSpPr>
        <p:spPr>
          <a:xfrm>
            <a:off x="548640" y="1645920"/>
            <a:ext cx="6675120" cy="731520"/>
          </a:xfrm>
          <a:prstGeom prst="rect">
            <a:avLst/>
          </a:prstGeom>
          <a:noFill/>
          <a:ln/>
        </p:spPr>
        <p:txBody>
          <a:bodyPr wrap="square" rtlCol="0" anchor="ctr"/>
          <a:lstStyle/>
          <a:p>
            <a:pPr marL="0" indent="0">
              <a:buNone/>
            </a:pPr>
            <a:r>
              <a:rPr lang="en-US" sz="1800">
                <a:solidFill>
                  <a:srgbClr val="28251D"/>
                </a:solidFill>
                <a:latin typeface="Calibri" pitchFamily="34" charset="0"/>
                <a:ea typeface="Calibri" pitchFamily="34" charset="-122"/>
                <a:cs typeface="Calibri" pitchFamily="34" charset="-120"/>
              </a:rPr>
              <a:t>A cross-platform Python application for building, logging, and tracking daily habits.</a:t>
            </a:r>
            <a:endParaRPr lang="en-US" sz="1800"/>
          </a:p>
        </p:txBody>
      </p:sp>
      <p:sp>
        <p:nvSpPr>
          <p:cNvPr id="5" name="Text 3"/>
          <p:cNvSpPr/>
          <p:nvPr/>
        </p:nvSpPr>
        <p:spPr>
          <a:xfrm>
            <a:off x="548640" y="2514600"/>
            <a:ext cx="6675120" cy="320040"/>
          </a:xfrm>
          <a:prstGeom prst="rect">
            <a:avLst/>
          </a:prstGeom>
          <a:noFill/>
          <a:ln/>
        </p:spPr>
        <p:txBody>
          <a:bodyPr wrap="square" rtlCol="0" anchor="ctr"/>
          <a:lstStyle/>
          <a:p>
            <a:pPr marL="0" indent="0">
              <a:buNone/>
            </a:pPr>
            <a:r>
              <a:rPr lang="en-US" sz="1300" b="1" kern="0" spc="200">
                <a:solidFill>
                  <a:srgbClr val="01696F"/>
                </a:solidFill>
                <a:latin typeface="Calibri" pitchFamily="34" charset="0"/>
                <a:ea typeface="Calibri" pitchFamily="34" charset="-122"/>
                <a:cs typeface="Calibri" pitchFamily="34" charset="-120"/>
              </a:rPr>
              <a:t>What it does</a:t>
            </a:r>
            <a:endParaRPr lang="en-US" sz="1300"/>
          </a:p>
        </p:txBody>
      </p:sp>
      <p:sp>
        <p:nvSpPr>
          <p:cNvPr id="6" name="Text 4"/>
          <p:cNvSpPr/>
          <p:nvPr/>
        </p:nvSpPr>
        <p:spPr>
          <a:xfrm>
            <a:off x="548640" y="2880360"/>
            <a:ext cx="6766560" cy="2926080"/>
          </a:xfrm>
          <a:prstGeom prst="rect">
            <a:avLst/>
          </a:prstGeom>
          <a:noFill/>
          <a:ln/>
        </p:spPr>
        <p:txBody>
          <a:bodyPr wrap="square" rtlCol="0" anchor="t"/>
          <a:lstStyle/>
          <a:p>
            <a:pPr marL="342900" indent="-342900">
              <a:spcAft>
                <a:spcPts val="500"/>
              </a:spcAft>
              <a:buSzPct val="100000"/>
              <a:buChar char="•"/>
            </a:pPr>
            <a:r>
              <a:rPr lang="en-US" sz="1400">
                <a:solidFill>
                  <a:srgbClr val="28251D"/>
                </a:solidFill>
                <a:latin typeface="Calibri" pitchFamily="34" charset="0"/>
                <a:ea typeface="Calibri" pitchFamily="34" charset="-122"/>
                <a:cs typeface="Calibri" pitchFamily="34" charset="-120"/>
              </a:rPr>
              <a:t>Creates 2–10 user habits through an interactive wizard</a:t>
            </a:r>
            <a:endParaRPr lang="en-US" sz="1400"/>
          </a:p>
          <a:p>
            <a:pPr marL="342900" indent="-342900">
              <a:spcAft>
                <a:spcPts val="500"/>
              </a:spcAft>
              <a:buSzPct val="100000"/>
              <a:buChar char="•"/>
            </a:pPr>
            <a:r>
              <a:rPr lang="en-US" sz="1400">
                <a:solidFill>
                  <a:srgbClr val="28251D"/>
                </a:solidFill>
                <a:latin typeface="Calibri" pitchFamily="34" charset="0"/>
                <a:ea typeface="Calibri" pitchFamily="34" charset="-122"/>
                <a:cs typeface="Calibri" pitchFamily="34" charset="-120"/>
              </a:rPr>
              <a:t>Logs daily completions and tracks consecutive-day streaks</a:t>
            </a:r>
            <a:endParaRPr lang="en-US" sz="1400"/>
          </a:p>
          <a:p>
            <a:pPr marL="342900" indent="-342900">
              <a:spcAft>
                <a:spcPts val="500"/>
              </a:spcAft>
              <a:buSzPct val="100000"/>
              <a:buChar char="•"/>
            </a:pPr>
            <a:r>
              <a:rPr lang="en-US" sz="1400">
                <a:solidFill>
                  <a:srgbClr val="28251D"/>
                </a:solidFill>
                <a:latin typeface="Calibri" pitchFamily="34" charset="0"/>
                <a:ea typeface="Calibri" pitchFamily="34" charset="-122"/>
                <a:cs typeface="Calibri" pitchFamily="34" charset="-120"/>
              </a:rPr>
              <a:t>Generates per-habit completion plots (matplotlib)</a:t>
            </a:r>
            <a:endParaRPr lang="en-US" sz="1400"/>
          </a:p>
          <a:p>
            <a:pPr marL="342900" indent="-342900">
              <a:spcAft>
                <a:spcPts val="500"/>
              </a:spcAft>
              <a:buSzPct val="100000"/>
              <a:buChar char="•"/>
            </a:pPr>
            <a:r>
              <a:rPr lang="en-US" sz="1400">
                <a:solidFill>
                  <a:srgbClr val="28251D"/>
                </a:solidFill>
                <a:latin typeface="Calibri" pitchFamily="34" charset="0"/>
                <a:ea typeface="Calibri" pitchFamily="34" charset="-122"/>
                <a:cs typeface="Calibri" pitchFamily="34" charset="-120"/>
              </a:rPr>
              <a:t>Persists everything to local JSON files — no cloud, fully offline</a:t>
            </a:r>
            <a:endParaRPr lang="en-US" sz="1400"/>
          </a:p>
          <a:p>
            <a:pPr marL="342900" indent="-342900">
              <a:spcAft>
                <a:spcPts val="500"/>
              </a:spcAft>
              <a:buSzPct val="100000"/>
              <a:buChar char="•"/>
            </a:pPr>
            <a:r>
              <a:rPr lang="en-US" sz="1400">
                <a:solidFill>
                  <a:srgbClr val="28251D"/>
                </a:solidFill>
                <a:latin typeface="Calibri" pitchFamily="34" charset="0"/>
                <a:ea typeface="Calibri" pitchFamily="34" charset="-122"/>
                <a:cs typeface="Calibri" pitchFamily="34" charset="-120"/>
              </a:rPr>
              <a:t>Exposes the same habit_engine core through both a CLI and a customtkinter GUI</a:t>
            </a:r>
            <a:endParaRPr lang="en-US" sz="1400"/>
          </a:p>
        </p:txBody>
      </p:sp>
      <p:sp>
        <p:nvSpPr>
          <p:cNvPr id="7" name="Shape 5"/>
          <p:cNvSpPr/>
          <p:nvPr/>
        </p:nvSpPr>
        <p:spPr>
          <a:xfrm>
            <a:off x="7543800" y="1645920"/>
            <a:ext cx="4160520" cy="4480560"/>
          </a:xfrm>
          <a:prstGeom prst="rect">
            <a:avLst/>
          </a:prstGeom>
          <a:solidFill>
            <a:srgbClr val="FBFBF9"/>
          </a:solidFill>
          <a:ln w="9525">
            <a:solidFill>
              <a:srgbClr val="D4D1CA"/>
            </a:solidFill>
            <a:prstDash val="solid"/>
          </a:ln>
        </p:spPr>
        <p:txBody>
          <a:bodyPr/>
          <a:lstStyle/>
          <a:p>
            <a:endParaRPr lang="en-US"/>
          </a:p>
        </p:txBody>
      </p:sp>
      <p:sp>
        <p:nvSpPr>
          <p:cNvPr id="8" name="Text 6"/>
          <p:cNvSpPr/>
          <p:nvPr/>
        </p:nvSpPr>
        <p:spPr>
          <a:xfrm>
            <a:off x="7726680" y="1783080"/>
            <a:ext cx="3840480" cy="320040"/>
          </a:xfrm>
          <a:prstGeom prst="rect">
            <a:avLst/>
          </a:prstGeom>
          <a:noFill/>
          <a:ln/>
        </p:spPr>
        <p:txBody>
          <a:bodyPr wrap="square" rtlCol="0" anchor="ctr"/>
          <a:lstStyle/>
          <a:p>
            <a:pPr marL="0" indent="0">
              <a:buNone/>
            </a:pPr>
            <a:r>
              <a:rPr lang="en-US" sz="1100" b="1" kern="0" spc="200">
                <a:solidFill>
                  <a:srgbClr val="01696F"/>
                </a:solidFill>
                <a:latin typeface="Calibri" pitchFamily="34" charset="0"/>
                <a:ea typeface="Calibri" pitchFamily="34" charset="-122"/>
                <a:cs typeface="Calibri" pitchFamily="34" charset="-120"/>
              </a:rPr>
              <a:t>AT A GLANCE</a:t>
            </a:r>
            <a:endParaRPr lang="en-US" sz="1100"/>
          </a:p>
        </p:txBody>
      </p:sp>
      <p:sp>
        <p:nvSpPr>
          <p:cNvPr id="9" name="Text 7"/>
          <p:cNvSpPr/>
          <p:nvPr/>
        </p:nvSpPr>
        <p:spPr>
          <a:xfrm>
            <a:off x="7726680" y="2194560"/>
            <a:ext cx="3840480" cy="548640"/>
          </a:xfrm>
          <a:prstGeom prst="rect">
            <a:avLst/>
          </a:prstGeom>
          <a:noFill/>
          <a:ln/>
        </p:spPr>
        <p:txBody>
          <a:bodyPr wrap="square" rtlCol="0" anchor="ctr"/>
          <a:lstStyle/>
          <a:p>
            <a:pPr marL="0" indent="0">
              <a:buNone/>
            </a:pPr>
            <a:r>
              <a:rPr lang="en-US" sz="3400" b="1">
                <a:solidFill>
                  <a:srgbClr val="28251D"/>
                </a:solidFill>
                <a:latin typeface="Calibri" pitchFamily="34" charset="0"/>
                <a:ea typeface="Calibri" pitchFamily="34" charset="-122"/>
                <a:cs typeface="Calibri" pitchFamily="34" charset="-120"/>
              </a:rPr>
              <a:t>~3,600+</a:t>
            </a:r>
            <a:endParaRPr lang="en-US" sz="3400"/>
          </a:p>
        </p:txBody>
      </p:sp>
      <p:sp>
        <p:nvSpPr>
          <p:cNvPr id="10" name="Text 8"/>
          <p:cNvSpPr/>
          <p:nvPr/>
        </p:nvSpPr>
        <p:spPr>
          <a:xfrm>
            <a:off x="7726680" y="2697480"/>
            <a:ext cx="3840480" cy="274320"/>
          </a:xfrm>
          <a:prstGeom prst="rect">
            <a:avLst/>
          </a:prstGeom>
          <a:noFill/>
          <a:ln/>
        </p:spPr>
        <p:txBody>
          <a:bodyPr wrap="square" rtlCol="0" anchor="ctr"/>
          <a:lstStyle/>
          <a:p>
            <a:pPr marL="0" indent="0">
              <a:buNone/>
            </a:pPr>
            <a:r>
              <a:rPr lang="en-US" sz="1200">
                <a:solidFill>
                  <a:srgbClr val="7A7974"/>
                </a:solidFill>
                <a:latin typeface="Calibri" pitchFamily="34" charset="0"/>
                <a:ea typeface="Calibri" pitchFamily="34" charset="-122"/>
                <a:cs typeface="Calibri" pitchFamily="34" charset="-120"/>
              </a:rPr>
              <a:t>lines of Python</a:t>
            </a:r>
            <a:endParaRPr lang="en-US" sz="1200"/>
          </a:p>
        </p:txBody>
      </p:sp>
      <p:sp>
        <p:nvSpPr>
          <p:cNvPr id="11" name="Text 9"/>
          <p:cNvSpPr/>
          <p:nvPr/>
        </p:nvSpPr>
        <p:spPr>
          <a:xfrm>
            <a:off x="7726680" y="3154680"/>
            <a:ext cx="3840480" cy="548640"/>
          </a:xfrm>
          <a:prstGeom prst="rect">
            <a:avLst/>
          </a:prstGeom>
          <a:noFill/>
          <a:ln/>
        </p:spPr>
        <p:txBody>
          <a:bodyPr wrap="square" rtlCol="0" anchor="ctr"/>
          <a:lstStyle/>
          <a:p>
            <a:pPr marL="0" indent="0">
              <a:buNone/>
            </a:pPr>
            <a:r>
              <a:rPr lang="en-US" sz="3400" b="1">
                <a:solidFill>
                  <a:srgbClr val="28251D"/>
                </a:solidFill>
                <a:latin typeface="Calibri" pitchFamily="34" charset="0"/>
                <a:ea typeface="Calibri" pitchFamily="34" charset="-122"/>
                <a:cs typeface="Calibri" pitchFamily="34" charset="-120"/>
              </a:rPr>
              <a:t>100%</a:t>
            </a:r>
            <a:endParaRPr lang="en-US" sz="3400"/>
          </a:p>
        </p:txBody>
      </p:sp>
      <p:sp>
        <p:nvSpPr>
          <p:cNvPr id="12" name="Text 10"/>
          <p:cNvSpPr/>
          <p:nvPr/>
        </p:nvSpPr>
        <p:spPr>
          <a:xfrm>
            <a:off x="7726680" y="3657600"/>
            <a:ext cx="3840480" cy="274320"/>
          </a:xfrm>
          <a:prstGeom prst="rect">
            <a:avLst/>
          </a:prstGeom>
          <a:noFill/>
          <a:ln/>
        </p:spPr>
        <p:txBody>
          <a:bodyPr wrap="square" rtlCol="0" anchor="ctr"/>
          <a:lstStyle/>
          <a:p>
            <a:pPr marL="0" indent="0">
              <a:buNone/>
            </a:pPr>
            <a:r>
              <a:rPr lang="en-US" sz="1200">
                <a:solidFill>
                  <a:srgbClr val="7A7974"/>
                </a:solidFill>
                <a:latin typeface="Calibri" pitchFamily="34" charset="0"/>
                <a:ea typeface="Calibri" pitchFamily="34" charset="-122"/>
                <a:cs typeface="Calibri" pitchFamily="34" charset="-120"/>
              </a:rPr>
              <a:t>Python codebase</a:t>
            </a:r>
            <a:endParaRPr lang="en-US" sz="1200"/>
          </a:p>
        </p:txBody>
      </p:sp>
      <p:sp>
        <p:nvSpPr>
          <p:cNvPr id="13" name="Text 11"/>
          <p:cNvSpPr/>
          <p:nvPr/>
        </p:nvSpPr>
        <p:spPr>
          <a:xfrm>
            <a:off x="7726680" y="4114800"/>
            <a:ext cx="3840480" cy="548640"/>
          </a:xfrm>
          <a:prstGeom prst="rect">
            <a:avLst/>
          </a:prstGeom>
          <a:noFill/>
          <a:ln/>
        </p:spPr>
        <p:txBody>
          <a:bodyPr wrap="square" rtlCol="0" anchor="ctr"/>
          <a:lstStyle/>
          <a:p>
            <a:pPr marL="0" indent="0">
              <a:buNone/>
            </a:pPr>
            <a:r>
              <a:rPr lang="en-US" sz="3400" b="1">
                <a:solidFill>
                  <a:srgbClr val="28251D"/>
                </a:solidFill>
                <a:latin typeface="Calibri" pitchFamily="34" charset="0"/>
                <a:ea typeface="Calibri" pitchFamily="34" charset="-122"/>
                <a:cs typeface="Calibri" pitchFamily="34" charset="-120"/>
              </a:rPr>
              <a:t>6</a:t>
            </a:r>
            <a:endParaRPr lang="en-US" sz="3400"/>
          </a:p>
        </p:txBody>
      </p:sp>
      <p:sp>
        <p:nvSpPr>
          <p:cNvPr id="14" name="Text 12"/>
          <p:cNvSpPr/>
          <p:nvPr/>
        </p:nvSpPr>
        <p:spPr>
          <a:xfrm>
            <a:off x="7726680" y="4617720"/>
            <a:ext cx="3840480" cy="274320"/>
          </a:xfrm>
          <a:prstGeom prst="rect">
            <a:avLst/>
          </a:prstGeom>
          <a:noFill/>
          <a:ln/>
        </p:spPr>
        <p:txBody>
          <a:bodyPr wrap="square" rtlCol="0" anchor="ctr"/>
          <a:lstStyle/>
          <a:p>
            <a:pPr marL="0" indent="0">
              <a:buNone/>
            </a:pPr>
            <a:r>
              <a:rPr lang="en-US" sz="1200">
                <a:solidFill>
                  <a:srgbClr val="7A7974"/>
                </a:solidFill>
                <a:latin typeface="Calibri" pitchFamily="34" charset="0"/>
                <a:ea typeface="Calibri" pitchFamily="34" charset="-122"/>
                <a:cs typeface="Calibri" pitchFamily="34" charset="-120"/>
              </a:rPr>
              <a:t>non-GUI logic modules</a:t>
            </a:r>
            <a:endParaRPr lang="en-US" sz="1200"/>
          </a:p>
        </p:txBody>
      </p:sp>
      <p:sp>
        <p:nvSpPr>
          <p:cNvPr id="15" name="Text 13"/>
          <p:cNvSpPr/>
          <p:nvPr/>
        </p:nvSpPr>
        <p:spPr>
          <a:xfrm>
            <a:off x="7726680" y="5074920"/>
            <a:ext cx="3840480" cy="548640"/>
          </a:xfrm>
          <a:prstGeom prst="rect">
            <a:avLst/>
          </a:prstGeom>
          <a:noFill/>
          <a:ln/>
        </p:spPr>
        <p:txBody>
          <a:bodyPr wrap="square" rtlCol="0" anchor="ctr"/>
          <a:lstStyle/>
          <a:p>
            <a:pPr marL="0" indent="0">
              <a:buNone/>
            </a:pPr>
            <a:r>
              <a:rPr lang="en-US" sz="3400" b="1">
                <a:solidFill>
                  <a:srgbClr val="28251D"/>
                </a:solidFill>
                <a:latin typeface="Calibri" pitchFamily="34" charset="0"/>
                <a:ea typeface="Calibri" pitchFamily="34" charset="-122"/>
                <a:cs typeface="Calibri" pitchFamily="34" charset="-120"/>
              </a:rPr>
              <a:t>0</a:t>
            </a:r>
            <a:endParaRPr lang="en-US" sz="3400"/>
          </a:p>
        </p:txBody>
      </p:sp>
      <p:sp>
        <p:nvSpPr>
          <p:cNvPr id="16" name="Text 14"/>
          <p:cNvSpPr/>
          <p:nvPr/>
        </p:nvSpPr>
        <p:spPr>
          <a:xfrm>
            <a:off x="7726680" y="5577840"/>
            <a:ext cx="3840480" cy="274320"/>
          </a:xfrm>
          <a:prstGeom prst="rect">
            <a:avLst/>
          </a:prstGeom>
          <a:noFill/>
          <a:ln/>
        </p:spPr>
        <p:txBody>
          <a:bodyPr wrap="square" rtlCol="0" anchor="ctr"/>
          <a:lstStyle/>
          <a:p>
            <a:pPr marL="0" indent="0">
              <a:buNone/>
            </a:pPr>
            <a:r>
              <a:rPr lang="en-US" sz="1200">
                <a:solidFill>
                  <a:srgbClr val="7A7974"/>
                </a:solidFill>
                <a:latin typeface="Calibri" pitchFamily="34" charset="0"/>
                <a:ea typeface="Calibri" pitchFamily="34" charset="-122"/>
                <a:cs typeface="Calibri" pitchFamily="34" charset="-120"/>
              </a:rPr>
              <a:t>pre-existing automated tests</a:t>
            </a:r>
            <a:endParaRPr lang="en-US" sz="1200"/>
          </a:p>
        </p:txBody>
      </p:sp>
      <p:sp>
        <p:nvSpPr>
          <p:cNvPr id="17" name="Text 15"/>
          <p:cNvSpPr/>
          <p:nvPr/>
        </p:nvSpPr>
        <p:spPr>
          <a:xfrm>
            <a:off x="548640" y="5989320"/>
            <a:ext cx="10972800" cy="274320"/>
          </a:xfrm>
          <a:prstGeom prst="rect">
            <a:avLst/>
          </a:prstGeom>
          <a:noFill/>
          <a:ln/>
        </p:spPr>
        <p:txBody>
          <a:bodyPr wrap="square" rtlCol="0" anchor="ctr"/>
          <a:lstStyle/>
          <a:p>
            <a:pPr marL="0" indent="0">
              <a:buNone/>
            </a:pPr>
            <a:r>
              <a:rPr lang="en-US" sz="1000">
                <a:solidFill>
                  <a:srgbClr val="7A7974"/>
                </a:solidFill>
                <a:latin typeface="Calibri" pitchFamily="34" charset="0"/>
                <a:ea typeface="Calibri" pitchFamily="34" charset="-122"/>
                <a:cs typeface="Calibri" pitchFamily="34" charset="-120"/>
              </a:rPr>
              <a:t>Source: </a:t>
            </a:r>
            <a:r>
              <a:rPr lang="en-US" sz="1000" u="sng">
                <a:solidFill>
                  <a:srgbClr val="01696F"/>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HERALDEXX/habit-tracker</a:t>
            </a:r>
            <a:endParaRPr lang="en-US" sz="1000"/>
          </a:p>
        </p:txBody>
      </p:sp>
      <p:sp>
        <p:nvSpPr>
          <p:cNvPr id="18" name="Text 16"/>
          <p:cNvSpPr/>
          <p:nvPr/>
        </p:nvSpPr>
        <p:spPr>
          <a:xfrm>
            <a:off x="457200" y="6446520"/>
            <a:ext cx="9144000" cy="274320"/>
          </a:xfrm>
          <a:prstGeom prst="rect">
            <a:avLst/>
          </a:prstGeom>
          <a:noFill/>
          <a:ln/>
        </p:spPr>
        <p:txBody>
          <a:bodyPr wrap="square" rtlCol="0" anchor="ctr"/>
          <a:lstStyle/>
          <a:p>
            <a:pPr marL="0" indent="0">
              <a:buNone/>
            </a:pPr>
            <a:r>
              <a:rPr lang="en-US" sz="900">
                <a:solidFill>
                  <a:srgbClr val="7A7974"/>
                </a:solidFill>
                <a:latin typeface="Calibri" pitchFamily="34" charset="0"/>
                <a:ea typeface="Calibri" pitchFamily="34" charset="-122"/>
                <a:cs typeface="Calibri" pitchFamily="34" charset="-120"/>
              </a:rPr>
              <a:t>Systematic Testing of HERALDEXX/habit-tracker</a:t>
            </a:r>
            <a:r>
              <a:rPr lang="en-US" sz="900">
                <a:solidFill>
                  <a:srgbClr val="BAB9B4"/>
                </a:solidFill>
                <a:latin typeface="Calibri" pitchFamily="34" charset="0"/>
                <a:ea typeface="Calibri" pitchFamily="34" charset="-122"/>
                <a:cs typeface="Calibri" pitchFamily="34" charset="-120"/>
              </a:rPr>
              <a:t>   •   </a:t>
            </a:r>
            <a:r>
              <a:rPr lang="en-US" sz="900">
                <a:solidFill>
                  <a:srgbClr val="7A7974"/>
                </a:solidFill>
                <a:latin typeface="Calibri" pitchFamily="34" charset="0"/>
                <a:ea typeface="Calibri" pitchFamily="34" charset="-122"/>
                <a:cs typeface="Calibri" pitchFamily="34" charset="-120"/>
              </a:rPr>
              <a:t>CS422 Spring 2026</a:t>
            </a:r>
            <a:endParaRPr lang="en-US" sz="900"/>
          </a:p>
        </p:txBody>
      </p:sp>
      <p:sp>
        <p:nvSpPr>
          <p:cNvPr id="19" name="Text 17"/>
          <p:cNvSpPr/>
          <p:nvPr/>
        </p:nvSpPr>
        <p:spPr>
          <a:xfrm>
            <a:off x="10789920" y="6446520"/>
            <a:ext cx="914400" cy="274320"/>
          </a:xfrm>
          <a:prstGeom prst="rect">
            <a:avLst/>
          </a:prstGeom>
          <a:noFill/>
          <a:ln/>
        </p:spPr>
        <p:txBody>
          <a:bodyPr wrap="square" rtlCol="0" anchor="ctr"/>
          <a:lstStyle/>
          <a:p>
            <a:pPr marL="0" indent="0" algn="r">
              <a:buNone/>
            </a:pPr>
            <a:r>
              <a:rPr lang="en-US" sz="900">
                <a:solidFill>
                  <a:srgbClr val="7A7974"/>
                </a:solidFill>
                <a:latin typeface="Calibri" pitchFamily="34" charset="0"/>
                <a:ea typeface="Calibri" pitchFamily="34" charset="-122"/>
                <a:cs typeface="Calibri" pitchFamily="34" charset="-120"/>
              </a:rPr>
              <a:t>3 / 15</a:t>
            </a:r>
            <a:endParaRPr lang="en-US" sz="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rtlCol="0" anchor="ctr"/>
          <a:lstStyle/>
          <a:p>
            <a:pPr marL="0" indent="0">
              <a:buNone/>
            </a:pPr>
            <a:r>
              <a:rPr lang="en-US" sz="1100" b="1" kern="0" spc="200">
                <a:solidFill>
                  <a:srgbClr val="01696F"/>
                </a:solidFill>
                <a:latin typeface="Calibri" pitchFamily="34" charset="0"/>
                <a:ea typeface="Calibri" pitchFamily="34" charset="-122"/>
                <a:cs typeface="Calibri" pitchFamily="34" charset="-120"/>
              </a:rPr>
              <a:t>PART 1 · SUBJECT APP</a:t>
            </a:r>
            <a:endParaRPr lang="en-US" sz="1100"/>
          </a:p>
        </p:txBody>
      </p:sp>
      <p:sp>
        <p:nvSpPr>
          <p:cNvPr id="3" name="Text 1"/>
          <p:cNvSpPr/>
          <p:nvPr/>
        </p:nvSpPr>
        <p:spPr>
          <a:xfrm>
            <a:off x="548640" y="731520"/>
            <a:ext cx="10972800" cy="731520"/>
          </a:xfrm>
          <a:prstGeom prst="rect">
            <a:avLst/>
          </a:prstGeom>
          <a:noFill/>
          <a:ln/>
        </p:spPr>
        <p:txBody>
          <a:bodyPr wrap="square" rtlCol="0" anchor="ctr"/>
          <a:lstStyle/>
          <a:p>
            <a:pPr marL="0" indent="0">
              <a:buNone/>
            </a:pPr>
            <a:r>
              <a:rPr lang="en-US" sz="3200" b="1">
                <a:solidFill>
                  <a:srgbClr val="28251D"/>
                </a:solidFill>
                <a:latin typeface="Calibri" pitchFamily="34" charset="0"/>
                <a:ea typeface="Calibri" pitchFamily="34" charset="-122"/>
                <a:cs typeface="Calibri" pitchFamily="34" charset="-120"/>
              </a:rPr>
              <a:t>Platform, users, and implementation</a:t>
            </a:r>
            <a:endParaRPr lang="en-US" sz="3200"/>
          </a:p>
        </p:txBody>
      </p:sp>
      <p:sp>
        <p:nvSpPr>
          <p:cNvPr id="4" name="Shape 2"/>
          <p:cNvSpPr/>
          <p:nvPr/>
        </p:nvSpPr>
        <p:spPr>
          <a:xfrm>
            <a:off x="548640" y="1737360"/>
            <a:ext cx="3611880" cy="4434840"/>
          </a:xfrm>
          <a:prstGeom prst="rect">
            <a:avLst/>
          </a:prstGeom>
          <a:solidFill>
            <a:srgbClr val="FBFBF9"/>
          </a:solidFill>
          <a:ln w="9525">
            <a:solidFill>
              <a:srgbClr val="D4D1CA"/>
            </a:solidFill>
            <a:prstDash val="solid"/>
          </a:ln>
        </p:spPr>
        <p:txBody>
          <a:bodyPr/>
          <a:lstStyle/>
          <a:p>
            <a:endParaRPr lang="en-US"/>
          </a:p>
        </p:txBody>
      </p:sp>
      <p:sp>
        <p:nvSpPr>
          <p:cNvPr id="5" name="Text 3"/>
          <p:cNvSpPr/>
          <p:nvPr/>
        </p:nvSpPr>
        <p:spPr>
          <a:xfrm>
            <a:off x="777240" y="1874520"/>
            <a:ext cx="3291840" cy="320040"/>
          </a:xfrm>
          <a:prstGeom prst="rect">
            <a:avLst/>
          </a:prstGeom>
          <a:noFill/>
          <a:ln/>
        </p:spPr>
        <p:txBody>
          <a:bodyPr wrap="square" rtlCol="0" anchor="ctr"/>
          <a:lstStyle/>
          <a:p>
            <a:pPr marL="0" indent="0">
              <a:buNone/>
            </a:pPr>
            <a:r>
              <a:rPr lang="en-US" sz="1100" b="1" kern="0" spc="200">
                <a:solidFill>
                  <a:srgbClr val="01696F"/>
                </a:solidFill>
                <a:latin typeface="Calibri" pitchFamily="34" charset="0"/>
                <a:ea typeface="Calibri" pitchFamily="34" charset="-122"/>
                <a:cs typeface="Calibri" pitchFamily="34" charset="-120"/>
              </a:rPr>
              <a:t>APP TYPE &amp; PLATFORM</a:t>
            </a:r>
            <a:endParaRPr lang="en-US" sz="1100"/>
          </a:p>
        </p:txBody>
      </p:sp>
      <p:sp>
        <p:nvSpPr>
          <p:cNvPr id="6" name="Text 4"/>
          <p:cNvSpPr/>
          <p:nvPr/>
        </p:nvSpPr>
        <p:spPr>
          <a:xfrm>
            <a:off x="777240" y="2194560"/>
            <a:ext cx="3291840" cy="548640"/>
          </a:xfrm>
          <a:prstGeom prst="rect">
            <a:avLst/>
          </a:prstGeom>
          <a:noFill/>
          <a:ln/>
        </p:spPr>
        <p:txBody>
          <a:bodyPr wrap="square" rtlCol="0" anchor="ctr"/>
          <a:lstStyle/>
          <a:p>
            <a:pPr marL="0" indent="0">
              <a:buNone/>
            </a:pPr>
            <a:r>
              <a:rPr lang="en-US" sz="2000" b="1">
                <a:solidFill>
                  <a:srgbClr val="28251D"/>
                </a:solidFill>
                <a:latin typeface="Calibri" pitchFamily="34" charset="0"/>
                <a:ea typeface="Calibri" pitchFamily="34" charset="-122"/>
                <a:cs typeface="Calibri" pitchFamily="34" charset="-120"/>
              </a:rPr>
              <a:t>Desktop · Cross-platform</a:t>
            </a:r>
            <a:endParaRPr lang="en-US" sz="2000"/>
          </a:p>
        </p:txBody>
      </p:sp>
      <p:sp>
        <p:nvSpPr>
          <p:cNvPr id="7" name="Text 5"/>
          <p:cNvSpPr/>
          <p:nvPr/>
        </p:nvSpPr>
        <p:spPr>
          <a:xfrm>
            <a:off x="777240" y="2834640"/>
            <a:ext cx="3291840" cy="3246120"/>
          </a:xfrm>
          <a:prstGeom prst="rect">
            <a:avLst/>
          </a:prstGeom>
          <a:noFill/>
          <a:ln/>
        </p:spPr>
        <p:txBody>
          <a:bodyPr wrap="square" rtlCol="0" anchor="t"/>
          <a:lstStyle/>
          <a:p>
            <a:pPr marL="342900" indent="-342900">
              <a:spcAft>
                <a:spcPts val="500"/>
              </a:spcAft>
              <a:buSzPct val="100000"/>
              <a:buChar char="•"/>
            </a:pPr>
            <a:r>
              <a:rPr lang="en-US" sz="1300">
                <a:solidFill>
                  <a:srgbClr val="28251D"/>
                </a:solidFill>
                <a:latin typeface="Calibri" pitchFamily="34" charset="0"/>
                <a:ea typeface="Calibri" pitchFamily="34" charset="-122"/>
                <a:cs typeface="Calibri" pitchFamily="34" charset="-120"/>
              </a:rPr>
              <a:t>Native Python desktop app</a:t>
            </a:r>
            <a:endParaRPr lang="en-US" sz="1300"/>
          </a:p>
          <a:p>
            <a:pPr marL="342900" indent="-342900">
              <a:spcAft>
                <a:spcPts val="500"/>
              </a:spcAft>
              <a:buSzPct val="100000"/>
              <a:buChar char="•"/>
            </a:pPr>
            <a:r>
              <a:rPr lang="en-US" sz="1300">
                <a:solidFill>
                  <a:srgbClr val="28251D"/>
                </a:solidFill>
                <a:latin typeface="Calibri" pitchFamily="34" charset="0"/>
                <a:ea typeface="Calibri" pitchFamily="34" charset="-122"/>
                <a:cs typeface="Calibri" pitchFamily="34" charset="-120"/>
              </a:rPr>
              <a:t>Runs on Windows, macOS, Linux</a:t>
            </a:r>
            <a:endParaRPr lang="en-US" sz="1300"/>
          </a:p>
          <a:p>
            <a:pPr marL="342900" indent="-342900">
              <a:spcAft>
                <a:spcPts val="500"/>
              </a:spcAft>
              <a:buSzPct val="100000"/>
              <a:buChar char="•"/>
            </a:pPr>
            <a:r>
              <a:rPr lang="en-US" sz="1300">
                <a:solidFill>
                  <a:srgbClr val="28251D"/>
                </a:solidFill>
                <a:latin typeface="Calibri" pitchFamily="34" charset="0"/>
                <a:ea typeface="Calibri" pitchFamily="34" charset="-122"/>
                <a:cs typeface="Calibri" pitchFamily="34" charset="-120"/>
              </a:rPr>
              <a:t>Ships as source + prebuilt PyInstaller binaries</a:t>
            </a:r>
            <a:endParaRPr lang="en-US" sz="1300"/>
          </a:p>
          <a:p>
            <a:pPr marL="342900" indent="-342900">
              <a:spcAft>
                <a:spcPts val="500"/>
              </a:spcAft>
              <a:buSzPct val="100000"/>
              <a:buChar char="•"/>
            </a:pPr>
            <a:r>
              <a:rPr lang="en-US" sz="1300">
                <a:solidFill>
                  <a:srgbClr val="28251D"/>
                </a:solidFill>
                <a:latin typeface="Calibri" pitchFamily="34" charset="0"/>
                <a:ea typeface="Calibri" pitchFamily="34" charset="-122"/>
                <a:cs typeface="Calibri" pitchFamily="34" charset="-120"/>
              </a:rPr>
              <a:t>Dual interface — customtkinter GUI or feature-complete CLI</a:t>
            </a:r>
            <a:endParaRPr lang="en-US" sz="1300"/>
          </a:p>
        </p:txBody>
      </p:sp>
      <p:sp>
        <p:nvSpPr>
          <p:cNvPr id="8" name="Shape 6"/>
          <p:cNvSpPr/>
          <p:nvPr/>
        </p:nvSpPr>
        <p:spPr>
          <a:xfrm>
            <a:off x="4370832" y="1737360"/>
            <a:ext cx="3611880" cy="4434840"/>
          </a:xfrm>
          <a:prstGeom prst="rect">
            <a:avLst/>
          </a:prstGeom>
          <a:solidFill>
            <a:srgbClr val="FBFBF9"/>
          </a:solidFill>
          <a:ln w="9525">
            <a:solidFill>
              <a:srgbClr val="D4D1CA"/>
            </a:solidFill>
            <a:prstDash val="solid"/>
          </a:ln>
        </p:spPr>
        <p:txBody>
          <a:bodyPr/>
          <a:lstStyle/>
          <a:p>
            <a:endParaRPr lang="en-US"/>
          </a:p>
        </p:txBody>
      </p:sp>
      <p:sp>
        <p:nvSpPr>
          <p:cNvPr id="9" name="Text 7"/>
          <p:cNvSpPr/>
          <p:nvPr/>
        </p:nvSpPr>
        <p:spPr>
          <a:xfrm>
            <a:off x="4599432" y="1874520"/>
            <a:ext cx="3291840" cy="320040"/>
          </a:xfrm>
          <a:prstGeom prst="rect">
            <a:avLst/>
          </a:prstGeom>
          <a:noFill/>
          <a:ln/>
        </p:spPr>
        <p:txBody>
          <a:bodyPr wrap="square" rtlCol="0" anchor="ctr"/>
          <a:lstStyle/>
          <a:p>
            <a:pPr marL="0" indent="0">
              <a:buNone/>
            </a:pPr>
            <a:r>
              <a:rPr lang="en-US" sz="1100" b="1" kern="0" spc="200">
                <a:solidFill>
                  <a:srgbClr val="01696F"/>
                </a:solidFill>
                <a:latin typeface="Calibri" pitchFamily="34" charset="0"/>
                <a:ea typeface="Calibri" pitchFamily="34" charset="-122"/>
                <a:cs typeface="Calibri" pitchFamily="34" charset="-120"/>
              </a:rPr>
              <a:t>USERS</a:t>
            </a:r>
            <a:endParaRPr lang="en-US" sz="1100"/>
          </a:p>
        </p:txBody>
      </p:sp>
      <p:sp>
        <p:nvSpPr>
          <p:cNvPr id="10" name="Text 8"/>
          <p:cNvSpPr/>
          <p:nvPr/>
        </p:nvSpPr>
        <p:spPr>
          <a:xfrm>
            <a:off x="4599432" y="2194560"/>
            <a:ext cx="3291840" cy="548640"/>
          </a:xfrm>
          <a:prstGeom prst="rect">
            <a:avLst/>
          </a:prstGeom>
          <a:noFill/>
          <a:ln/>
        </p:spPr>
        <p:txBody>
          <a:bodyPr wrap="square" rtlCol="0" anchor="ctr"/>
          <a:lstStyle/>
          <a:p>
            <a:pPr marL="0" indent="0">
              <a:buNone/>
            </a:pPr>
            <a:r>
              <a:rPr lang="en-US" sz="2000" b="1">
                <a:solidFill>
                  <a:srgbClr val="28251D"/>
                </a:solidFill>
                <a:latin typeface="Calibri" pitchFamily="34" charset="0"/>
                <a:ea typeface="Calibri" pitchFamily="34" charset="-122"/>
                <a:cs typeface="Calibri" pitchFamily="34" charset="-120"/>
              </a:rPr>
              <a:t>Privacy-first individuals</a:t>
            </a:r>
            <a:endParaRPr lang="en-US" sz="2000"/>
          </a:p>
        </p:txBody>
      </p:sp>
      <p:sp>
        <p:nvSpPr>
          <p:cNvPr id="11" name="Text 9"/>
          <p:cNvSpPr/>
          <p:nvPr/>
        </p:nvSpPr>
        <p:spPr>
          <a:xfrm>
            <a:off x="4599432" y="2834640"/>
            <a:ext cx="3291840" cy="3246120"/>
          </a:xfrm>
          <a:prstGeom prst="rect">
            <a:avLst/>
          </a:prstGeom>
          <a:noFill/>
          <a:ln/>
        </p:spPr>
        <p:txBody>
          <a:bodyPr wrap="square" rtlCol="0" anchor="t"/>
          <a:lstStyle/>
          <a:p>
            <a:pPr marL="342900" indent="-342900">
              <a:spcAft>
                <a:spcPts val="500"/>
              </a:spcAft>
              <a:buSzPct val="100000"/>
              <a:buChar char="•"/>
            </a:pPr>
            <a:r>
              <a:rPr lang="en-US" sz="1300">
                <a:solidFill>
                  <a:srgbClr val="28251D"/>
                </a:solidFill>
                <a:latin typeface="Calibri" pitchFamily="34" charset="0"/>
                <a:ea typeface="Calibri" pitchFamily="34" charset="-122"/>
                <a:cs typeface="Calibri" pitchFamily="34" charset="-120"/>
              </a:rPr>
              <a:t>Users wanting a lightweight, self-hosted tracker</a:t>
            </a:r>
            <a:endParaRPr lang="en-US" sz="1300"/>
          </a:p>
          <a:p>
            <a:pPr marL="342900" indent="-342900">
              <a:spcAft>
                <a:spcPts val="500"/>
              </a:spcAft>
              <a:buSzPct val="100000"/>
              <a:buChar char="•"/>
            </a:pPr>
            <a:r>
              <a:rPr lang="en-US" sz="1300">
                <a:solidFill>
                  <a:srgbClr val="28251D"/>
                </a:solidFill>
                <a:latin typeface="Calibri" pitchFamily="34" charset="0"/>
                <a:ea typeface="Calibri" pitchFamily="34" charset="-122"/>
                <a:cs typeface="Calibri" pitchFamily="34" charset="-120"/>
              </a:rPr>
              <a:t>Prefer offline-first, no-cloud, no-account tools</a:t>
            </a:r>
            <a:endParaRPr lang="en-US" sz="1300"/>
          </a:p>
          <a:p>
            <a:pPr marL="342900" indent="-342900">
              <a:spcAft>
                <a:spcPts val="500"/>
              </a:spcAft>
              <a:buSzPct val="100000"/>
              <a:buChar char="•"/>
            </a:pPr>
            <a:r>
              <a:rPr lang="en-US" sz="1300">
                <a:solidFill>
                  <a:srgbClr val="28251D"/>
                </a:solidFill>
                <a:latin typeface="Calibri" pitchFamily="34" charset="0"/>
                <a:ea typeface="Calibri" pitchFamily="34" charset="-122"/>
                <a:cs typeface="Calibri" pitchFamily="34" charset="-120"/>
              </a:rPr>
              <a:t>Comfortable installing a Python app or a single binary</a:t>
            </a:r>
            <a:endParaRPr lang="en-US" sz="1300"/>
          </a:p>
          <a:p>
            <a:pPr marL="342900" indent="-342900">
              <a:spcAft>
                <a:spcPts val="500"/>
              </a:spcAft>
              <a:buSzPct val="100000"/>
              <a:buChar char="•"/>
            </a:pPr>
            <a:r>
              <a:rPr lang="en-US" sz="1300">
                <a:solidFill>
                  <a:srgbClr val="28251D"/>
                </a:solidFill>
                <a:latin typeface="Calibri" pitchFamily="34" charset="0"/>
                <a:ea typeface="Calibri" pitchFamily="34" charset="-122"/>
                <a:cs typeface="Calibri" pitchFamily="34" charset="-120"/>
              </a:rPr>
              <a:t>Casual, daily-usage pattern over weeks/months</a:t>
            </a:r>
            <a:endParaRPr lang="en-US" sz="1300"/>
          </a:p>
        </p:txBody>
      </p:sp>
      <p:sp>
        <p:nvSpPr>
          <p:cNvPr id="12" name="Shape 10"/>
          <p:cNvSpPr/>
          <p:nvPr/>
        </p:nvSpPr>
        <p:spPr>
          <a:xfrm>
            <a:off x="8193024" y="1737360"/>
            <a:ext cx="3611880" cy="4434840"/>
          </a:xfrm>
          <a:prstGeom prst="rect">
            <a:avLst/>
          </a:prstGeom>
          <a:solidFill>
            <a:srgbClr val="FBFBF9"/>
          </a:solidFill>
          <a:ln w="9525">
            <a:solidFill>
              <a:srgbClr val="D4D1CA"/>
            </a:solidFill>
            <a:prstDash val="solid"/>
          </a:ln>
        </p:spPr>
        <p:txBody>
          <a:bodyPr/>
          <a:lstStyle/>
          <a:p>
            <a:endParaRPr lang="en-US"/>
          </a:p>
        </p:txBody>
      </p:sp>
      <p:sp>
        <p:nvSpPr>
          <p:cNvPr id="13" name="Text 11"/>
          <p:cNvSpPr/>
          <p:nvPr/>
        </p:nvSpPr>
        <p:spPr>
          <a:xfrm>
            <a:off x="8421624" y="1874520"/>
            <a:ext cx="3291840" cy="320040"/>
          </a:xfrm>
          <a:prstGeom prst="rect">
            <a:avLst/>
          </a:prstGeom>
          <a:noFill/>
          <a:ln/>
        </p:spPr>
        <p:txBody>
          <a:bodyPr wrap="square" rtlCol="0" anchor="ctr"/>
          <a:lstStyle/>
          <a:p>
            <a:pPr marL="0" indent="0">
              <a:buNone/>
            </a:pPr>
            <a:r>
              <a:rPr lang="en-US" sz="1100" b="1" kern="0" spc="200">
                <a:solidFill>
                  <a:srgbClr val="01696F"/>
                </a:solidFill>
                <a:latin typeface="Calibri" pitchFamily="34" charset="0"/>
                <a:ea typeface="Calibri" pitchFamily="34" charset="-122"/>
                <a:cs typeface="Calibri" pitchFamily="34" charset="-120"/>
              </a:rPr>
              <a:t>LANGUAGES &amp; TECH</a:t>
            </a:r>
            <a:endParaRPr lang="en-US" sz="1100"/>
          </a:p>
        </p:txBody>
      </p:sp>
      <p:sp>
        <p:nvSpPr>
          <p:cNvPr id="14" name="Text 12"/>
          <p:cNvSpPr/>
          <p:nvPr/>
        </p:nvSpPr>
        <p:spPr>
          <a:xfrm>
            <a:off x="8421624" y="2194560"/>
            <a:ext cx="3291840" cy="548640"/>
          </a:xfrm>
          <a:prstGeom prst="rect">
            <a:avLst/>
          </a:prstGeom>
          <a:noFill/>
          <a:ln/>
        </p:spPr>
        <p:txBody>
          <a:bodyPr wrap="square" rtlCol="0" anchor="ctr"/>
          <a:lstStyle/>
          <a:p>
            <a:pPr marL="0" indent="0">
              <a:buNone/>
            </a:pPr>
            <a:r>
              <a:rPr lang="en-US" sz="2000" b="1">
                <a:solidFill>
                  <a:srgbClr val="28251D"/>
                </a:solidFill>
                <a:latin typeface="Calibri" pitchFamily="34" charset="0"/>
                <a:ea typeface="Calibri" pitchFamily="34" charset="-122"/>
                <a:cs typeface="Calibri" pitchFamily="34" charset="-120"/>
              </a:rPr>
              <a:t>Python 3.10+</a:t>
            </a:r>
            <a:endParaRPr lang="en-US" sz="2000"/>
          </a:p>
        </p:txBody>
      </p:sp>
      <p:sp>
        <p:nvSpPr>
          <p:cNvPr id="15" name="Text 13"/>
          <p:cNvSpPr/>
          <p:nvPr/>
        </p:nvSpPr>
        <p:spPr>
          <a:xfrm>
            <a:off x="8421624" y="2834640"/>
            <a:ext cx="3291840" cy="3246120"/>
          </a:xfrm>
          <a:prstGeom prst="rect">
            <a:avLst/>
          </a:prstGeom>
          <a:noFill/>
          <a:ln/>
        </p:spPr>
        <p:txBody>
          <a:bodyPr wrap="square" rtlCol="0" anchor="t"/>
          <a:lstStyle/>
          <a:p>
            <a:pPr marL="342900" indent="-342900">
              <a:spcAft>
                <a:spcPts val="500"/>
              </a:spcAft>
              <a:buSzPct val="100000"/>
              <a:buChar char="•"/>
            </a:pPr>
            <a:r>
              <a:rPr lang="en-US" sz="1300">
                <a:solidFill>
                  <a:srgbClr val="28251D"/>
                </a:solidFill>
                <a:latin typeface="Calibri" pitchFamily="34" charset="0"/>
                <a:ea typeface="Calibri" pitchFamily="34" charset="-122"/>
                <a:cs typeface="Calibri" pitchFamily="34" charset="-120"/>
              </a:rPr>
              <a:t>customtkinter — modern themed Tk GUI</a:t>
            </a:r>
            <a:endParaRPr lang="en-US" sz="1300"/>
          </a:p>
          <a:p>
            <a:pPr marL="342900" indent="-342900">
              <a:spcAft>
                <a:spcPts val="500"/>
              </a:spcAft>
              <a:buSzPct val="100000"/>
              <a:buChar char="•"/>
            </a:pPr>
            <a:r>
              <a:rPr lang="en-US" sz="1300">
                <a:solidFill>
                  <a:srgbClr val="28251D"/>
                </a:solidFill>
                <a:latin typeface="Calibri" pitchFamily="34" charset="0"/>
                <a:ea typeface="Calibri" pitchFamily="34" charset="-122"/>
                <a:cs typeface="Calibri" pitchFamily="34" charset="-120"/>
              </a:rPr>
              <a:t>matplotlib — per-habit streak visualization</a:t>
            </a:r>
            <a:endParaRPr lang="en-US" sz="1300"/>
          </a:p>
          <a:p>
            <a:pPr marL="342900" indent="-342900">
              <a:spcAft>
                <a:spcPts val="500"/>
              </a:spcAft>
              <a:buSzPct val="100000"/>
              <a:buChar char="•"/>
            </a:pPr>
            <a:r>
              <a:rPr lang="en-US" sz="1300">
                <a:solidFill>
                  <a:srgbClr val="28251D"/>
                </a:solidFill>
                <a:latin typeface="Calibri" pitchFamily="34" charset="0"/>
                <a:ea typeface="Calibri" pitchFamily="34" charset="-122"/>
                <a:cs typeface="Calibri" pitchFamily="34" charset="-120"/>
              </a:rPr>
              <a:t>colorama, darkdetect, pillow</a:t>
            </a:r>
            <a:endParaRPr lang="en-US" sz="1300"/>
          </a:p>
          <a:p>
            <a:pPr marL="342900" indent="-342900">
              <a:spcAft>
                <a:spcPts val="500"/>
              </a:spcAft>
              <a:buSzPct val="100000"/>
              <a:buChar char="•"/>
            </a:pPr>
            <a:r>
              <a:rPr lang="en-US" sz="1300">
                <a:solidFill>
                  <a:srgbClr val="28251D"/>
                </a:solidFill>
                <a:latin typeface="Calibri" pitchFamily="34" charset="0"/>
                <a:ea typeface="Calibri" pitchFamily="34" charset="-122"/>
                <a:cs typeface="Calibri" pitchFamily="34" charset="-120"/>
              </a:rPr>
              <a:t>JSON files for state persistence</a:t>
            </a:r>
            <a:endParaRPr lang="en-US" sz="1300"/>
          </a:p>
          <a:p>
            <a:pPr marL="342900" indent="-342900">
              <a:spcAft>
                <a:spcPts val="500"/>
              </a:spcAft>
              <a:buSzPct val="100000"/>
              <a:buChar char="•"/>
            </a:pPr>
            <a:r>
              <a:rPr lang="en-US" sz="1300">
                <a:solidFill>
                  <a:srgbClr val="28251D"/>
                </a:solidFill>
                <a:latin typeface="Calibri" pitchFamily="34" charset="0"/>
                <a:ea typeface="Calibri" pitchFamily="34" charset="-122"/>
                <a:cs typeface="Calibri" pitchFamily="34" charset="-120"/>
              </a:rPr>
              <a:t>PyInstaller for packaged binaries</a:t>
            </a:r>
            <a:endParaRPr lang="en-US" sz="1300"/>
          </a:p>
        </p:txBody>
      </p:sp>
      <p:sp>
        <p:nvSpPr>
          <p:cNvPr id="16" name="Text 14"/>
          <p:cNvSpPr/>
          <p:nvPr/>
        </p:nvSpPr>
        <p:spPr>
          <a:xfrm>
            <a:off x="457200" y="6446520"/>
            <a:ext cx="9144000" cy="274320"/>
          </a:xfrm>
          <a:prstGeom prst="rect">
            <a:avLst/>
          </a:prstGeom>
          <a:noFill/>
          <a:ln/>
        </p:spPr>
        <p:txBody>
          <a:bodyPr wrap="square" rtlCol="0" anchor="ctr"/>
          <a:lstStyle/>
          <a:p>
            <a:pPr marL="0" indent="0">
              <a:buNone/>
            </a:pPr>
            <a:r>
              <a:rPr lang="en-US" sz="900">
                <a:solidFill>
                  <a:srgbClr val="7A7974"/>
                </a:solidFill>
                <a:latin typeface="Calibri" pitchFamily="34" charset="0"/>
                <a:ea typeface="Calibri" pitchFamily="34" charset="-122"/>
                <a:cs typeface="Calibri" pitchFamily="34" charset="-120"/>
              </a:rPr>
              <a:t>Systematic Testing of HERALDEXX/habit-tracker</a:t>
            </a:r>
            <a:r>
              <a:rPr lang="en-US" sz="900">
                <a:solidFill>
                  <a:srgbClr val="BAB9B4"/>
                </a:solidFill>
                <a:latin typeface="Calibri" pitchFamily="34" charset="0"/>
                <a:ea typeface="Calibri" pitchFamily="34" charset="-122"/>
                <a:cs typeface="Calibri" pitchFamily="34" charset="-120"/>
              </a:rPr>
              <a:t>   •   </a:t>
            </a:r>
            <a:r>
              <a:rPr lang="en-US" sz="900">
                <a:solidFill>
                  <a:srgbClr val="7A7974"/>
                </a:solidFill>
                <a:latin typeface="Calibri" pitchFamily="34" charset="0"/>
                <a:ea typeface="Calibri" pitchFamily="34" charset="-122"/>
                <a:cs typeface="Calibri" pitchFamily="34" charset="-120"/>
              </a:rPr>
              <a:t>CS422 Spring 2026</a:t>
            </a:r>
            <a:endParaRPr lang="en-US" sz="900"/>
          </a:p>
        </p:txBody>
      </p:sp>
      <p:sp>
        <p:nvSpPr>
          <p:cNvPr id="17" name="Text 15"/>
          <p:cNvSpPr/>
          <p:nvPr/>
        </p:nvSpPr>
        <p:spPr>
          <a:xfrm>
            <a:off x="10789920" y="6446520"/>
            <a:ext cx="914400" cy="274320"/>
          </a:xfrm>
          <a:prstGeom prst="rect">
            <a:avLst/>
          </a:prstGeom>
          <a:noFill/>
          <a:ln/>
        </p:spPr>
        <p:txBody>
          <a:bodyPr wrap="square" rtlCol="0" anchor="ctr"/>
          <a:lstStyle/>
          <a:p>
            <a:pPr marL="0" indent="0" algn="r">
              <a:buNone/>
            </a:pPr>
            <a:r>
              <a:rPr lang="en-US" sz="900">
                <a:solidFill>
                  <a:srgbClr val="7A7974"/>
                </a:solidFill>
                <a:latin typeface="Calibri" pitchFamily="34" charset="0"/>
                <a:ea typeface="Calibri" pitchFamily="34" charset="-122"/>
                <a:cs typeface="Calibri" pitchFamily="34" charset="-120"/>
              </a:rPr>
              <a:t>4 / 15</a:t>
            </a:r>
            <a:endParaRPr lang="en-US" sz="9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rtlCol="0" anchor="ctr"/>
          <a:lstStyle/>
          <a:p>
            <a:pPr marL="0" indent="0">
              <a:buNone/>
            </a:pPr>
            <a:r>
              <a:rPr lang="en-US" sz="1100" b="1" kern="0" spc="200">
                <a:solidFill>
                  <a:srgbClr val="01696F"/>
                </a:solidFill>
                <a:latin typeface="Calibri" pitchFamily="34" charset="0"/>
                <a:ea typeface="Calibri" pitchFamily="34" charset="-122"/>
                <a:cs typeface="Calibri" pitchFamily="34" charset="-120"/>
              </a:rPr>
              <a:t>PART 2 · TESTING</a:t>
            </a:r>
            <a:endParaRPr lang="en-US" sz="1100"/>
          </a:p>
        </p:txBody>
      </p:sp>
      <p:sp>
        <p:nvSpPr>
          <p:cNvPr id="3" name="Text 1"/>
          <p:cNvSpPr/>
          <p:nvPr/>
        </p:nvSpPr>
        <p:spPr>
          <a:xfrm>
            <a:off x="548640" y="731520"/>
            <a:ext cx="10972800" cy="731520"/>
          </a:xfrm>
          <a:prstGeom prst="rect">
            <a:avLst/>
          </a:prstGeom>
          <a:noFill/>
          <a:ln/>
        </p:spPr>
        <p:txBody>
          <a:bodyPr wrap="square" rtlCol="0" anchor="ctr"/>
          <a:lstStyle/>
          <a:p>
            <a:pPr marL="0" indent="0">
              <a:buNone/>
            </a:pPr>
            <a:r>
              <a:rPr lang="en-US" sz="3200" b="1">
                <a:solidFill>
                  <a:srgbClr val="28251D"/>
                </a:solidFill>
                <a:latin typeface="Calibri" pitchFamily="34" charset="0"/>
                <a:ea typeface="Calibri" pitchFamily="34" charset="-122"/>
                <a:cs typeface="Calibri" pitchFamily="34" charset="-120"/>
              </a:rPr>
              <a:t>Four complementary strategies, one goal</a:t>
            </a:r>
            <a:endParaRPr lang="en-US" sz="3200"/>
          </a:p>
        </p:txBody>
      </p:sp>
      <p:sp>
        <p:nvSpPr>
          <p:cNvPr id="4" name="Text 2"/>
          <p:cNvSpPr/>
          <p:nvPr/>
        </p:nvSpPr>
        <p:spPr>
          <a:xfrm>
            <a:off x="548640" y="1600200"/>
            <a:ext cx="11155680" cy="365760"/>
          </a:xfrm>
          <a:prstGeom prst="rect">
            <a:avLst/>
          </a:prstGeom>
          <a:noFill/>
          <a:ln/>
        </p:spPr>
        <p:txBody>
          <a:bodyPr wrap="square" rtlCol="0" anchor="ctr"/>
          <a:lstStyle/>
          <a:p>
            <a:pPr marL="0" indent="0">
              <a:buNone/>
            </a:pPr>
            <a:r>
              <a:rPr lang="en-US" sz="1400" i="1">
                <a:solidFill>
                  <a:srgbClr val="7A7974"/>
                </a:solidFill>
                <a:latin typeface="Calibri" pitchFamily="34" charset="0"/>
                <a:ea typeface="Calibri" pitchFamily="34" charset="-122"/>
                <a:cs typeface="Calibri" pitchFamily="34" charset="-120"/>
              </a:rPr>
              <a:t>Goal: ≥ 85% branch coverage on non-GUI logic + maximize mutation score.</a:t>
            </a:r>
            <a:endParaRPr lang="en-US" sz="1400"/>
          </a:p>
        </p:txBody>
      </p:sp>
      <p:sp>
        <p:nvSpPr>
          <p:cNvPr id="5" name="Shape 3"/>
          <p:cNvSpPr/>
          <p:nvPr/>
        </p:nvSpPr>
        <p:spPr>
          <a:xfrm>
            <a:off x="548640" y="2057400"/>
            <a:ext cx="11109960" cy="914400"/>
          </a:xfrm>
          <a:prstGeom prst="rect">
            <a:avLst/>
          </a:prstGeom>
          <a:solidFill>
            <a:srgbClr val="FBFBF9"/>
          </a:solidFill>
          <a:ln w="9525">
            <a:solidFill>
              <a:srgbClr val="D4D1CA"/>
            </a:solidFill>
            <a:prstDash val="solid"/>
          </a:ln>
        </p:spPr>
        <p:txBody>
          <a:bodyPr/>
          <a:lstStyle/>
          <a:p>
            <a:endParaRPr lang="en-US"/>
          </a:p>
        </p:txBody>
      </p:sp>
      <p:sp>
        <p:nvSpPr>
          <p:cNvPr id="6" name="Text 4"/>
          <p:cNvSpPr/>
          <p:nvPr/>
        </p:nvSpPr>
        <p:spPr>
          <a:xfrm>
            <a:off x="777240" y="2194560"/>
            <a:ext cx="2286000" cy="640080"/>
          </a:xfrm>
          <a:prstGeom prst="rect">
            <a:avLst/>
          </a:prstGeom>
          <a:noFill/>
          <a:ln/>
        </p:spPr>
        <p:txBody>
          <a:bodyPr wrap="square" rtlCol="0" anchor="ctr"/>
          <a:lstStyle/>
          <a:p>
            <a:pPr marL="0" indent="0">
              <a:buNone/>
            </a:pPr>
            <a:r>
              <a:rPr lang="en-US" sz="2000" b="1">
                <a:solidFill>
                  <a:srgbClr val="01696F"/>
                </a:solidFill>
                <a:latin typeface="Calibri" pitchFamily="34" charset="0"/>
                <a:ea typeface="Calibri" pitchFamily="34" charset="-122"/>
                <a:cs typeface="Calibri" pitchFamily="34" charset="-120"/>
              </a:rPr>
              <a:t>Blackbox</a:t>
            </a:r>
            <a:endParaRPr lang="en-US" sz="2000"/>
          </a:p>
        </p:txBody>
      </p:sp>
      <p:sp>
        <p:nvSpPr>
          <p:cNvPr id="7" name="Text 5"/>
          <p:cNvSpPr/>
          <p:nvPr/>
        </p:nvSpPr>
        <p:spPr>
          <a:xfrm>
            <a:off x="3200400" y="2148840"/>
            <a:ext cx="5029200" cy="365760"/>
          </a:xfrm>
          <a:prstGeom prst="rect">
            <a:avLst/>
          </a:prstGeom>
          <a:noFill/>
          <a:ln/>
        </p:spPr>
        <p:txBody>
          <a:bodyPr wrap="square" rtlCol="0" anchor="ctr"/>
          <a:lstStyle/>
          <a:p>
            <a:pPr marL="0" indent="0">
              <a:buNone/>
            </a:pPr>
            <a:r>
              <a:rPr lang="en-US" sz="1400" b="1">
                <a:solidFill>
                  <a:srgbClr val="28251D"/>
                </a:solidFill>
                <a:latin typeface="Calibri" pitchFamily="34" charset="0"/>
                <a:ea typeface="Calibri" pitchFamily="34" charset="-122"/>
                <a:cs typeface="Calibri" pitchFamily="34" charset="-120"/>
              </a:rPr>
              <a:t>EP / BA / EG / Combinatorial</a:t>
            </a:r>
            <a:endParaRPr lang="en-US" sz="1400"/>
          </a:p>
        </p:txBody>
      </p:sp>
      <p:sp>
        <p:nvSpPr>
          <p:cNvPr id="8" name="Text 6"/>
          <p:cNvSpPr/>
          <p:nvPr/>
        </p:nvSpPr>
        <p:spPr>
          <a:xfrm>
            <a:off x="3200400" y="2514600"/>
            <a:ext cx="5029200" cy="365760"/>
          </a:xfrm>
          <a:prstGeom prst="rect">
            <a:avLst/>
          </a:prstGeom>
          <a:noFill/>
          <a:ln/>
        </p:spPr>
        <p:txBody>
          <a:bodyPr wrap="square" rtlCol="0" anchor="ctr"/>
          <a:lstStyle/>
          <a:p>
            <a:pPr marL="0" indent="0">
              <a:buNone/>
            </a:pPr>
            <a:r>
              <a:rPr lang="en-US" sz="1100">
                <a:solidFill>
                  <a:srgbClr val="7A7974"/>
                </a:solidFill>
                <a:latin typeface="Calibri" pitchFamily="34" charset="0"/>
                <a:ea typeface="Calibri" pitchFamily="34" charset="-122"/>
                <a:cs typeface="Calibri" pitchFamily="34" charset="-120"/>
              </a:rPr>
              <a:t>tests/blackbox/</a:t>
            </a:r>
            <a:endParaRPr lang="en-US" sz="1100"/>
          </a:p>
        </p:txBody>
      </p:sp>
      <p:sp>
        <p:nvSpPr>
          <p:cNvPr id="9" name="Text 7"/>
          <p:cNvSpPr/>
          <p:nvPr/>
        </p:nvSpPr>
        <p:spPr>
          <a:xfrm>
            <a:off x="8412480" y="2148840"/>
            <a:ext cx="3017520" cy="640080"/>
          </a:xfrm>
          <a:prstGeom prst="rect">
            <a:avLst/>
          </a:prstGeom>
          <a:noFill/>
          <a:ln/>
        </p:spPr>
        <p:txBody>
          <a:bodyPr wrap="square" rtlCol="0" anchor="ctr"/>
          <a:lstStyle/>
          <a:p>
            <a:pPr marL="0" indent="0" algn="r">
              <a:buNone/>
            </a:pPr>
            <a:r>
              <a:rPr lang="en-US" sz="2600" b="1">
                <a:solidFill>
                  <a:srgbClr val="28251D"/>
                </a:solidFill>
                <a:latin typeface="Calibri" pitchFamily="34" charset="0"/>
                <a:ea typeface="Calibri" pitchFamily="34" charset="-122"/>
                <a:cs typeface="Calibri" pitchFamily="34" charset="-120"/>
              </a:rPr>
              <a:t>135</a:t>
            </a:r>
            <a:endParaRPr lang="en-US" sz="2600"/>
          </a:p>
        </p:txBody>
      </p:sp>
      <p:sp>
        <p:nvSpPr>
          <p:cNvPr id="10" name="Text 8"/>
          <p:cNvSpPr/>
          <p:nvPr/>
        </p:nvSpPr>
        <p:spPr>
          <a:xfrm>
            <a:off x="8412480" y="2587752"/>
            <a:ext cx="3017520" cy="274320"/>
          </a:xfrm>
          <a:prstGeom prst="rect">
            <a:avLst/>
          </a:prstGeom>
          <a:noFill/>
          <a:ln/>
        </p:spPr>
        <p:txBody>
          <a:bodyPr wrap="square" rtlCol="0" anchor="ctr"/>
          <a:lstStyle/>
          <a:p>
            <a:pPr marL="0" indent="0" algn="r">
              <a:buNone/>
            </a:pPr>
            <a:r>
              <a:rPr lang="en-US" sz="1000">
                <a:solidFill>
                  <a:srgbClr val="7A7974"/>
                </a:solidFill>
                <a:latin typeface="Calibri" pitchFamily="34" charset="0"/>
                <a:ea typeface="Calibri" pitchFamily="34" charset="-122"/>
                <a:cs typeface="Calibri" pitchFamily="34" charset="-120"/>
              </a:rPr>
              <a:t>tests</a:t>
            </a:r>
            <a:endParaRPr lang="en-US" sz="1000"/>
          </a:p>
        </p:txBody>
      </p:sp>
      <p:sp>
        <p:nvSpPr>
          <p:cNvPr id="11" name="Shape 9"/>
          <p:cNvSpPr/>
          <p:nvPr/>
        </p:nvSpPr>
        <p:spPr>
          <a:xfrm>
            <a:off x="548640" y="3017520"/>
            <a:ext cx="11109960" cy="914400"/>
          </a:xfrm>
          <a:prstGeom prst="rect">
            <a:avLst/>
          </a:prstGeom>
          <a:solidFill>
            <a:srgbClr val="FBFBF9"/>
          </a:solidFill>
          <a:ln w="9525">
            <a:solidFill>
              <a:srgbClr val="D4D1CA"/>
            </a:solidFill>
            <a:prstDash val="solid"/>
          </a:ln>
        </p:spPr>
        <p:txBody>
          <a:bodyPr/>
          <a:lstStyle/>
          <a:p>
            <a:endParaRPr lang="en-US"/>
          </a:p>
        </p:txBody>
      </p:sp>
      <p:sp>
        <p:nvSpPr>
          <p:cNvPr id="12" name="Text 10"/>
          <p:cNvSpPr/>
          <p:nvPr/>
        </p:nvSpPr>
        <p:spPr>
          <a:xfrm>
            <a:off x="777240" y="3154680"/>
            <a:ext cx="2286000" cy="640080"/>
          </a:xfrm>
          <a:prstGeom prst="rect">
            <a:avLst/>
          </a:prstGeom>
          <a:noFill/>
          <a:ln/>
        </p:spPr>
        <p:txBody>
          <a:bodyPr wrap="square" rtlCol="0" anchor="ctr"/>
          <a:lstStyle/>
          <a:p>
            <a:pPr marL="0" indent="0">
              <a:buNone/>
            </a:pPr>
            <a:r>
              <a:rPr lang="en-US" sz="2000" b="1">
                <a:solidFill>
                  <a:srgbClr val="01696F"/>
                </a:solidFill>
                <a:latin typeface="Calibri" pitchFamily="34" charset="0"/>
                <a:ea typeface="Calibri" pitchFamily="34" charset="-122"/>
                <a:cs typeface="Calibri" pitchFamily="34" charset="-120"/>
              </a:rPr>
              <a:t>Whitebox</a:t>
            </a:r>
            <a:endParaRPr lang="en-US" sz="2000"/>
          </a:p>
        </p:txBody>
      </p:sp>
      <p:sp>
        <p:nvSpPr>
          <p:cNvPr id="13" name="Text 11"/>
          <p:cNvSpPr/>
          <p:nvPr/>
        </p:nvSpPr>
        <p:spPr>
          <a:xfrm>
            <a:off x="3200400" y="3108960"/>
            <a:ext cx="5029200" cy="365760"/>
          </a:xfrm>
          <a:prstGeom prst="rect">
            <a:avLst/>
          </a:prstGeom>
          <a:noFill/>
          <a:ln/>
        </p:spPr>
        <p:txBody>
          <a:bodyPr wrap="square" rtlCol="0" anchor="ctr"/>
          <a:lstStyle/>
          <a:p>
            <a:pPr marL="0" indent="0">
              <a:buNone/>
            </a:pPr>
            <a:r>
              <a:rPr lang="en-US" sz="1400" b="1">
                <a:solidFill>
                  <a:srgbClr val="28251D"/>
                </a:solidFill>
                <a:latin typeface="Calibri" pitchFamily="34" charset="0"/>
                <a:ea typeface="Calibri" pitchFamily="34" charset="-122"/>
                <a:cs typeface="Calibri" pitchFamily="34" charset="-120"/>
              </a:rPr>
              <a:t>Branch-targeted unit + integration</a:t>
            </a:r>
            <a:endParaRPr lang="en-US" sz="1400"/>
          </a:p>
        </p:txBody>
      </p:sp>
      <p:sp>
        <p:nvSpPr>
          <p:cNvPr id="14" name="Text 12"/>
          <p:cNvSpPr/>
          <p:nvPr/>
        </p:nvSpPr>
        <p:spPr>
          <a:xfrm>
            <a:off x="3200400" y="3474720"/>
            <a:ext cx="5029200" cy="365760"/>
          </a:xfrm>
          <a:prstGeom prst="rect">
            <a:avLst/>
          </a:prstGeom>
          <a:noFill/>
          <a:ln/>
        </p:spPr>
        <p:txBody>
          <a:bodyPr wrap="square" rtlCol="0" anchor="ctr"/>
          <a:lstStyle/>
          <a:p>
            <a:pPr marL="0" indent="0">
              <a:buNone/>
            </a:pPr>
            <a:r>
              <a:rPr lang="en-US" sz="1100">
                <a:solidFill>
                  <a:srgbClr val="7A7974"/>
                </a:solidFill>
                <a:latin typeface="Calibri" pitchFamily="34" charset="0"/>
                <a:ea typeface="Calibri" pitchFamily="34" charset="-122"/>
                <a:cs typeface="Calibri" pitchFamily="34" charset="-120"/>
              </a:rPr>
              <a:t>tests/whitebox/ · tests/integration/</a:t>
            </a:r>
            <a:endParaRPr lang="en-US" sz="1100"/>
          </a:p>
        </p:txBody>
      </p:sp>
      <p:sp>
        <p:nvSpPr>
          <p:cNvPr id="15" name="Text 13"/>
          <p:cNvSpPr/>
          <p:nvPr/>
        </p:nvSpPr>
        <p:spPr>
          <a:xfrm>
            <a:off x="8412480" y="3108960"/>
            <a:ext cx="3017520" cy="640080"/>
          </a:xfrm>
          <a:prstGeom prst="rect">
            <a:avLst/>
          </a:prstGeom>
          <a:noFill/>
          <a:ln/>
        </p:spPr>
        <p:txBody>
          <a:bodyPr wrap="square" rtlCol="0" anchor="ctr"/>
          <a:lstStyle/>
          <a:p>
            <a:pPr marL="0" indent="0" algn="r">
              <a:buNone/>
            </a:pPr>
            <a:r>
              <a:rPr lang="en-US" sz="2600" b="1">
                <a:solidFill>
                  <a:srgbClr val="28251D"/>
                </a:solidFill>
                <a:latin typeface="Calibri" pitchFamily="34" charset="0"/>
                <a:ea typeface="Calibri" pitchFamily="34" charset="-122"/>
                <a:cs typeface="Calibri" pitchFamily="34" charset="-120"/>
              </a:rPr>
              <a:t>134 + 18</a:t>
            </a:r>
            <a:endParaRPr lang="en-US" sz="2600"/>
          </a:p>
        </p:txBody>
      </p:sp>
      <p:sp>
        <p:nvSpPr>
          <p:cNvPr id="16" name="Text 14"/>
          <p:cNvSpPr/>
          <p:nvPr/>
        </p:nvSpPr>
        <p:spPr>
          <a:xfrm>
            <a:off x="8412480" y="3547872"/>
            <a:ext cx="3017520" cy="274320"/>
          </a:xfrm>
          <a:prstGeom prst="rect">
            <a:avLst/>
          </a:prstGeom>
          <a:noFill/>
          <a:ln/>
        </p:spPr>
        <p:txBody>
          <a:bodyPr wrap="square" rtlCol="0" anchor="ctr"/>
          <a:lstStyle/>
          <a:p>
            <a:pPr marL="0" indent="0" algn="r">
              <a:buNone/>
            </a:pPr>
            <a:r>
              <a:rPr lang="en-US" sz="1000">
                <a:solidFill>
                  <a:srgbClr val="7A7974"/>
                </a:solidFill>
                <a:latin typeface="Calibri" pitchFamily="34" charset="0"/>
                <a:ea typeface="Calibri" pitchFamily="34" charset="-122"/>
                <a:cs typeface="Calibri" pitchFamily="34" charset="-120"/>
              </a:rPr>
              <a:t>tests</a:t>
            </a:r>
            <a:endParaRPr lang="en-US" sz="1000"/>
          </a:p>
        </p:txBody>
      </p:sp>
      <p:sp>
        <p:nvSpPr>
          <p:cNvPr id="17" name="Shape 15"/>
          <p:cNvSpPr/>
          <p:nvPr/>
        </p:nvSpPr>
        <p:spPr>
          <a:xfrm>
            <a:off x="548640" y="3977640"/>
            <a:ext cx="11109960" cy="914400"/>
          </a:xfrm>
          <a:prstGeom prst="rect">
            <a:avLst/>
          </a:prstGeom>
          <a:solidFill>
            <a:srgbClr val="FBFBF9"/>
          </a:solidFill>
          <a:ln w="9525">
            <a:solidFill>
              <a:srgbClr val="D4D1CA"/>
            </a:solidFill>
            <a:prstDash val="solid"/>
          </a:ln>
        </p:spPr>
        <p:txBody>
          <a:bodyPr/>
          <a:lstStyle/>
          <a:p>
            <a:endParaRPr lang="en-US"/>
          </a:p>
        </p:txBody>
      </p:sp>
      <p:sp>
        <p:nvSpPr>
          <p:cNvPr id="18" name="Text 16"/>
          <p:cNvSpPr/>
          <p:nvPr/>
        </p:nvSpPr>
        <p:spPr>
          <a:xfrm>
            <a:off x="777240" y="4114800"/>
            <a:ext cx="2286000" cy="640080"/>
          </a:xfrm>
          <a:prstGeom prst="rect">
            <a:avLst/>
          </a:prstGeom>
          <a:noFill/>
          <a:ln/>
        </p:spPr>
        <p:txBody>
          <a:bodyPr wrap="square" rtlCol="0" anchor="ctr"/>
          <a:lstStyle/>
          <a:p>
            <a:pPr marL="0" indent="0">
              <a:buNone/>
            </a:pPr>
            <a:r>
              <a:rPr lang="en-US" sz="2000" b="1">
                <a:solidFill>
                  <a:srgbClr val="01696F"/>
                </a:solidFill>
                <a:latin typeface="Calibri" pitchFamily="34" charset="0"/>
                <a:ea typeface="Calibri" pitchFamily="34" charset="-122"/>
                <a:cs typeface="Calibri" pitchFamily="34" charset="-120"/>
              </a:rPr>
              <a:t>Mutation</a:t>
            </a:r>
            <a:endParaRPr lang="en-US" sz="2000"/>
          </a:p>
        </p:txBody>
      </p:sp>
      <p:sp>
        <p:nvSpPr>
          <p:cNvPr id="19" name="Text 17"/>
          <p:cNvSpPr/>
          <p:nvPr/>
        </p:nvSpPr>
        <p:spPr>
          <a:xfrm>
            <a:off x="3200400" y="4069080"/>
            <a:ext cx="5029200" cy="365760"/>
          </a:xfrm>
          <a:prstGeom prst="rect">
            <a:avLst/>
          </a:prstGeom>
          <a:noFill/>
          <a:ln/>
        </p:spPr>
        <p:txBody>
          <a:bodyPr wrap="square" rtlCol="0" anchor="ctr"/>
          <a:lstStyle/>
          <a:p>
            <a:pPr marL="0" indent="0">
              <a:buNone/>
            </a:pPr>
            <a:r>
              <a:rPr lang="en-US" sz="1400" b="1">
                <a:solidFill>
                  <a:srgbClr val="28251D"/>
                </a:solidFill>
                <a:latin typeface="Calibri" pitchFamily="34" charset="0"/>
                <a:ea typeface="Calibri" pitchFamily="34" charset="-122"/>
                <a:cs typeface="Calibri" pitchFamily="34" charset="-120"/>
              </a:rPr>
              <a:t>mutmut + bespoke mutant killers</a:t>
            </a:r>
            <a:endParaRPr lang="en-US" sz="1400"/>
          </a:p>
        </p:txBody>
      </p:sp>
      <p:sp>
        <p:nvSpPr>
          <p:cNvPr id="20" name="Text 18"/>
          <p:cNvSpPr/>
          <p:nvPr/>
        </p:nvSpPr>
        <p:spPr>
          <a:xfrm>
            <a:off x="3200400" y="4434840"/>
            <a:ext cx="5029200" cy="365760"/>
          </a:xfrm>
          <a:prstGeom prst="rect">
            <a:avLst/>
          </a:prstGeom>
          <a:noFill/>
          <a:ln/>
        </p:spPr>
        <p:txBody>
          <a:bodyPr wrap="square" rtlCol="0" anchor="ctr"/>
          <a:lstStyle/>
          <a:p>
            <a:pPr marL="0" indent="0">
              <a:buNone/>
            </a:pPr>
            <a:r>
              <a:rPr lang="en-US" sz="1100">
                <a:solidFill>
                  <a:srgbClr val="7A7974"/>
                </a:solidFill>
                <a:latin typeface="Calibri" pitchFamily="34" charset="0"/>
                <a:ea typeface="Calibri" pitchFamily="34" charset="-122"/>
                <a:cs typeface="Calibri" pitchFamily="34" charset="-120"/>
              </a:rPr>
              <a:t>tests/mutation/</a:t>
            </a:r>
            <a:endParaRPr lang="en-US" sz="1100"/>
          </a:p>
        </p:txBody>
      </p:sp>
      <p:sp>
        <p:nvSpPr>
          <p:cNvPr id="21" name="Text 19"/>
          <p:cNvSpPr/>
          <p:nvPr/>
        </p:nvSpPr>
        <p:spPr>
          <a:xfrm>
            <a:off x="8412480" y="4069080"/>
            <a:ext cx="3017520" cy="640080"/>
          </a:xfrm>
          <a:prstGeom prst="rect">
            <a:avLst/>
          </a:prstGeom>
          <a:noFill/>
          <a:ln/>
        </p:spPr>
        <p:txBody>
          <a:bodyPr wrap="square" rtlCol="0" anchor="ctr"/>
          <a:lstStyle/>
          <a:p>
            <a:pPr marL="0" indent="0" algn="r">
              <a:buNone/>
            </a:pPr>
            <a:r>
              <a:rPr lang="en-US" sz="2600" b="1">
                <a:solidFill>
                  <a:srgbClr val="28251D"/>
                </a:solidFill>
                <a:latin typeface="Calibri" pitchFamily="34" charset="0"/>
                <a:ea typeface="Calibri" pitchFamily="34" charset="-122"/>
                <a:cs typeface="Calibri" pitchFamily="34" charset="-120"/>
              </a:rPr>
              <a:t>23 + survivor sweep</a:t>
            </a:r>
            <a:endParaRPr lang="en-US" sz="2600"/>
          </a:p>
        </p:txBody>
      </p:sp>
      <p:sp>
        <p:nvSpPr>
          <p:cNvPr id="22" name="Text 20"/>
          <p:cNvSpPr/>
          <p:nvPr/>
        </p:nvSpPr>
        <p:spPr>
          <a:xfrm>
            <a:off x="8412480" y="4507992"/>
            <a:ext cx="3017520" cy="274320"/>
          </a:xfrm>
          <a:prstGeom prst="rect">
            <a:avLst/>
          </a:prstGeom>
          <a:noFill/>
          <a:ln/>
        </p:spPr>
        <p:txBody>
          <a:bodyPr wrap="square" rtlCol="0" anchor="ctr"/>
          <a:lstStyle/>
          <a:p>
            <a:pPr marL="0" indent="0" algn="r">
              <a:buNone/>
            </a:pPr>
            <a:r>
              <a:rPr lang="en-US" sz="1000">
                <a:solidFill>
                  <a:srgbClr val="7A7974"/>
                </a:solidFill>
                <a:latin typeface="Calibri" pitchFamily="34" charset="0"/>
                <a:ea typeface="Calibri" pitchFamily="34" charset="-122"/>
                <a:cs typeface="Calibri" pitchFamily="34" charset="-120"/>
              </a:rPr>
              <a:t>tests</a:t>
            </a:r>
            <a:endParaRPr lang="en-US" sz="1000"/>
          </a:p>
        </p:txBody>
      </p:sp>
      <p:sp>
        <p:nvSpPr>
          <p:cNvPr id="23" name="Shape 21"/>
          <p:cNvSpPr/>
          <p:nvPr/>
        </p:nvSpPr>
        <p:spPr>
          <a:xfrm>
            <a:off x="548640" y="4937760"/>
            <a:ext cx="11109960" cy="914400"/>
          </a:xfrm>
          <a:prstGeom prst="rect">
            <a:avLst/>
          </a:prstGeom>
          <a:solidFill>
            <a:srgbClr val="FBFBF9"/>
          </a:solidFill>
          <a:ln w="9525">
            <a:solidFill>
              <a:srgbClr val="D4D1CA"/>
            </a:solidFill>
            <a:prstDash val="solid"/>
          </a:ln>
        </p:spPr>
        <p:txBody>
          <a:bodyPr/>
          <a:lstStyle/>
          <a:p>
            <a:endParaRPr lang="en-US"/>
          </a:p>
        </p:txBody>
      </p:sp>
      <p:sp>
        <p:nvSpPr>
          <p:cNvPr id="24" name="Text 22"/>
          <p:cNvSpPr/>
          <p:nvPr/>
        </p:nvSpPr>
        <p:spPr>
          <a:xfrm>
            <a:off x="777240" y="5074920"/>
            <a:ext cx="2286000" cy="640080"/>
          </a:xfrm>
          <a:prstGeom prst="rect">
            <a:avLst/>
          </a:prstGeom>
          <a:noFill/>
          <a:ln/>
        </p:spPr>
        <p:txBody>
          <a:bodyPr wrap="square" rtlCol="0" anchor="ctr"/>
          <a:lstStyle/>
          <a:p>
            <a:pPr marL="0" indent="0">
              <a:buNone/>
            </a:pPr>
            <a:r>
              <a:rPr lang="en-US" sz="2000" b="1">
                <a:solidFill>
                  <a:srgbClr val="01696F"/>
                </a:solidFill>
                <a:latin typeface="Calibri" pitchFamily="34" charset="0"/>
                <a:ea typeface="Calibri" pitchFamily="34" charset="-122"/>
                <a:cs typeface="Calibri" pitchFamily="34" charset="-120"/>
              </a:rPr>
              <a:t>Alternate (GUI)</a:t>
            </a:r>
            <a:endParaRPr lang="en-US" sz="2000"/>
          </a:p>
        </p:txBody>
      </p:sp>
      <p:sp>
        <p:nvSpPr>
          <p:cNvPr id="25" name="Text 23"/>
          <p:cNvSpPr/>
          <p:nvPr/>
        </p:nvSpPr>
        <p:spPr>
          <a:xfrm>
            <a:off x="3200400" y="5029200"/>
            <a:ext cx="5029200" cy="365760"/>
          </a:xfrm>
          <a:prstGeom prst="rect">
            <a:avLst/>
          </a:prstGeom>
          <a:noFill/>
          <a:ln/>
        </p:spPr>
        <p:txBody>
          <a:bodyPr wrap="square" rtlCol="0" anchor="ctr"/>
          <a:lstStyle/>
          <a:p>
            <a:pPr marL="0" indent="0">
              <a:buNone/>
            </a:pPr>
            <a:r>
              <a:rPr lang="en-US" sz="1400" b="1">
                <a:solidFill>
                  <a:srgbClr val="28251D"/>
                </a:solidFill>
                <a:latin typeface="Calibri" pitchFamily="34" charset="0"/>
                <a:ea typeface="Calibri" pitchFamily="34" charset="-122"/>
                <a:cs typeface="Calibri" pitchFamily="34" charset="-120"/>
              </a:rPr>
              <a:t>Tk introspection, no mainloop</a:t>
            </a:r>
            <a:endParaRPr lang="en-US" sz="1400"/>
          </a:p>
        </p:txBody>
      </p:sp>
      <p:sp>
        <p:nvSpPr>
          <p:cNvPr id="26" name="Text 24"/>
          <p:cNvSpPr/>
          <p:nvPr/>
        </p:nvSpPr>
        <p:spPr>
          <a:xfrm>
            <a:off x="3200400" y="5394960"/>
            <a:ext cx="5029200" cy="365760"/>
          </a:xfrm>
          <a:prstGeom prst="rect">
            <a:avLst/>
          </a:prstGeom>
          <a:noFill/>
          <a:ln/>
        </p:spPr>
        <p:txBody>
          <a:bodyPr wrap="square" rtlCol="0" anchor="ctr"/>
          <a:lstStyle/>
          <a:p>
            <a:pPr marL="0" indent="0">
              <a:buNone/>
            </a:pPr>
            <a:r>
              <a:rPr lang="en-US" sz="1100">
                <a:solidFill>
                  <a:srgbClr val="7A7974"/>
                </a:solidFill>
                <a:latin typeface="Calibri" pitchFamily="34" charset="0"/>
                <a:ea typeface="Calibri" pitchFamily="34" charset="-122"/>
                <a:cs typeface="Calibri" pitchFamily="34" charset="-120"/>
              </a:rPr>
              <a:t>tests/gui/</a:t>
            </a:r>
            <a:endParaRPr lang="en-US" sz="1100"/>
          </a:p>
        </p:txBody>
      </p:sp>
      <p:sp>
        <p:nvSpPr>
          <p:cNvPr id="27" name="Text 25"/>
          <p:cNvSpPr/>
          <p:nvPr/>
        </p:nvSpPr>
        <p:spPr>
          <a:xfrm>
            <a:off x="8412480" y="5029200"/>
            <a:ext cx="3017520" cy="640080"/>
          </a:xfrm>
          <a:prstGeom prst="rect">
            <a:avLst/>
          </a:prstGeom>
          <a:noFill/>
          <a:ln/>
        </p:spPr>
        <p:txBody>
          <a:bodyPr wrap="square" rtlCol="0" anchor="ctr"/>
          <a:lstStyle/>
          <a:p>
            <a:pPr marL="0" indent="0" algn="r">
              <a:buNone/>
            </a:pPr>
            <a:r>
              <a:rPr lang="en-US" sz="2600" b="1">
                <a:solidFill>
                  <a:srgbClr val="28251D"/>
                </a:solidFill>
                <a:latin typeface="Calibri" pitchFamily="34" charset="0"/>
                <a:ea typeface="Calibri" pitchFamily="34" charset="-122"/>
                <a:cs typeface="Calibri" pitchFamily="34" charset="-120"/>
              </a:rPr>
              <a:t>45</a:t>
            </a:r>
            <a:endParaRPr lang="en-US" sz="2600"/>
          </a:p>
        </p:txBody>
      </p:sp>
      <p:sp>
        <p:nvSpPr>
          <p:cNvPr id="28" name="Text 26"/>
          <p:cNvSpPr/>
          <p:nvPr/>
        </p:nvSpPr>
        <p:spPr>
          <a:xfrm>
            <a:off x="8412480" y="5468112"/>
            <a:ext cx="3017520" cy="274320"/>
          </a:xfrm>
          <a:prstGeom prst="rect">
            <a:avLst/>
          </a:prstGeom>
          <a:noFill/>
          <a:ln/>
        </p:spPr>
        <p:txBody>
          <a:bodyPr wrap="square" rtlCol="0" anchor="ctr"/>
          <a:lstStyle/>
          <a:p>
            <a:pPr marL="0" indent="0" algn="r">
              <a:buNone/>
            </a:pPr>
            <a:r>
              <a:rPr lang="en-US" sz="1000">
                <a:solidFill>
                  <a:srgbClr val="7A7974"/>
                </a:solidFill>
                <a:latin typeface="Calibri" pitchFamily="34" charset="0"/>
                <a:ea typeface="Calibri" pitchFamily="34" charset="-122"/>
                <a:cs typeface="Calibri" pitchFamily="34" charset="-120"/>
              </a:rPr>
              <a:t>tests</a:t>
            </a:r>
            <a:endParaRPr lang="en-US" sz="1000"/>
          </a:p>
        </p:txBody>
      </p:sp>
      <p:sp>
        <p:nvSpPr>
          <p:cNvPr id="29" name="Text 27"/>
          <p:cNvSpPr/>
          <p:nvPr/>
        </p:nvSpPr>
        <p:spPr>
          <a:xfrm>
            <a:off x="548640" y="6035040"/>
            <a:ext cx="11155680" cy="274320"/>
          </a:xfrm>
          <a:prstGeom prst="rect">
            <a:avLst/>
          </a:prstGeom>
          <a:noFill/>
          <a:ln/>
        </p:spPr>
        <p:txBody>
          <a:bodyPr wrap="square" rtlCol="0" anchor="ctr"/>
          <a:lstStyle/>
          <a:p>
            <a:pPr marL="0" indent="0">
              <a:buNone/>
            </a:pPr>
            <a:r>
              <a:rPr lang="en-US" sz="1100" i="1">
                <a:solidFill>
                  <a:srgbClr val="7A7974"/>
                </a:solidFill>
                <a:latin typeface="Calibri" pitchFamily="34" charset="0"/>
                <a:ea typeface="Calibri" pitchFamily="34" charset="-122"/>
                <a:cs typeface="Calibri" pitchFamily="34" charset="-120"/>
              </a:rPr>
              <a:t>Total suite: 355 tests · Framework: pytest · Coverage: pytest-cov — branch · Mutation: mutmut 2.5.1</a:t>
            </a:r>
            <a:endParaRPr lang="en-US" sz="1100"/>
          </a:p>
        </p:txBody>
      </p:sp>
      <p:sp>
        <p:nvSpPr>
          <p:cNvPr id="30" name="Text 28"/>
          <p:cNvSpPr/>
          <p:nvPr/>
        </p:nvSpPr>
        <p:spPr>
          <a:xfrm>
            <a:off x="457200" y="6446520"/>
            <a:ext cx="9144000" cy="274320"/>
          </a:xfrm>
          <a:prstGeom prst="rect">
            <a:avLst/>
          </a:prstGeom>
          <a:noFill/>
          <a:ln/>
        </p:spPr>
        <p:txBody>
          <a:bodyPr wrap="square" rtlCol="0" anchor="ctr"/>
          <a:lstStyle/>
          <a:p>
            <a:pPr marL="0" indent="0">
              <a:buNone/>
            </a:pPr>
            <a:r>
              <a:rPr lang="en-US" sz="900">
                <a:solidFill>
                  <a:srgbClr val="7A7974"/>
                </a:solidFill>
                <a:latin typeface="Calibri" pitchFamily="34" charset="0"/>
                <a:ea typeface="Calibri" pitchFamily="34" charset="-122"/>
                <a:cs typeface="Calibri" pitchFamily="34" charset="-120"/>
              </a:rPr>
              <a:t>Systematic Testing of HERALDEXX/habit-tracker</a:t>
            </a:r>
            <a:r>
              <a:rPr lang="en-US" sz="900">
                <a:solidFill>
                  <a:srgbClr val="BAB9B4"/>
                </a:solidFill>
                <a:latin typeface="Calibri" pitchFamily="34" charset="0"/>
                <a:ea typeface="Calibri" pitchFamily="34" charset="-122"/>
                <a:cs typeface="Calibri" pitchFamily="34" charset="-120"/>
              </a:rPr>
              <a:t>   •   </a:t>
            </a:r>
            <a:r>
              <a:rPr lang="en-US" sz="900">
                <a:solidFill>
                  <a:srgbClr val="7A7974"/>
                </a:solidFill>
                <a:latin typeface="Calibri" pitchFamily="34" charset="0"/>
                <a:ea typeface="Calibri" pitchFamily="34" charset="-122"/>
                <a:cs typeface="Calibri" pitchFamily="34" charset="-120"/>
              </a:rPr>
              <a:t>CS422 Spring 2026</a:t>
            </a:r>
            <a:endParaRPr lang="en-US" sz="900"/>
          </a:p>
        </p:txBody>
      </p:sp>
      <p:sp>
        <p:nvSpPr>
          <p:cNvPr id="31" name="Text 29"/>
          <p:cNvSpPr/>
          <p:nvPr/>
        </p:nvSpPr>
        <p:spPr>
          <a:xfrm>
            <a:off x="10789920" y="6446520"/>
            <a:ext cx="914400" cy="274320"/>
          </a:xfrm>
          <a:prstGeom prst="rect">
            <a:avLst/>
          </a:prstGeom>
          <a:noFill/>
          <a:ln/>
        </p:spPr>
        <p:txBody>
          <a:bodyPr wrap="square" rtlCol="0" anchor="ctr"/>
          <a:lstStyle/>
          <a:p>
            <a:pPr marL="0" indent="0" algn="r">
              <a:buNone/>
            </a:pPr>
            <a:r>
              <a:rPr lang="en-US" sz="900">
                <a:solidFill>
                  <a:srgbClr val="7A7974"/>
                </a:solidFill>
                <a:latin typeface="Calibri" pitchFamily="34" charset="0"/>
                <a:ea typeface="Calibri" pitchFamily="34" charset="-122"/>
                <a:cs typeface="Calibri" pitchFamily="34" charset="-120"/>
              </a:rPr>
              <a:t>5 / 15</a:t>
            </a:r>
            <a:endParaRPr lang="en-US" sz="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rtlCol="0" anchor="ctr"/>
          <a:lstStyle/>
          <a:p>
            <a:pPr marL="0" indent="0">
              <a:buNone/>
            </a:pPr>
            <a:r>
              <a:rPr lang="en-US" sz="1100" b="1" kern="0" spc="200">
                <a:solidFill>
                  <a:srgbClr val="01696F"/>
                </a:solidFill>
                <a:latin typeface="Calibri" pitchFamily="34" charset="0"/>
                <a:ea typeface="Calibri" pitchFamily="34" charset="-122"/>
                <a:cs typeface="Calibri" pitchFamily="34" charset="-120"/>
              </a:rPr>
              <a:t>PART 2 · SHOWCASE</a:t>
            </a:r>
            <a:endParaRPr lang="en-US" sz="1100"/>
          </a:p>
        </p:txBody>
      </p:sp>
      <p:sp>
        <p:nvSpPr>
          <p:cNvPr id="3" name="Text 1"/>
          <p:cNvSpPr/>
          <p:nvPr/>
        </p:nvSpPr>
        <p:spPr>
          <a:xfrm>
            <a:off x="548640" y="731520"/>
            <a:ext cx="10972800" cy="731520"/>
          </a:xfrm>
          <a:prstGeom prst="rect">
            <a:avLst/>
          </a:prstGeom>
          <a:noFill/>
          <a:ln/>
        </p:spPr>
        <p:txBody>
          <a:bodyPr wrap="square" rtlCol="0" anchor="ctr"/>
          <a:lstStyle/>
          <a:p>
            <a:pPr marL="0" indent="0">
              <a:buNone/>
            </a:pPr>
            <a:r>
              <a:rPr lang="en-US" sz="3200" b="1">
                <a:solidFill>
                  <a:srgbClr val="28251D"/>
                </a:solidFill>
                <a:latin typeface="Calibri" pitchFamily="34" charset="0"/>
                <a:ea typeface="Calibri" pitchFamily="34" charset="-122"/>
                <a:cs typeface="Calibri" pitchFamily="34" charset="-120"/>
              </a:rPr>
              <a:t>Live demo plan — what you will see run</a:t>
            </a:r>
            <a:endParaRPr lang="en-US" sz="3200"/>
          </a:p>
        </p:txBody>
      </p:sp>
      <p:sp>
        <p:nvSpPr>
          <p:cNvPr id="4" name="Text 2"/>
          <p:cNvSpPr/>
          <p:nvPr/>
        </p:nvSpPr>
        <p:spPr>
          <a:xfrm>
            <a:off x="548640" y="1600200"/>
            <a:ext cx="5577840" cy="320040"/>
          </a:xfrm>
          <a:prstGeom prst="rect">
            <a:avLst/>
          </a:prstGeom>
          <a:noFill/>
          <a:ln/>
        </p:spPr>
        <p:txBody>
          <a:bodyPr wrap="square" rtlCol="0" anchor="ctr"/>
          <a:lstStyle/>
          <a:p>
            <a:pPr marL="0" indent="0">
              <a:buNone/>
            </a:pPr>
            <a:r>
              <a:rPr lang="en-US" sz="1200" b="1" kern="0" spc="200">
                <a:solidFill>
                  <a:srgbClr val="01696F"/>
                </a:solidFill>
                <a:latin typeface="Calibri" pitchFamily="34" charset="0"/>
                <a:ea typeface="Calibri" pitchFamily="34" charset="-122"/>
                <a:cs typeface="Calibri" pitchFamily="34" charset="-120"/>
              </a:rPr>
              <a:t>DEMO ORDER</a:t>
            </a:r>
            <a:endParaRPr lang="en-US" sz="1200"/>
          </a:p>
        </p:txBody>
      </p:sp>
      <p:sp>
        <p:nvSpPr>
          <p:cNvPr id="5" name="Shape 3"/>
          <p:cNvSpPr/>
          <p:nvPr/>
        </p:nvSpPr>
        <p:spPr>
          <a:xfrm>
            <a:off x="548640" y="1920240"/>
            <a:ext cx="5577840" cy="777240"/>
          </a:xfrm>
          <a:prstGeom prst="rect">
            <a:avLst/>
          </a:prstGeom>
          <a:solidFill>
            <a:srgbClr val="FBFBF9"/>
          </a:solidFill>
          <a:ln w="6350">
            <a:solidFill>
              <a:srgbClr val="D4D1CA"/>
            </a:solidFill>
            <a:prstDash val="solid"/>
          </a:ln>
        </p:spPr>
        <p:txBody>
          <a:bodyPr/>
          <a:lstStyle/>
          <a:p>
            <a:endParaRPr lang="en-US"/>
          </a:p>
        </p:txBody>
      </p:sp>
      <p:sp>
        <p:nvSpPr>
          <p:cNvPr id="6" name="Text 4"/>
          <p:cNvSpPr/>
          <p:nvPr/>
        </p:nvSpPr>
        <p:spPr>
          <a:xfrm>
            <a:off x="731520" y="2057400"/>
            <a:ext cx="548640" cy="548640"/>
          </a:xfrm>
          <a:prstGeom prst="rect">
            <a:avLst/>
          </a:prstGeom>
          <a:noFill/>
          <a:ln/>
        </p:spPr>
        <p:txBody>
          <a:bodyPr wrap="square" rtlCol="0" anchor="ctr"/>
          <a:lstStyle/>
          <a:p>
            <a:pPr marL="0" indent="0">
              <a:buNone/>
            </a:pPr>
            <a:r>
              <a:rPr lang="en-US" sz="2400" b="1">
                <a:solidFill>
                  <a:srgbClr val="01696F"/>
                </a:solidFill>
                <a:latin typeface="Calibri" pitchFamily="34" charset="0"/>
                <a:ea typeface="Calibri" pitchFamily="34" charset="-122"/>
                <a:cs typeface="Calibri" pitchFamily="34" charset="-120"/>
              </a:rPr>
              <a:t>1</a:t>
            </a:r>
            <a:endParaRPr lang="en-US" sz="2400"/>
          </a:p>
        </p:txBody>
      </p:sp>
      <p:sp>
        <p:nvSpPr>
          <p:cNvPr id="7" name="Text 5"/>
          <p:cNvSpPr/>
          <p:nvPr/>
        </p:nvSpPr>
        <p:spPr>
          <a:xfrm>
            <a:off x="1371600" y="1993392"/>
            <a:ext cx="4572000" cy="365760"/>
          </a:xfrm>
          <a:prstGeom prst="rect">
            <a:avLst/>
          </a:prstGeom>
          <a:noFill/>
          <a:ln/>
        </p:spPr>
        <p:txBody>
          <a:bodyPr wrap="square" rtlCol="0" anchor="ctr"/>
          <a:lstStyle/>
          <a:p>
            <a:pPr marL="0" indent="0">
              <a:buNone/>
            </a:pPr>
            <a:r>
              <a:rPr lang="en-US" sz="1400" b="1">
                <a:solidFill>
                  <a:srgbClr val="28251D"/>
                </a:solidFill>
                <a:latin typeface="Calibri" pitchFamily="34" charset="0"/>
                <a:ea typeface="Calibri" pitchFamily="34" charset="-122"/>
                <a:cs typeface="Calibri" pitchFamily="34" charset="-120"/>
              </a:rPr>
              <a:t>App walkthrough</a:t>
            </a:r>
            <a:endParaRPr lang="en-US" sz="1400"/>
          </a:p>
        </p:txBody>
      </p:sp>
      <p:sp>
        <p:nvSpPr>
          <p:cNvPr id="8" name="Text 6"/>
          <p:cNvSpPr/>
          <p:nvPr/>
        </p:nvSpPr>
        <p:spPr>
          <a:xfrm>
            <a:off x="1371600" y="2331720"/>
            <a:ext cx="4572000" cy="365760"/>
          </a:xfrm>
          <a:prstGeom prst="rect">
            <a:avLst/>
          </a:prstGeom>
          <a:noFill/>
          <a:ln/>
        </p:spPr>
        <p:txBody>
          <a:bodyPr wrap="square" rtlCol="0" anchor="ctr"/>
          <a:lstStyle/>
          <a:p>
            <a:pPr marL="0" indent="0">
              <a:buNone/>
            </a:pPr>
            <a:r>
              <a:rPr lang="en-US" sz="1050">
                <a:solidFill>
                  <a:srgbClr val="7A7974"/>
                </a:solidFill>
                <a:latin typeface="Calibri" pitchFamily="34" charset="0"/>
                <a:ea typeface="Calibri" pitchFamily="34" charset="-122"/>
                <a:cs typeface="Calibri" pitchFamily="34" charset="-120"/>
              </a:rPr>
              <a:t>Launch GUI + CLI to prove the SUT works</a:t>
            </a:r>
            <a:endParaRPr lang="en-US" sz="1050"/>
          </a:p>
        </p:txBody>
      </p:sp>
      <p:sp>
        <p:nvSpPr>
          <p:cNvPr id="9" name="Shape 7"/>
          <p:cNvSpPr/>
          <p:nvPr/>
        </p:nvSpPr>
        <p:spPr>
          <a:xfrm>
            <a:off x="548640" y="2761488"/>
            <a:ext cx="5577840" cy="777240"/>
          </a:xfrm>
          <a:prstGeom prst="rect">
            <a:avLst/>
          </a:prstGeom>
          <a:solidFill>
            <a:srgbClr val="FBFBF9"/>
          </a:solidFill>
          <a:ln w="6350">
            <a:solidFill>
              <a:srgbClr val="D4D1CA"/>
            </a:solidFill>
            <a:prstDash val="solid"/>
          </a:ln>
        </p:spPr>
        <p:txBody>
          <a:bodyPr/>
          <a:lstStyle/>
          <a:p>
            <a:endParaRPr lang="en-US"/>
          </a:p>
        </p:txBody>
      </p:sp>
      <p:sp>
        <p:nvSpPr>
          <p:cNvPr id="10" name="Text 8"/>
          <p:cNvSpPr/>
          <p:nvPr/>
        </p:nvSpPr>
        <p:spPr>
          <a:xfrm>
            <a:off x="731520" y="2898648"/>
            <a:ext cx="548640" cy="548640"/>
          </a:xfrm>
          <a:prstGeom prst="rect">
            <a:avLst/>
          </a:prstGeom>
          <a:noFill/>
          <a:ln/>
        </p:spPr>
        <p:txBody>
          <a:bodyPr wrap="square" rtlCol="0" anchor="ctr"/>
          <a:lstStyle/>
          <a:p>
            <a:pPr marL="0" indent="0">
              <a:buNone/>
            </a:pPr>
            <a:r>
              <a:rPr lang="en-US" sz="2400" b="1">
                <a:solidFill>
                  <a:srgbClr val="01696F"/>
                </a:solidFill>
                <a:latin typeface="Calibri" pitchFamily="34" charset="0"/>
                <a:ea typeface="Calibri" pitchFamily="34" charset="-122"/>
                <a:cs typeface="Calibri" pitchFamily="34" charset="-120"/>
              </a:rPr>
              <a:t>2</a:t>
            </a:r>
            <a:endParaRPr lang="en-US" sz="2400"/>
          </a:p>
        </p:txBody>
      </p:sp>
      <p:sp>
        <p:nvSpPr>
          <p:cNvPr id="11" name="Text 9"/>
          <p:cNvSpPr/>
          <p:nvPr/>
        </p:nvSpPr>
        <p:spPr>
          <a:xfrm>
            <a:off x="1371600" y="2834640"/>
            <a:ext cx="4572000" cy="365760"/>
          </a:xfrm>
          <a:prstGeom prst="rect">
            <a:avLst/>
          </a:prstGeom>
          <a:noFill/>
          <a:ln/>
        </p:spPr>
        <p:txBody>
          <a:bodyPr wrap="square" rtlCol="0" anchor="ctr"/>
          <a:lstStyle/>
          <a:p>
            <a:pPr marL="0" indent="0">
              <a:buNone/>
            </a:pPr>
            <a:r>
              <a:rPr lang="en-US" sz="1400" b="1">
                <a:solidFill>
                  <a:srgbClr val="28251D"/>
                </a:solidFill>
                <a:latin typeface="Calibri" pitchFamily="34" charset="0"/>
                <a:ea typeface="Calibri" pitchFamily="34" charset="-122"/>
                <a:cs typeface="Calibri" pitchFamily="34" charset="-120"/>
              </a:rPr>
              <a:t>Blackbox run</a:t>
            </a:r>
            <a:endParaRPr lang="en-US" sz="1400"/>
          </a:p>
        </p:txBody>
      </p:sp>
      <p:sp>
        <p:nvSpPr>
          <p:cNvPr id="12" name="Text 10"/>
          <p:cNvSpPr/>
          <p:nvPr/>
        </p:nvSpPr>
        <p:spPr>
          <a:xfrm>
            <a:off x="1371600" y="3172968"/>
            <a:ext cx="4572000" cy="365760"/>
          </a:xfrm>
          <a:prstGeom prst="rect">
            <a:avLst/>
          </a:prstGeom>
          <a:noFill/>
          <a:ln/>
        </p:spPr>
        <p:txBody>
          <a:bodyPr wrap="square" rtlCol="0" anchor="ctr"/>
          <a:lstStyle/>
          <a:p>
            <a:pPr marL="0" indent="0">
              <a:buNone/>
            </a:pPr>
            <a:r>
              <a:rPr lang="en-US" sz="1050">
                <a:solidFill>
                  <a:srgbClr val="7A7974"/>
                </a:solidFill>
                <a:latin typeface="Calibri" pitchFamily="34" charset="0"/>
                <a:ea typeface="Calibri" pitchFamily="34" charset="-122"/>
                <a:cs typeface="Calibri" pitchFamily="34" charset="-120"/>
              </a:rPr>
              <a:t>pytest tests/blackbox/ -v  (Taran)</a:t>
            </a:r>
            <a:endParaRPr lang="en-US" sz="1050"/>
          </a:p>
        </p:txBody>
      </p:sp>
      <p:sp>
        <p:nvSpPr>
          <p:cNvPr id="13" name="Shape 11"/>
          <p:cNvSpPr/>
          <p:nvPr/>
        </p:nvSpPr>
        <p:spPr>
          <a:xfrm>
            <a:off x="548640" y="3602736"/>
            <a:ext cx="5577840" cy="777240"/>
          </a:xfrm>
          <a:prstGeom prst="rect">
            <a:avLst/>
          </a:prstGeom>
          <a:solidFill>
            <a:srgbClr val="FBFBF9"/>
          </a:solidFill>
          <a:ln w="6350">
            <a:solidFill>
              <a:srgbClr val="D4D1CA"/>
            </a:solidFill>
            <a:prstDash val="solid"/>
          </a:ln>
        </p:spPr>
        <p:txBody>
          <a:bodyPr/>
          <a:lstStyle/>
          <a:p>
            <a:endParaRPr lang="en-US"/>
          </a:p>
        </p:txBody>
      </p:sp>
      <p:sp>
        <p:nvSpPr>
          <p:cNvPr id="14" name="Text 12"/>
          <p:cNvSpPr/>
          <p:nvPr/>
        </p:nvSpPr>
        <p:spPr>
          <a:xfrm>
            <a:off x="731520" y="3739896"/>
            <a:ext cx="548640" cy="548640"/>
          </a:xfrm>
          <a:prstGeom prst="rect">
            <a:avLst/>
          </a:prstGeom>
          <a:noFill/>
          <a:ln/>
        </p:spPr>
        <p:txBody>
          <a:bodyPr wrap="square" rtlCol="0" anchor="ctr"/>
          <a:lstStyle/>
          <a:p>
            <a:pPr marL="0" indent="0">
              <a:buNone/>
            </a:pPr>
            <a:r>
              <a:rPr lang="en-US" sz="2400" b="1">
                <a:solidFill>
                  <a:srgbClr val="01696F"/>
                </a:solidFill>
                <a:latin typeface="Calibri" pitchFamily="34" charset="0"/>
                <a:ea typeface="Calibri" pitchFamily="34" charset="-122"/>
                <a:cs typeface="Calibri" pitchFamily="34" charset="-120"/>
              </a:rPr>
              <a:t>3</a:t>
            </a:r>
            <a:endParaRPr lang="en-US" sz="2400"/>
          </a:p>
        </p:txBody>
      </p:sp>
      <p:sp>
        <p:nvSpPr>
          <p:cNvPr id="15" name="Text 13"/>
          <p:cNvSpPr/>
          <p:nvPr/>
        </p:nvSpPr>
        <p:spPr>
          <a:xfrm>
            <a:off x="1371600" y="3675888"/>
            <a:ext cx="4572000" cy="365760"/>
          </a:xfrm>
          <a:prstGeom prst="rect">
            <a:avLst/>
          </a:prstGeom>
          <a:noFill/>
          <a:ln/>
        </p:spPr>
        <p:txBody>
          <a:bodyPr wrap="square" rtlCol="0" anchor="ctr"/>
          <a:lstStyle/>
          <a:p>
            <a:pPr marL="0" indent="0">
              <a:buNone/>
            </a:pPr>
            <a:r>
              <a:rPr lang="en-US" sz="1400" b="1">
                <a:solidFill>
                  <a:srgbClr val="28251D"/>
                </a:solidFill>
                <a:latin typeface="Calibri" pitchFamily="34" charset="0"/>
                <a:ea typeface="Calibri" pitchFamily="34" charset="-122"/>
                <a:cs typeface="Calibri" pitchFamily="34" charset="-120"/>
              </a:rPr>
              <a:t>Branch coverage</a:t>
            </a:r>
            <a:endParaRPr lang="en-US" sz="1400"/>
          </a:p>
        </p:txBody>
      </p:sp>
      <p:sp>
        <p:nvSpPr>
          <p:cNvPr id="16" name="Text 14"/>
          <p:cNvSpPr/>
          <p:nvPr/>
        </p:nvSpPr>
        <p:spPr>
          <a:xfrm>
            <a:off x="1371600" y="4014216"/>
            <a:ext cx="4572000" cy="365760"/>
          </a:xfrm>
          <a:prstGeom prst="rect">
            <a:avLst/>
          </a:prstGeom>
          <a:noFill/>
          <a:ln/>
        </p:spPr>
        <p:txBody>
          <a:bodyPr wrap="square" rtlCol="0" anchor="ctr"/>
          <a:lstStyle/>
          <a:p>
            <a:pPr marL="0" indent="0">
              <a:buNone/>
            </a:pPr>
            <a:r>
              <a:rPr lang="en-US" sz="1050">
                <a:solidFill>
                  <a:srgbClr val="7A7974"/>
                </a:solidFill>
                <a:latin typeface="Calibri" pitchFamily="34" charset="0"/>
                <a:ea typeface="Calibri" pitchFamily="34" charset="-122"/>
                <a:cs typeface="Calibri" pitchFamily="34" charset="-120"/>
              </a:rPr>
              <a:t>pytest --cov=habit_engine --cov-branch</a:t>
            </a:r>
            <a:endParaRPr lang="en-US" sz="1050"/>
          </a:p>
        </p:txBody>
      </p:sp>
      <p:sp>
        <p:nvSpPr>
          <p:cNvPr id="17" name="Shape 15"/>
          <p:cNvSpPr/>
          <p:nvPr/>
        </p:nvSpPr>
        <p:spPr>
          <a:xfrm>
            <a:off x="548640" y="4443984"/>
            <a:ext cx="5577840" cy="777240"/>
          </a:xfrm>
          <a:prstGeom prst="rect">
            <a:avLst/>
          </a:prstGeom>
          <a:solidFill>
            <a:srgbClr val="FBFBF9"/>
          </a:solidFill>
          <a:ln w="6350">
            <a:solidFill>
              <a:srgbClr val="D4D1CA"/>
            </a:solidFill>
            <a:prstDash val="solid"/>
          </a:ln>
        </p:spPr>
        <p:txBody>
          <a:bodyPr/>
          <a:lstStyle/>
          <a:p>
            <a:endParaRPr lang="en-US"/>
          </a:p>
        </p:txBody>
      </p:sp>
      <p:sp>
        <p:nvSpPr>
          <p:cNvPr id="18" name="Text 16"/>
          <p:cNvSpPr/>
          <p:nvPr/>
        </p:nvSpPr>
        <p:spPr>
          <a:xfrm>
            <a:off x="731520" y="4581144"/>
            <a:ext cx="548640" cy="548640"/>
          </a:xfrm>
          <a:prstGeom prst="rect">
            <a:avLst/>
          </a:prstGeom>
          <a:noFill/>
          <a:ln/>
        </p:spPr>
        <p:txBody>
          <a:bodyPr wrap="square" rtlCol="0" anchor="ctr"/>
          <a:lstStyle/>
          <a:p>
            <a:pPr marL="0" indent="0">
              <a:buNone/>
            </a:pPr>
            <a:r>
              <a:rPr lang="en-US" sz="2400" b="1">
                <a:solidFill>
                  <a:srgbClr val="01696F"/>
                </a:solidFill>
                <a:latin typeface="Calibri" pitchFamily="34" charset="0"/>
                <a:ea typeface="Calibri" pitchFamily="34" charset="-122"/>
                <a:cs typeface="Calibri" pitchFamily="34" charset="-120"/>
              </a:rPr>
              <a:t>4</a:t>
            </a:r>
            <a:endParaRPr lang="en-US" sz="2400"/>
          </a:p>
        </p:txBody>
      </p:sp>
      <p:sp>
        <p:nvSpPr>
          <p:cNvPr id="19" name="Text 17"/>
          <p:cNvSpPr/>
          <p:nvPr/>
        </p:nvSpPr>
        <p:spPr>
          <a:xfrm>
            <a:off x="1371600" y="4517136"/>
            <a:ext cx="4572000" cy="365760"/>
          </a:xfrm>
          <a:prstGeom prst="rect">
            <a:avLst/>
          </a:prstGeom>
          <a:noFill/>
          <a:ln/>
        </p:spPr>
        <p:txBody>
          <a:bodyPr wrap="square" rtlCol="0" anchor="ctr"/>
          <a:lstStyle/>
          <a:p>
            <a:pPr marL="0" indent="0">
              <a:buNone/>
            </a:pPr>
            <a:r>
              <a:rPr lang="en-US" sz="1400" b="1">
                <a:solidFill>
                  <a:srgbClr val="28251D"/>
                </a:solidFill>
                <a:latin typeface="Calibri" pitchFamily="34" charset="0"/>
                <a:ea typeface="Calibri" pitchFamily="34" charset="-122"/>
                <a:cs typeface="Calibri" pitchFamily="34" charset="-120"/>
              </a:rPr>
              <a:t>Mutation results</a:t>
            </a:r>
            <a:endParaRPr lang="en-US" sz="1400"/>
          </a:p>
        </p:txBody>
      </p:sp>
      <p:sp>
        <p:nvSpPr>
          <p:cNvPr id="20" name="Text 18"/>
          <p:cNvSpPr/>
          <p:nvPr/>
        </p:nvSpPr>
        <p:spPr>
          <a:xfrm>
            <a:off x="1371600" y="4855464"/>
            <a:ext cx="4572000" cy="365760"/>
          </a:xfrm>
          <a:prstGeom prst="rect">
            <a:avLst/>
          </a:prstGeom>
          <a:noFill/>
          <a:ln/>
        </p:spPr>
        <p:txBody>
          <a:bodyPr wrap="square" rtlCol="0" anchor="ctr"/>
          <a:lstStyle/>
          <a:p>
            <a:pPr marL="0" indent="0">
              <a:buNone/>
            </a:pPr>
            <a:r>
              <a:rPr lang="en-US" sz="1050">
                <a:solidFill>
                  <a:srgbClr val="7A7974"/>
                </a:solidFill>
                <a:latin typeface="Calibri" pitchFamily="34" charset="0"/>
                <a:ea typeface="Calibri" pitchFamily="34" charset="-122"/>
                <a:cs typeface="Calibri" pitchFamily="34" charset="-120"/>
              </a:rPr>
              <a:t>mutmut results  (pre-computed run)</a:t>
            </a:r>
            <a:endParaRPr lang="en-US" sz="1050"/>
          </a:p>
        </p:txBody>
      </p:sp>
      <p:sp>
        <p:nvSpPr>
          <p:cNvPr id="21" name="Shape 19"/>
          <p:cNvSpPr/>
          <p:nvPr/>
        </p:nvSpPr>
        <p:spPr>
          <a:xfrm>
            <a:off x="548640" y="5285232"/>
            <a:ext cx="5577840" cy="777240"/>
          </a:xfrm>
          <a:prstGeom prst="rect">
            <a:avLst/>
          </a:prstGeom>
          <a:solidFill>
            <a:srgbClr val="FBFBF9"/>
          </a:solidFill>
          <a:ln w="6350">
            <a:solidFill>
              <a:srgbClr val="D4D1CA"/>
            </a:solidFill>
            <a:prstDash val="solid"/>
          </a:ln>
        </p:spPr>
        <p:txBody>
          <a:bodyPr/>
          <a:lstStyle/>
          <a:p>
            <a:endParaRPr lang="en-US"/>
          </a:p>
        </p:txBody>
      </p:sp>
      <p:sp>
        <p:nvSpPr>
          <p:cNvPr id="22" name="Text 20"/>
          <p:cNvSpPr/>
          <p:nvPr/>
        </p:nvSpPr>
        <p:spPr>
          <a:xfrm>
            <a:off x="731520" y="5422392"/>
            <a:ext cx="548640" cy="548640"/>
          </a:xfrm>
          <a:prstGeom prst="rect">
            <a:avLst/>
          </a:prstGeom>
          <a:noFill/>
          <a:ln/>
        </p:spPr>
        <p:txBody>
          <a:bodyPr wrap="square" rtlCol="0" anchor="ctr"/>
          <a:lstStyle/>
          <a:p>
            <a:pPr marL="0" indent="0">
              <a:buNone/>
            </a:pPr>
            <a:r>
              <a:rPr lang="en-US" sz="2400" b="1">
                <a:solidFill>
                  <a:srgbClr val="01696F"/>
                </a:solidFill>
                <a:latin typeface="Calibri" pitchFamily="34" charset="0"/>
                <a:ea typeface="Calibri" pitchFamily="34" charset="-122"/>
                <a:cs typeface="Calibri" pitchFamily="34" charset="-120"/>
              </a:rPr>
              <a:t>5</a:t>
            </a:r>
            <a:endParaRPr lang="en-US" sz="2400"/>
          </a:p>
        </p:txBody>
      </p:sp>
      <p:sp>
        <p:nvSpPr>
          <p:cNvPr id="23" name="Text 21"/>
          <p:cNvSpPr/>
          <p:nvPr/>
        </p:nvSpPr>
        <p:spPr>
          <a:xfrm>
            <a:off x="1371600" y="5358384"/>
            <a:ext cx="4572000" cy="365760"/>
          </a:xfrm>
          <a:prstGeom prst="rect">
            <a:avLst/>
          </a:prstGeom>
          <a:noFill/>
          <a:ln/>
        </p:spPr>
        <p:txBody>
          <a:bodyPr wrap="square" rtlCol="0" anchor="ctr"/>
          <a:lstStyle/>
          <a:p>
            <a:pPr marL="0" indent="0">
              <a:buNone/>
            </a:pPr>
            <a:r>
              <a:rPr lang="en-US" sz="1400" b="1">
                <a:solidFill>
                  <a:srgbClr val="28251D"/>
                </a:solidFill>
                <a:latin typeface="Calibri" pitchFamily="34" charset="0"/>
                <a:ea typeface="Calibri" pitchFamily="34" charset="-122"/>
                <a:cs typeface="Calibri" pitchFamily="34" charset="-120"/>
              </a:rPr>
              <a:t>GUI introspection</a:t>
            </a:r>
            <a:endParaRPr lang="en-US" sz="1400"/>
          </a:p>
        </p:txBody>
      </p:sp>
      <p:sp>
        <p:nvSpPr>
          <p:cNvPr id="24" name="Text 22"/>
          <p:cNvSpPr/>
          <p:nvPr/>
        </p:nvSpPr>
        <p:spPr>
          <a:xfrm>
            <a:off x="1371600" y="5696712"/>
            <a:ext cx="4572000" cy="365760"/>
          </a:xfrm>
          <a:prstGeom prst="rect">
            <a:avLst/>
          </a:prstGeom>
          <a:noFill/>
          <a:ln/>
        </p:spPr>
        <p:txBody>
          <a:bodyPr wrap="square" rtlCol="0" anchor="ctr"/>
          <a:lstStyle/>
          <a:p>
            <a:pPr marL="0" indent="0">
              <a:buNone/>
            </a:pPr>
            <a:r>
              <a:rPr lang="en-US" sz="1050">
                <a:solidFill>
                  <a:srgbClr val="7A7974"/>
                </a:solidFill>
                <a:latin typeface="Calibri" pitchFamily="34" charset="0"/>
                <a:ea typeface="Calibri" pitchFamily="34" charset="-122"/>
                <a:cs typeface="Calibri" pitchFamily="34" charset="-120"/>
              </a:rPr>
              <a:t>xvfb-run pytest tests/gui/ -v  (Justin)</a:t>
            </a:r>
            <a:endParaRPr lang="en-US" sz="1050"/>
          </a:p>
        </p:txBody>
      </p:sp>
      <p:sp>
        <p:nvSpPr>
          <p:cNvPr id="25" name="Shape 23"/>
          <p:cNvSpPr/>
          <p:nvPr/>
        </p:nvSpPr>
        <p:spPr>
          <a:xfrm>
            <a:off x="6400800" y="1600200"/>
            <a:ext cx="5257800" cy="4526280"/>
          </a:xfrm>
          <a:prstGeom prst="rect">
            <a:avLst/>
          </a:prstGeom>
          <a:solidFill>
            <a:srgbClr val="EDEBE4"/>
          </a:solidFill>
          <a:ln w="9525">
            <a:solidFill>
              <a:srgbClr val="D4D1CA"/>
            </a:solidFill>
            <a:prstDash val="solid"/>
          </a:ln>
        </p:spPr>
        <p:txBody>
          <a:bodyPr/>
          <a:lstStyle/>
          <a:p>
            <a:endParaRPr lang="en-US"/>
          </a:p>
        </p:txBody>
      </p:sp>
      <p:sp>
        <p:nvSpPr>
          <p:cNvPr id="26" name="Text 24"/>
          <p:cNvSpPr/>
          <p:nvPr/>
        </p:nvSpPr>
        <p:spPr>
          <a:xfrm>
            <a:off x="6629400" y="1737360"/>
            <a:ext cx="4846320" cy="320040"/>
          </a:xfrm>
          <a:prstGeom prst="rect">
            <a:avLst/>
          </a:prstGeom>
          <a:noFill/>
          <a:ln/>
        </p:spPr>
        <p:txBody>
          <a:bodyPr wrap="square" rtlCol="0" anchor="ctr"/>
          <a:lstStyle/>
          <a:p>
            <a:pPr marL="0" indent="0">
              <a:buNone/>
            </a:pPr>
            <a:r>
              <a:rPr lang="en-US" sz="1100" b="1" kern="0" spc="200">
                <a:solidFill>
                  <a:srgbClr val="01696F"/>
                </a:solidFill>
                <a:latin typeface="Calibri" pitchFamily="34" charset="0"/>
                <a:ea typeface="Calibri" pitchFamily="34" charset="-122"/>
                <a:cs typeface="Calibri" pitchFamily="34" charset="-120"/>
              </a:rPr>
              <a:t>WHAT TO WATCH FOR</a:t>
            </a:r>
            <a:endParaRPr lang="en-US" sz="1100"/>
          </a:p>
        </p:txBody>
      </p:sp>
      <p:sp>
        <p:nvSpPr>
          <p:cNvPr id="27" name="Text 25"/>
          <p:cNvSpPr/>
          <p:nvPr/>
        </p:nvSpPr>
        <p:spPr>
          <a:xfrm>
            <a:off x="6629400" y="2103120"/>
            <a:ext cx="4846320" cy="548640"/>
          </a:xfrm>
          <a:prstGeom prst="rect">
            <a:avLst/>
          </a:prstGeom>
          <a:noFill/>
          <a:ln/>
        </p:spPr>
        <p:txBody>
          <a:bodyPr wrap="square" rtlCol="0" anchor="ctr"/>
          <a:lstStyle/>
          <a:p>
            <a:pPr marL="0" indent="0">
              <a:buNone/>
            </a:pPr>
            <a:endParaRPr lang="en-US" sz="1200"/>
          </a:p>
        </p:txBody>
      </p:sp>
      <p:sp>
        <p:nvSpPr>
          <p:cNvPr id="28" name="Text 26"/>
          <p:cNvSpPr/>
          <p:nvPr/>
        </p:nvSpPr>
        <p:spPr>
          <a:xfrm>
            <a:off x="6629400" y="2743200"/>
            <a:ext cx="4846320" cy="3200400"/>
          </a:xfrm>
          <a:prstGeom prst="rect">
            <a:avLst/>
          </a:prstGeom>
          <a:noFill/>
          <a:ln/>
        </p:spPr>
        <p:txBody>
          <a:bodyPr wrap="square" rtlCol="0" anchor="ctr"/>
          <a:lstStyle/>
          <a:p>
            <a:pPr marL="342900" indent="-342900">
              <a:spcAft>
                <a:spcPts val="600"/>
              </a:spcAft>
              <a:buSzPct val="100000"/>
              <a:buChar char="•"/>
            </a:pPr>
            <a:r>
              <a:rPr lang="en-US" sz="1300">
                <a:solidFill>
                  <a:srgbClr val="28251D"/>
                </a:solidFill>
                <a:latin typeface="Calibri" pitchFamily="34" charset="0"/>
                <a:ea typeface="Calibri" pitchFamily="34" charset="-122"/>
                <a:cs typeface="Calibri" pitchFamily="34" charset="-120"/>
              </a:rPr>
              <a:t>pytest green = 355 passed</a:t>
            </a:r>
            <a:endParaRPr lang="en-US" sz="1300"/>
          </a:p>
          <a:p>
            <a:pPr marL="342900" indent="-342900">
              <a:spcAft>
                <a:spcPts val="600"/>
              </a:spcAft>
              <a:buSzPct val="100000"/>
              <a:buChar char="•"/>
            </a:pPr>
            <a:r>
              <a:rPr lang="en-US" sz="1300">
                <a:solidFill>
                  <a:srgbClr val="28251D"/>
                </a:solidFill>
                <a:latin typeface="Calibri" pitchFamily="34" charset="0"/>
                <a:ea typeface="Calibri" pitchFamily="34" charset="-122"/>
                <a:cs typeface="Calibri" pitchFamily="34" charset="-120"/>
              </a:rPr>
              <a:t>HTML coverage: per-branch hit/miss per module</a:t>
            </a:r>
            <a:endParaRPr lang="en-US" sz="1300"/>
          </a:p>
          <a:p>
            <a:pPr marL="342900" indent="-342900">
              <a:spcAft>
                <a:spcPts val="600"/>
              </a:spcAft>
              <a:buSzPct val="100000"/>
              <a:buChar char="•"/>
            </a:pPr>
            <a:r>
              <a:rPr lang="en-US" sz="1300">
                <a:solidFill>
                  <a:srgbClr val="28251D"/>
                </a:solidFill>
                <a:latin typeface="Calibri" pitchFamily="34" charset="0"/>
                <a:ea typeface="Calibri" pitchFamily="34" charset="-122"/>
                <a:cs typeface="Calibri" pitchFamily="34" charset="-120"/>
              </a:rPr>
              <a:t>mutmut results: killed vs survived counts</a:t>
            </a:r>
            <a:endParaRPr lang="en-US" sz="1300"/>
          </a:p>
          <a:p>
            <a:pPr marL="342900" indent="-342900">
              <a:spcAft>
                <a:spcPts val="600"/>
              </a:spcAft>
              <a:buSzPct val="100000"/>
              <a:buChar char="•"/>
            </a:pPr>
            <a:r>
              <a:rPr lang="en-US" sz="1300">
                <a:solidFill>
                  <a:srgbClr val="28251D"/>
                </a:solidFill>
                <a:latin typeface="Calibri" pitchFamily="34" charset="0"/>
                <a:ea typeface="Calibri" pitchFamily="34" charset="-122"/>
                <a:cs typeface="Calibri" pitchFamily="34" charset="-120"/>
              </a:rPr>
              <a:t>GUI tests run headless via Xvfb — no flicker</a:t>
            </a:r>
            <a:endParaRPr lang="en-US" sz="1300"/>
          </a:p>
          <a:p>
            <a:pPr marL="342900" indent="-342900">
              <a:spcAft>
                <a:spcPts val="600"/>
              </a:spcAft>
              <a:buSzPct val="100000"/>
              <a:buChar char="•"/>
            </a:pPr>
            <a:r>
              <a:rPr lang="en-US" sz="1300">
                <a:solidFill>
                  <a:srgbClr val="28251D"/>
                </a:solidFill>
                <a:latin typeface="Calibri" pitchFamily="34" charset="0"/>
                <a:ea typeface="Calibri" pitchFamily="34" charset="-122"/>
                <a:cs typeface="Calibri" pitchFamily="34" charset="-120"/>
              </a:rPr>
              <a:t>Each demo step maps to a proposal deliverable</a:t>
            </a:r>
            <a:endParaRPr lang="en-US" sz="1300"/>
          </a:p>
        </p:txBody>
      </p:sp>
      <p:sp>
        <p:nvSpPr>
          <p:cNvPr id="29" name="Text 27"/>
          <p:cNvSpPr/>
          <p:nvPr/>
        </p:nvSpPr>
        <p:spPr>
          <a:xfrm>
            <a:off x="457200" y="6446520"/>
            <a:ext cx="9144000" cy="274320"/>
          </a:xfrm>
          <a:prstGeom prst="rect">
            <a:avLst/>
          </a:prstGeom>
          <a:noFill/>
          <a:ln/>
        </p:spPr>
        <p:txBody>
          <a:bodyPr wrap="square" rtlCol="0" anchor="ctr"/>
          <a:lstStyle/>
          <a:p>
            <a:pPr marL="0" indent="0">
              <a:buNone/>
            </a:pPr>
            <a:r>
              <a:rPr lang="en-US" sz="900">
                <a:solidFill>
                  <a:srgbClr val="7A7974"/>
                </a:solidFill>
                <a:latin typeface="Calibri" pitchFamily="34" charset="0"/>
                <a:ea typeface="Calibri" pitchFamily="34" charset="-122"/>
                <a:cs typeface="Calibri" pitchFamily="34" charset="-120"/>
              </a:rPr>
              <a:t>Systematic Testing of HERALDEXX/habit-tracker</a:t>
            </a:r>
            <a:r>
              <a:rPr lang="en-US" sz="900">
                <a:solidFill>
                  <a:srgbClr val="BAB9B4"/>
                </a:solidFill>
                <a:latin typeface="Calibri" pitchFamily="34" charset="0"/>
                <a:ea typeface="Calibri" pitchFamily="34" charset="-122"/>
                <a:cs typeface="Calibri" pitchFamily="34" charset="-120"/>
              </a:rPr>
              <a:t>   •   </a:t>
            </a:r>
            <a:r>
              <a:rPr lang="en-US" sz="900">
                <a:solidFill>
                  <a:srgbClr val="7A7974"/>
                </a:solidFill>
                <a:latin typeface="Calibri" pitchFamily="34" charset="0"/>
                <a:ea typeface="Calibri" pitchFamily="34" charset="-122"/>
                <a:cs typeface="Calibri" pitchFamily="34" charset="-120"/>
              </a:rPr>
              <a:t>CS422 Spring 2026</a:t>
            </a:r>
            <a:endParaRPr lang="en-US" sz="900"/>
          </a:p>
        </p:txBody>
      </p:sp>
      <p:sp>
        <p:nvSpPr>
          <p:cNvPr id="30" name="Text 28"/>
          <p:cNvSpPr/>
          <p:nvPr/>
        </p:nvSpPr>
        <p:spPr>
          <a:xfrm>
            <a:off x="10789920" y="6446520"/>
            <a:ext cx="914400" cy="274320"/>
          </a:xfrm>
          <a:prstGeom prst="rect">
            <a:avLst/>
          </a:prstGeom>
          <a:noFill/>
          <a:ln/>
        </p:spPr>
        <p:txBody>
          <a:bodyPr wrap="square" rtlCol="0" anchor="ctr"/>
          <a:lstStyle/>
          <a:p>
            <a:pPr marL="0" indent="0" algn="r">
              <a:buNone/>
            </a:pPr>
            <a:r>
              <a:rPr lang="en-US" sz="900">
                <a:solidFill>
                  <a:srgbClr val="7A7974"/>
                </a:solidFill>
                <a:latin typeface="Calibri" pitchFamily="34" charset="0"/>
                <a:ea typeface="Calibri" pitchFamily="34" charset="-122"/>
                <a:cs typeface="Calibri" pitchFamily="34" charset="-120"/>
              </a:rPr>
              <a:t>6 / 15</a:t>
            </a:r>
            <a:endParaRPr lang="en-US" sz="9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rtlCol="0" anchor="ctr"/>
          <a:lstStyle/>
          <a:p>
            <a:pPr marL="0" indent="0">
              <a:buNone/>
            </a:pPr>
            <a:r>
              <a:rPr lang="en-US" sz="1100" b="1" kern="0" spc="200">
                <a:solidFill>
                  <a:srgbClr val="01696F"/>
                </a:solidFill>
                <a:latin typeface="Calibri" pitchFamily="34" charset="0"/>
                <a:ea typeface="Calibri" pitchFamily="34" charset="-122"/>
                <a:cs typeface="Calibri" pitchFamily="34" charset="-120"/>
              </a:rPr>
              <a:t>BLACKBOX</a:t>
            </a:r>
            <a:endParaRPr lang="en-US" sz="1100"/>
          </a:p>
        </p:txBody>
      </p:sp>
      <p:sp>
        <p:nvSpPr>
          <p:cNvPr id="3" name="Text 1"/>
          <p:cNvSpPr/>
          <p:nvPr/>
        </p:nvSpPr>
        <p:spPr>
          <a:xfrm>
            <a:off x="548640" y="731520"/>
            <a:ext cx="10972800" cy="731520"/>
          </a:xfrm>
          <a:prstGeom prst="rect">
            <a:avLst/>
          </a:prstGeom>
          <a:noFill/>
          <a:ln/>
        </p:spPr>
        <p:txBody>
          <a:bodyPr wrap="square" rtlCol="0" anchor="ctr"/>
          <a:lstStyle/>
          <a:p>
            <a:pPr marL="0" indent="0">
              <a:buNone/>
            </a:pPr>
            <a:r>
              <a:rPr lang="en-US" sz="3200" b="1">
                <a:solidFill>
                  <a:srgbClr val="28251D"/>
                </a:solidFill>
                <a:latin typeface="Calibri" pitchFamily="34" charset="0"/>
                <a:ea typeface="Calibri" pitchFamily="34" charset="-122"/>
                <a:cs typeface="Calibri" pitchFamily="34" charset="-120"/>
              </a:rPr>
              <a:t>Equivalence Partitioning &amp; Boundary Analysis</a:t>
            </a:r>
            <a:endParaRPr lang="en-US" sz="3200"/>
          </a:p>
        </p:txBody>
      </p:sp>
      <p:sp>
        <p:nvSpPr>
          <p:cNvPr id="4" name="Text 2"/>
          <p:cNvSpPr/>
          <p:nvPr/>
        </p:nvSpPr>
        <p:spPr>
          <a:xfrm>
            <a:off x="548640" y="1600200"/>
            <a:ext cx="5577840" cy="320040"/>
          </a:xfrm>
          <a:prstGeom prst="rect">
            <a:avLst/>
          </a:prstGeom>
          <a:noFill/>
          <a:ln/>
        </p:spPr>
        <p:txBody>
          <a:bodyPr wrap="square" rtlCol="0" anchor="ctr"/>
          <a:lstStyle/>
          <a:p>
            <a:pPr marL="0" indent="0">
              <a:buNone/>
            </a:pPr>
            <a:r>
              <a:rPr lang="en-US" sz="1100" b="1" kern="0" spc="200">
                <a:solidFill>
                  <a:srgbClr val="01696F"/>
                </a:solidFill>
                <a:latin typeface="Calibri" pitchFamily="34" charset="0"/>
                <a:ea typeface="Calibri" pitchFamily="34" charset="-122"/>
                <a:cs typeface="Calibri" pitchFamily="34" charset="-120"/>
              </a:rPr>
              <a:t>INPUT DOMAINS PARTITIONED</a:t>
            </a:r>
            <a:endParaRPr lang="en-US" sz="1100"/>
          </a:p>
        </p:txBody>
      </p:sp>
      <p:sp>
        <p:nvSpPr>
          <p:cNvPr id="5" name="Text 3"/>
          <p:cNvSpPr/>
          <p:nvPr/>
        </p:nvSpPr>
        <p:spPr>
          <a:xfrm>
            <a:off x="548640" y="1965960"/>
            <a:ext cx="5577840" cy="4114800"/>
          </a:xfrm>
          <a:prstGeom prst="rect">
            <a:avLst/>
          </a:prstGeom>
          <a:noFill/>
          <a:ln/>
        </p:spPr>
        <p:txBody>
          <a:bodyPr wrap="square" rtlCol="0" anchor="t"/>
          <a:lstStyle/>
          <a:p>
            <a:pPr marL="342900" indent="-342900">
              <a:spcAft>
                <a:spcPts val="600"/>
              </a:spcAft>
              <a:buSzPct val="100000"/>
              <a:buChar char="•"/>
            </a:pPr>
            <a:r>
              <a:rPr lang="en-US" sz="1300">
                <a:solidFill>
                  <a:srgbClr val="28251D"/>
                </a:solidFill>
                <a:latin typeface="Calibri" pitchFamily="34" charset="0"/>
                <a:ea typeface="Calibri" pitchFamily="34" charset="-122"/>
                <a:cs typeface="Calibri" pitchFamily="34" charset="-120"/>
              </a:rPr>
              <a:t>Habit count — partitions at &lt;2, 2–10, &gt;10; boundaries 1/2/10/11</a:t>
            </a:r>
            <a:endParaRPr lang="en-US" sz="1300"/>
          </a:p>
          <a:p>
            <a:pPr marL="342900" indent="-342900">
              <a:spcAft>
                <a:spcPts val="600"/>
              </a:spcAft>
              <a:buSzPct val="100000"/>
              <a:buChar char="•"/>
            </a:pPr>
            <a:r>
              <a:rPr lang="en-US" sz="1300">
                <a:solidFill>
                  <a:srgbClr val="28251D"/>
                </a:solidFill>
                <a:latin typeface="Calibri" pitchFamily="34" charset="0"/>
                <a:ea typeface="Calibri" pitchFamily="34" charset="-122"/>
                <a:cs typeface="Calibri" pitchFamily="34" charset="-120"/>
              </a:rPr>
              <a:t>Dates — YYYY-MM-DD validity, leap year (2024-02-29), month/day boundaries, 31-day months</a:t>
            </a:r>
            <a:endParaRPr lang="en-US" sz="1300"/>
          </a:p>
          <a:p>
            <a:pPr marL="342900" indent="-342900">
              <a:spcAft>
                <a:spcPts val="600"/>
              </a:spcAft>
              <a:buSzPct val="100000"/>
              <a:buChar char="•"/>
            </a:pPr>
            <a:r>
              <a:rPr lang="en-US" sz="1300">
                <a:solidFill>
                  <a:srgbClr val="28251D"/>
                </a:solidFill>
                <a:latin typeface="Calibri" pitchFamily="34" charset="0"/>
                <a:ea typeface="Calibri" pitchFamily="34" charset="-122"/>
                <a:cs typeface="Calibri" pitchFamily="34" charset="-120"/>
              </a:rPr>
              <a:t>Habit names — empty, whitespace, &gt;50 chars, non-string types</a:t>
            </a:r>
            <a:endParaRPr lang="en-US" sz="1300"/>
          </a:p>
          <a:p>
            <a:pPr marL="342900" indent="-342900">
              <a:spcAft>
                <a:spcPts val="600"/>
              </a:spcAft>
              <a:buSzPct val="100000"/>
              <a:buChar char="•"/>
            </a:pPr>
            <a:r>
              <a:rPr lang="en-US" sz="1300">
                <a:solidFill>
                  <a:srgbClr val="28251D"/>
                </a:solidFill>
                <a:latin typeface="Calibri" pitchFamily="34" charset="0"/>
                <a:ea typeface="Calibri" pitchFamily="34" charset="-122"/>
                <a:cs typeface="Calibri" pitchFamily="34" charset="-120"/>
              </a:rPr>
              <a:t>Streak values — negative, zero, positive, wrong type</a:t>
            </a:r>
            <a:endParaRPr lang="en-US" sz="1300"/>
          </a:p>
          <a:p>
            <a:pPr marL="342900" indent="-342900">
              <a:spcAft>
                <a:spcPts val="600"/>
              </a:spcAft>
              <a:buSzPct val="100000"/>
              <a:buChar char="•"/>
            </a:pPr>
            <a:r>
              <a:rPr lang="en-US" sz="1300">
                <a:solidFill>
                  <a:srgbClr val="28251D"/>
                </a:solidFill>
                <a:latin typeface="Calibri" pitchFamily="34" charset="0"/>
                <a:ea typeface="Calibri" pitchFamily="34" charset="-122"/>
                <a:cs typeface="Calibri" pitchFamily="34" charset="-120"/>
              </a:rPr>
              <a:t>Log entries — missing keys, extra keys, wrong completion type</a:t>
            </a:r>
            <a:endParaRPr lang="en-US" sz="1300"/>
          </a:p>
          <a:p>
            <a:pPr marL="342900" indent="-342900">
              <a:spcAft>
                <a:spcPts val="600"/>
              </a:spcAft>
              <a:buSzPct val="100000"/>
              <a:buChar char="•"/>
            </a:pPr>
            <a:r>
              <a:rPr lang="en-US" sz="1300">
                <a:solidFill>
                  <a:srgbClr val="28251D"/>
                </a:solidFill>
                <a:latin typeface="Calibri" pitchFamily="34" charset="0"/>
                <a:ea typeface="Calibri" pitchFamily="34" charset="-122"/>
                <a:cs typeface="Calibri" pitchFamily="34" charset="-120"/>
              </a:rPr>
              <a:t>CLI flags — --reset, --view-logs, --clear-logs, --lock/--dev, --plot / -p</a:t>
            </a:r>
            <a:endParaRPr lang="en-US" sz="1300"/>
          </a:p>
        </p:txBody>
      </p:sp>
      <p:sp>
        <p:nvSpPr>
          <p:cNvPr id="6" name="Shape 4"/>
          <p:cNvSpPr/>
          <p:nvPr/>
        </p:nvSpPr>
        <p:spPr>
          <a:xfrm>
            <a:off x="6400800" y="1600200"/>
            <a:ext cx="5257800" cy="4526280"/>
          </a:xfrm>
          <a:prstGeom prst="rect">
            <a:avLst/>
          </a:prstGeom>
          <a:solidFill>
            <a:srgbClr val="FBFBF9"/>
          </a:solidFill>
          <a:ln w="9525">
            <a:solidFill>
              <a:srgbClr val="D4D1CA"/>
            </a:solidFill>
            <a:prstDash val="solid"/>
          </a:ln>
        </p:spPr>
        <p:txBody>
          <a:bodyPr/>
          <a:lstStyle/>
          <a:p>
            <a:endParaRPr lang="en-US"/>
          </a:p>
        </p:txBody>
      </p:sp>
      <p:sp>
        <p:nvSpPr>
          <p:cNvPr id="7" name="Text 5"/>
          <p:cNvSpPr/>
          <p:nvPr/>
        </p:nvSpPr>
        <p:spPr>
          <a:xfrm>
            <a:off x="6629400" y="1737360"/>
            <a:ext cx="4846320" cy="320040"/>
          </a:xfrm>
          <a:prstGeom prst="rect">
            <a:avLst/>
          </a:prstGeom>
          <a:noFill/>
          <a:ln/>
        </p:spPr>
        <p:txBody>
          <a:bodyPr wrap="square" rtlCol="0" anchor="ctr"/>
          <a:lstStyle/>
          <a:p>
            <a:pPr marL="0" indent="0">
              <a:buNone/>
            </a:pPr>
            <a:r>
              <a:rPr lang="en-US" sz="1100" b="1" kern="0" spc="200">
                <a:solidFill>
                  <a:srgbClr val="01696F"/>
                </a:solidFill>
                <a:latin typeface="Calibri" pitchFamily="34" charset="0"/>
                <a:ea typeface="Calibri" pitchFamily="34" charset="-122"/>
                <a:cs typeface="Calibri" pitchFamily="34" charset="-120"/>
              </a:rPr>
              <a:t>TESTS BY FILE</a:t>
            </a:r>
            <a:endParaRPr lang="en-US" sz="1100"/>
          </a:p>
        </p:txBody>
      </p:sp>
      <p:sp>
        <p:nvSpPr>
          <p:cNvPr id="8" name="Text 6"/>
          <p:cNvSpPr/>
          <p:nvPr/>
        </p:nvSpPr>
        <p:spPr>
          <a:xfrm>
            <a:off x="6629400" y="2148840"/>
            <a:ext cx="4846320" cy="320040"/>
          </a:xfrm>
          <a:prstGeom prst="rect">
            <a:avLst/>
          </a:prstGeom>
          <a:noFill/>
          <a:ln/>
        </p:spPr>
        <p:txBody>
          <a:bodyPr wrap="square" rtlCol="0" anchor="ctr"/>
          <a:lstStyle/>
          <a:p>
            <a:pPr marL="0" indent="0">
              <a:buNone/>
            </a:pPr>
            <a:r>
              <a:rPr lang="en-US" sz="1200" b="1">
                <a:solidFill>
                  <a:srgbClr val="28251D"/>
                </a:solidFill>
                <a:latin typeface="Courier New" pitchFamily="34" charset="0"/>
                <a:ea typeface="Courier New" pitchFamily="34" charset="-122"/>
                <a:cs typeface="Courier New" pitchFamily="34" charset="-120"/>
              </a:rPr>
              <a:t>test_habit_logic_bb.py</a:t>
            </a:r>
            <a:endParaRPr lang="en-US" sz="1200"/>
          </a:p>
        </p:txBody>
      </p:sp>
      <p:sp>
        <p:nvSpPr>
          <p:cNvPr id="9" name="Text 7"/>
          <p:cNvSpPr/>
          <p:nvPr/>
        </p:nvSpPr>
        <p:spPr>
          <a:xfrm>
            <a:off x="6629400" y="2468880"/>
            <a:ext cx="4846320" cy="365760"/>
          </a:xfrm>
          <a:prstGeom prst="rect">
            <a:avLst/>
          </a:prstGeom>
          <a:noFill/>
          <a:ln/>
        </p:spPr>
        <p:txBody>
          <a:bodyPr wrap="square" rtlCol="0" anchor="ctr"/>
          <a:lstStyle/>
          <a:p>
            <a:pPr marL="0" indent="0">
              <a:buNone/>
            </a:pPr>
            <a:r>
              <a:rPr lang="en-US" sz="1200">
                <a:solidFill>
                  <a:srgbClr val="7A7974"/>
                </a:solidFill>
                <a:latin typeface="Calibri" pitchFamily="34" charset="0"/>
                <a:ea typeface="Calibri" pitchFamily="34" charset="-122"/>
                <a:cs typeface="Calibri" pitchFamily="34" charset="-120"/>
              </a:rPr>
              <a:t>EP + BA + EG over validation &amp; streaks</a:t>
            </a:r>
            <a:endParaRPr lang="en-US" sz="1200"/>
          </a:p>
        </p:txBody>
      </p:sp>
      <p:sp>
        <p:nvSpPr>
          <p:cNvPr id="10" name="Text 8"/>
          <p:cNvSpPr/>
          <p:nvPr/>
        </p:nvSpPr>
        <p:spPr>
          <a:xfrm>
            <a:off x="6629400" y="3017520"/>
            <a:ext cx="4846320" cy="320040"/>
          </a:xfrm>
          <a:prstGeom prst="rect">
            <a:avLst/>
          </a:prstGeom>
          <a:noFill/>
          <a:ln/>
        </p:spPr>
        <p:txBody>
          <a:bodyPr wrap="square" rtlCol="0" anchor="ctr"/>
          <a:lstStyle/>
          <a:p>
            <a:pPr marL="0" indent="0">
              <a:buNone/>
            </a:pPr>
            <a:r>
              <a:rPr lang="en-US" sz="1200" b="1">
                <a:solidFill>
                  <a:srgbClr val="28251D"/>
                </a:solidFill>
                <a:latin typeface="Courier New" pitchFamily="34" charset="0"/>
                <a:ea typeface="Courier New" pitchFamily="34" charset="-122"/>
                <a:cs typeface="Courier New" pitchFamily="34" charset="-120"/>
              </a:rPr>
              <a:t>test_habit_io_bb.py</a:t>
            </a:r>
            <a:endParaRPr lang="en-US" sz="1200"/>
          </a:p>
        </p:txBody>
      </p:sp>
      <p:sp>
        <p:nvSpPr>
          <p:cNvPr id="11" name="Text 9"/>
          <p:cNvSpPr/>
          <p:nvPr/>
        </p:nvSpPr>
        <p:spPr>
          <a:xfrm>
            <a:off x="6629400" y="3337560"/>
            <a:ext cx="4846320" cy="365760"/>
          </a:xfrm>
          <a:prstGeom prst="rect">
            <a:avLst/>
          </a:prstGeom>
          <a:noFill/>
          <a:ln/>
        </p:spPr>
        <p:txBody>
          <a:bodyPr wrap="square" rtlCol="0" anchor="ctr"/>
          <a:lstStyle/>
          <a:p>
            <a:pPr marL="0" indent="0">
              <a:buNone/>
            </a:pPr>
            <a:r>
              <a:rPr lang="en-US" sz="1200">
                <a:solidFill>
                  <a:srgbClr val="7A7974"/>
                </a:solidFill>
                <a:latin typeface="Calibri" pitchFamily="34" charset="0"/>
                <a:ea typeface="Calibri" pitchFamily="34" charset="-122"/>
                <a:cs typeface="Calibri" pitchFamily="34" charset="-120"/>
              </a:rPr>
              <a:t>JSON load/save, corruption, permissions</a:t>
            </a:r>
            <a:endParaRPr lang="en-US" sz="1200"/>
          </a:p>
        </p:txBody>
      </p:sp>
      <p:sp>
        <p:nvSpPr>
          <p:cNvPr id="12" name="Text 10"/>
          <p:cNvSpPr/>
          <p:nvPr/>
        </p:nvSpPr>
        <p:spPr>
          <a:xfrm>
            <a:off x="6629400" y="3886200"/>
            <a:ext cx="4846320" cy="320040"/>
          </a:xfrm>
          <a:prstGeom prst="rect">
            <a:avLst/>
          </a:prstGeom>
          <a:noFill/>
          <a:ln/>
        </p:spPr>
        <p:txBody>
          <a:bodyPr wrap="square" rtlCol="0" anchor="ctr"/>
          <a:lstStyle/>
          <a:p>
            <a:pPr marL="0" indent="0">
              <a:buNone/>
            </a:pPr>
            <a:r>
              <a:rPr lang="en-US" sz="1200" b="1">
                <a:solidFill>
                  <a:srgbClr val="28251D"/>
                </a:solidFill>
                <a:latin typeface="Courier New" pitchFamily="34" charset="0"/>
                <a:ea typeface="Courier New" pitchFamily="34" charset="-122"/>
                <a:cs typeface="Courier New" pitchFamily="34" charset="-120"/>
              </a:rPr>
              <a:t>test_plot_combinatorial.py</a:t>
            </a:r>
            <a:endParaRPr lang="en-US" sz="1200"/>
          </a:p>
        </p:txBody>
      </p:sp>
      <p:sp>
        <p:nvSpPr>
          <p:cNvPr id="13" name="Text 11"/>
          <p:cNvSpPr/>
          <p:nvPr/>
        </p:nvSpPr>
        <p:spPr>
          <a:xfrm>
            <a:off x="6629400" y="4206240"/>
            <a:ext cx="4846320" cy="365760"/>
          </a:xfrm>
          <a:prstGeom prst="rect">
            <a:avLst/>
          </a:prstGeom>
          <a:noFill/>
          <a:ln/>
        </p:spPr>
        <p:txBody>
          <a:bodyPr wrap="square" rtlCol="0" anchor="ctr"/>
          <a:lstStyle/>
          <a:p>
            <a:pPr marL="0" indent="0">
              <a:buNone/>
            </a:pPr>
            <a:r>
              <a:rPr lang="en-US" sz="1200">
                <a:solidFill>
                  <a:srgbClr val="7A7974"/>
                </a:solidFill>
                <a:latin typeface="Calibri" pitchFamily="34" charset="0"/>
                <a:ea typeface="Calibri" pitchFamily="34" charset="-122"/>
                <a:cs typeface="Calibri" pitchFamily="34" charset="-120"/>
              </a:rPr>
              <a:t>Pairwise --plot combinatorics (next slide)</a:t>
            </a:r>
            <a:endParaRPr lang="en-US" sz="1200"/>
          </a:p>
        </p:txBody>
      </p:sp>
      <p:sp>
        <p:nvSpPr>
          <p:cNvPr id="14" name="Text 12"/>
          <p:cNvSpPr/>
          <p:nvPr/>
        </p:nvSpPr>
        <p:spPr>
          <a:xfrm>
            <a:off x="6629400" y="5074920"/>
            <a:ext cx="1828800" cy="777240"/>
          </a:xfrm>
          <a:prstGeom prst="rect">
            <a:avLst/>
          </a:prstGeom>
          <a:noFill/>
          <a:ln/>
        </p:spPr>
        <p:txBody>
          <a:bodyPr wrap="square" rtlCol="0" anchor="ctr"/>
          <a:lstStyle/>
          <a:p>
            <a:pPr marL="0" indent="0">
              <a:buNone/>
            </a:pPr>
            <a:r>
              <a:rPr lang="en-US" sz="4800" b="1">
                <a:solidFill>
                  <a:srgbClr val="01696F"/>
                </a:solidFill>
                <a:latin typeface="Calibri" pitchFamily="34" charset="0"/>
                <a:ea typeface="Calibri" pitchFamily="34" charset="-122"/>
                <a:cs typeface="Calibri" pitchFamily="34" charset="-120"/>
              </a:rPr>
              <a:t>135</a:t>
            </a:r>
            <a:endParaRPr lang="en-US" sz="4800"/>
          </a:p>
        </p:txBody>
      </p:sp>
      <p:sp>
        <p:nvSpPr>
          <p:cNvPr id="15" name="Text 13"/>
          <p:cNvSpPr/>
          <p:nvPr/>
        </p:nvSpPr>
        <p:spPr>
          <a:xfrm>
            <a:off x="8321040" y="5303520"/>
            <a:ext cx="3108960" cy="365760"/>
          </a:xfrm>
          <a:prstGeom prst="rect">
            <a:avLst/>
          </a:prstGeom>
          <a:noFill/>
          <a:ln/>
        </p:spPr>
        <p:txBody>
          <a:bodyPr wrap="square" rtlCol="0" anchor="ctr"/>
          <a:lstStyle/>
          <a:p>
            <a:pPr marL="0" indent="0">
              <a:buNone/>
            </a:pPr>
            <a:r>
              <a:rPr lang="en-US" sz="1300">
                <a:solidFill>
                  <a:srgbClr val="7A7974"/>
                </a:solidFill>
                <a:latin typeface="Calibri" pitchFamily="34" charset="0"/>
                <a:ea typeface="Calibri" pitchFamily="34" charset="-122"/>
                <a:cs typeface="Calibri" pitchFamily="34" charset="-120"/>
              </a:rPr>
              <a:t>blackbox tests</a:t>
            </a:r>
            <a:endParaRPr lang="en-US" sz="1300"/>
          </a:p>
        </p:txBody>
      </p:sp>
      <p:sp>
        <p:nvSpPr>
          <p:cNvPr id="16" name="Text 14"/>
          <p:cNvSpPr/>
          <p:nvPr/>
        </p:nvSpPr>
        <p:spPr>
          <a:xfrm>
            <a:off x="457200" y="6446520"/>
            <a:ext cx="9144000" cy="274320"/>
          </a:xfrm>
          <a:prstGeom prst="rect">
            <a:avLst/>
          </a:prstGeom>
          <a:noFill/>
          <a:ln/>
        </p:spPr>
        <p:txBody>
          <a:bodyPr wrap="square" rtlCol="0" anchor="ctr"/>
          <a:lstStyle/>
          <a:p>
            <a:pPr marL="0" indent="0">
              <a:buNone/>
            </a:pPr>
            <a:r>
              <a:rPr lang="en-US" sz="900">
                <a:solidFill>
                  <a:srgbClr val="7A7974"/>
                </a:solidFill>
                <a:latin typeface="Calibri" pitchFamily="34" charset="0"/>
                <a:ea typeface="Calibri" pitchFamily="34" charset="-122"/>
                <a:cs typeface="Calibri" pitchFamily="34" charset="-120"/>
              </a:rPr>
              <a:t>Systematic Testing of HERALDEXX/habit-tracker</a:t>
            </a:r>
            <a:r>
              <a:rPr lang="en-US" sz="900">
                <a:solidFill>
                  <a:srgbClr val="BAB9B4"/>
                </a:solidFill>
                <a:latin typeface="Calibri" pitchFamily="34" charset="0"/>
                <a:ea typeface="Calibri" pitchFamily="34" charset="-122"/>
                <a:cs typeface="Calibri" pitchFamily="34" charset="-120"/>
              </a:rPr>
              <a:t>   •   </a:t>
            </a:r>
            <a:r>
              <a:rPr lang="en-US" sz="900">
                <a:solidFill>
                  <a:srgbClr val="7A7974"/>
                </a:solidFill>
                <a:latin typeface="Calibri" pitchFamily="34" charset="0"/>
                <a:ea typeface="Calibri" pitchFamily="34" charset="-122"/>
                <a:cs typeface="Calibri" pitchFamily="34" charset="-120"/>
              </a:rPr>
              <a:t>CS422 Spring 2026</a:t>
            </a:r>
            <a:endParaRPr lang="en-US" sz="900"/>
          </a:p>
        </p:txBody>
      </p:sp>
      <p:sp>
        <p:nvSpPr>
          <p:cNvPr id="17" name="Text 15"/>
          <p:cNvSpPr/>
          <p:nvPr/>
        </p:nvSpPr>
        <p:spPr>
          <a:xfrm>
            <a:off x="10789920" y="6446520"/>
            <a:ext cx="914400" cy="274320"/>
          </a:xfrm>
          <a:prstGeom prst="rect">
            <a:avLst/>
          </a:prstGeom>
          <a:noFill/>
          <a:ln/>
        </p:spPr>
        <p:txBody>
          <a:bodyPr wrap="square" rtlCol="0" anchor="ctr"/>
          <a:lstStyle/>
          <a:p>
            <a:pPr marL="0" indent="0" algn="r">
              <a:buNone/>
            </a:pPr>
            <a:r>
              <a:rPr lang="en-US" sz="900">
                <a:solidFill>
                  <a:srgbClr val="7A7974"/>
                </a:solidFill>
                <a:latin typeface="Calibri" pitchFamily="34" charset="0"/>
                <a:ea typeface="Calibri" pitchFamily="34" charset="-122"/>
                <a:cs typeface="Calibri" pitchFamily="34" charset="-120"/>
              </a:rPr>
              <a:t>7 / 15</a:t>
            </a:r>
            <a:endParaRPr lang="en-US" sz="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rtlCol="0" anchor="ctr"/>
          <a:lstStyle/>
          <a:p>
            <a:pPr marL="0" indent="0">
              <a:buNone/>
            </a:pPr>
            <a:r>
              <a:rPr lang="en-US" sz="1100" b="1" kern="0" spc="200">
                <a:solidFill>
                  <a:srgbClr val="01696F"/>
                </a:solidFill>
                <a:latin typeface="Calibri" pitchFamily="34" charset="0"/>
                <a:ea typeface="Calibri" pitchFamily="34" charset="-122"/>
                <a:cs typeface="Calibri" pitchFamily="34" charset="-120"/>
              </a:rPr>
              <a:t>BLACKBOX</a:t>
            </a:r>
            <a:endParaRPr lang="en-US" sz="1100"/>
          </a:p>
        </p:txBody>
      </p:sp>
      <p:sp>
        <p:nvSpPr>
          <p:cNvPr id="3" name="Text 1"/>
          <p:cNvSpPr/>
          <p:nvPr/>
        </p:nvSpPr>
        <p:spPr>
          <a:xfrm>
            <a:off x="548640" y="731520"/>
            <a:ext cx="10972800" cy="731520"/>
          </a:xfrm>
          <a:prstGeom prst="rect">
            <a:avLst/>
          </a:prstGeom>
          <a:noFill/>
          <a:ln/>
        </p:spPr>
        <p:txBody>
          <a:bodyPr wrap="square" rtlCol="0" anchor="ctr"/>
          <a:lstStyle/>
          <a:p>
            <a:pPr marL="0" indent="0">
              <a:buNone/>
            </a:pPr>
            <a:r>
              <a:rPr lang="en-US" sz="3200" b="1">
                <a:solidFill>
                  <a:srgbClr val="28251D"/>
                </a:solidFill>
                <a:latin typeface="Calibri" pitchFamily="34" charset="0"/>
                <a:ea typeface="Calibri" pitchFamily="34" charset="-122"/>
                <a:cs typeface="Calibri" pitchFamily="34" charset="-120"/>
              </a:rPr>
              <a:t>Combinatorial &amp; Error-Guessing: --plot matrix</a:t>
            </a:r>
            <a:endParaRPr lang="en-US" sz="3200"/>
          </a:p>
        </p:txBody>
      </p:sp>
      <p:sp>
        <p:nvSpPr>
          <p:cNvPr id="4" name="Text 2"/>
          <p:cNvSpPr/>
          <p:nvPr/>
        </p:nvSpPr>
        <p:spPr>
          <a:xfrm>
            <a:off x="548640" y="1600200"/>
            <a:ext cx="11155680" cy="411480"/>
          </a:xfrm>
          <a:prstGeom prst="rect">
            <a:avLst/>
          </a:prstGeom>
          <a:noFill/>
          <a:ln/>
        </p:spPr>
        <p:txBody>
          <a:bodyPr wrap="square" rtlCol="0" anchor="ctr"/>
          <a:lstStyle/>
          <a:p>
            <a:pPr marL="0" indent="0">
              <a:buNone/>
            </a:pPr>
            <a:r>
              <a:rPr lang="en-US" sz="1200" i="1">
                <a:solidFill>
                  <a:srgbClr val="7A7974"/>
                </a:solidFill>
                <a:latin typeface="Calibri" pitchFamily="34" charset="0"/>
                <a:ea typeface="Calibri" pitchFamily="34" charset="-122"/>
                <a:cs typeface="Calibri" pitchFamily="34" charset="-120"/>
              </a:rPr>
              <a:t>Pairwise combinatorial coverage of --plot with every other CLI flag, plus negative/error-guessing cases.  Shown: 12 representative cases from the full 23-row matrix (IDs not sequential).</a:t>
            </a:r>
            <a:endParaRPr lang="en-US" sz="120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11109960" cy="3803904"/>
        </p:xfrm>
        <a:graphic>
          <a:graphicData uri="http://schemas.openxmlformats.org/drawingml/2006/table">
            <a:tbl>
              <a:tblPr/>
              <a:tblGrid>
                <a:gridCol w="5486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5989320">
                  <a:extLst>
                    <a:ext uri="{9D8B030D-6E8A-4147-A177-3AD203B41FA5}">
                      <a16:colId xmlns:a16="http://schemas.microsoft.com/office/drawing/2014/main" val="20003"/>
                    </a:ext>
                  </a:extLst>
                </a:gridCol>
              </a:tblGrid>
              <a:tr h="292608">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marL="0" indent="0">
                        <a:buNone/>
                      </a:pPr>
                      <a:r>
                        <a:rPr lang="en-US" sz="1100" b="1">
                          <a:solidFill>
                            <a:srgbClr val="FFFFFF"/>
                          </a:solidFill>
                          <a:latin typeface="Calibri" pitchFamily="34" charset="0"/>
                          <a:ea typeface="Calibri" pitchFamily="34" charset="-122"/>
                          <a:cs typeface="Calibri" pitchFamily="34" charset="-120"/>
                        </a:rPr>
                        <a:t>Flag 1</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marL="0" indent="0">
                        <a:buNone/>
                      </a:pPr>
                      <a:r>
                        <a:rPr lang="en-US" sz="1100" b="1">
                          <a:solidFill>
                            <a:srgbClr val="FFFFFF"/>
                          </a:solidFill>
                          <a:latin typeface="Calibri" pitchFamily="34" charset="0"/>
                          <a:ea typeface="Calibri" pitchFamily="34" charset="-122"/>
                          <a:cs typeface="Calibri" pitchFamily="34" charset="-120"/>
                        </a:rPr>
                        <a:t>Flag 2</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marL="0" indent="0">
                        <a:buNone/>
                      </a:pPr>
                      <a:r>
                        <a:rPr lang="en-US" sz="1100" b="1">
                          <a:solidFill>
                            <a:srgbClr val="FFFFFF"/>
                          </a:solidFill>
                          <a:latin typeface="Calibri" pitchFamily="34" charset="0"/>
                          <a:ea typeface="Calibri" pitchFamily="34" charset="-122"/>
                          <a:cs typeface="Calibri" pitchFamily="34" charset="-120"/>
                        </a:rPr>
                        <a:t>Expected outcome</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extLst>
                  <a:ext uri="{0D108BD9-81ED-4DB2-BD59-A6C34878D82A}">
                    <a16:rowId xmlns:a16="http://schemas.microsoft.com/office/drawing/2014/main" val="10000"/>
                  </a:ext>
                </a:extLst>
              </a:tr>
              <a:tr h="292608">
                <a:tc>
                  <a:txBody>
                    <a:bodyPr/>
                    <a:lstStyle/>
                    <a:p>
                      <a:pPr marL="0" indent="0" algn="ctr">
                        <a:buNone/>
                      </a:pPr>
                      <a:r>
                        <a:rPr lang="en-US" sz="1100">
                          <a:solidFill>
                            <a:srgbClr val="7A7974"/>
                          </a:solidFill>
                          <a:latin typeface="Calibri" pitchFamily="34" charset="0"/>
                          <a:ea typeface="Calibri" pitchFamily="34" charset="-122"/>
                          <a:cs typeface="Calibri" pitchFamily="34" charset="-120"/>
                        </a:rPr>
                        <a:t>1</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--plot</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(none)</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buNone/>
                      </a:pPr>
                      <a:r>
                        <a:rPr lang="en-US" sz="1100">
                          <a:solidFill>
                            <a:srgbClr val="28251D"/>
                          </a:solidFill>
                          <a:latin typeface="Calibri" pitchFamily="34" charset="0"/>
                          <a:ea typeface="Calibri" pitchFamily="34" charset="-122"/>
                          <a:cs typeface="Calibri" pitchFamily="34" charset="-120"/>
                        </a:rPr>
                        <a:t>Prompts for habit; generates PNG</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extLst>
                  <a:ext uri="{0D108BD9-81ED-4DB2-BD59-A6C34878D82A}">
                    <a16:rowId xmlns:a16="http://schemas.microsoft.com/office/drawing/2014/main" val="10001"/>
                  </a:ext>
                </a:extLst>
              </a:tr>
              <a:tr h="292608">
                <a:tc>
                  <a:txBody>
                    <a:bodyPr/>
                    <a:lstStyle/>
                    <a:p>
                      <a:pPr marL="0" indent="0" algn="ctr">
                        <a:buNone/>
                      </a:pPr>
                      <a:r>
                        <a:rPr lang="en-US" sz="1100">
                          <a:solidFill>
                            <a:srgbClr val="7A7974"/>
                          </a:solidFill>
                          <a:latin typeface="Calibri" pitchFamily="34" charset="0"/>
                          <a:ea typeface="Calibri" pitchFamily="34" charset="-122"/>
                          <a:cs typeface="Calibri" pitchFamily="34" charset="-120"/>
                        </a:rPr>
                        <a:t>3</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--plot</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--cli</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buNone/>
                      </a:pPr>
                      <a:r>
                        <a:rPr lang="en-US" sz="1100">
                          <a:solidFill>
                            <a:srgbClr val="28251D"/>
                          </a:solidFill>
                          <a:latin typeface="Calibri" pitchFamily="34" charset="0"/>
                          <a:ea typeface="Calibri" pitchFamily="34" charset="-122"/>
                          <a:cs typeface="Calibri" pitchFamily="34" charset="-120"/>
                        </a:rPr>
                        <a:t>--cli stripped; plot runs</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extLst>
                  <a:ext uri="{0D108BD9-81ED-4DB2-BD59-A6C34878D82A}">
                    <a16:rowId xmlns:a16="http://schemas.microsoft.com/office/drawing/2014/main" val="10002"/>
                  </a:ext>
                </a:extLst>
              </a:tr>
              <a:tr h="292608">
                <a:tc>
                  <a:txBody>
                    <a:bodyPr/>
                    <a:lstStyle/>
                    <a:p>
                      <a:pPr marL="0" indent="0" algn="ctr">
                        <a:buNone/>
                      </a:pPr>
                      <a:r>
                        <a:rPr lang="en-US" sz="1100">
                          <a:solidFill>
                            <a:srgbClr val="7A7974"/>
                          </a:solidFill>
                          <a:latin typeface="Calibri" pitchFamily="34" charset="0"/>
                          <a:ea typeface="Calibri" pitchFamily="34" charset="-122"/>
                          <a:cs typeface="Calibri" pitchFamily="34" charset="-120"/>
                        </a:rPr>
                        <a:t>4</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--plot</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--reset</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buNone/>
                      </a:pPr>
                      <a:r>
                        <a:rPr lang="en-US" sz="1100">
                          <a:solidFill>
                            <a:srgbClr val="28251D"/>
                          </a:solidFill>
                          <a:latin typeface="Calibri" pitchFamily="34" charset="0"/>
                          <a:ea typeface="Calibri" pitchFamily="34" charset="-122"/>
                          <a:cs typeface="Calibri" pitchFamily="34" charset="-120"/>
                        </a:rPr>
                        <a:t>argv[1]=--plot; only plot processed</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extLst>
                  <a:ext uri="{0D108BD9-81ED-4DB2-BD59-A6C34878D82A}">
                    <a16:rowId xmlns:a16="http://schemas.microsoft.com/office/drawing/2014/main" val="10003"/>
                  </a:ext>
                </a:extLst>
              </a:tr>
              <a:tr h="292608">
                <a:tc>
                  <a:txBody>
                    <a:bodyPr/>
                    <a:lstStyle/>
                    <a:p>
                      <a:pPr marL="0" indent="0" algn="ctr">
                        <a:buNone/>
                      </a:pPr>
                      <a:r>
                        <a:rPr lang="en-US" sz="1100">
                          <a:solidFill>
                            <a:srgbClr val="7A7974"/>
                          </a:solidFill>
                          <a:latin typeface="Calibri" pitchFamily="34" charset="0"/>
                          <a:ea typeface="Calibri" pitchFamily="34" charset="-122"/>
                          <a:cs typeface="Calibri" pitchFamily="34" charset="-120"/>
                        </a:rPr>
                        <a:t>5</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--reset</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--plot</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buNone/>
                      </a:pPr>
                      <a:r>
                        <a:rPr lang="en-US" sz="1100">
                          <a:solidFill>
                            <a:srgbClr val="28251D"/>
                          </a:solidFill>
                          <a:latin typeface="Calibri" pitchFamily="34" charset="0"/>
                          <a:ea typeface="Calibri" pitchFamily="34" charset="-122"/>
                          <a:cs typeface="Calibri" pitchFamily="34" charset="-120"/>
                        </a:rPr>
                        <a:t>argv[1]=--reset; data wiped</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extLst>
                  <a:ext uri="{0D108BD9-81ED-4DB2-BD59-A6C34878D82A}">
                    <a16:rowId xmlns:a16="http://schemas.microsoft.com/office/drawing/2014/main" val="10004"/>
                  </a:ext>
                </a:extLst>
              </a:tr>
              <a:tr h="292608">
                <a:tc>
                  <a:txBody>
                    <a:bodyPr/>
                    <a:lstStyle/>
                    <a:p>
                      <a:pPr marL="0" indent="0" algn="ctr">
                        <a:buNone/>
                      </a:pPr>
                      <a:r>
                        <a:rPr lang="en-US" sz="1100">
                          <a:solidFill>
                            <a:srgbClr val="7A7974"/>
                          </a:solidFill>
                          <a:latin typeface="Calibri" pitchFamily="34" charset="0"/>
                          <a:ea typeface="Calibri" pitchFamily="34" charset="-122"/>
                          <a:cs typeface="Calibri" pitchFamily="34" charset="-120"/>
                        </a:rPr>
                        <a:t>7</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--view-logs</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--plot</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buNone/>
                      </a:pPr>
                      <a:r>
                        <a:rPr lang="en-US" sz="1100">
                          <a:solidFill>
                            <a:srgbClr val="28251D"/>
                          </a:solidFill>
                          <a:latin typeface="Calibri" pitchFamily="34" charset="0"/>
                          <a:ea typeface="Calibri" pitchFamily="34" charset="-122"/>
                          <a:cs typeface="Calibri" pitchFamily="34" charset="-120"/>
                        </a:rPr>
                        <a:t>Logs displayed; plot ignored</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extLst>
                  <a:ext uri="{0D108BD9-81ED-4DB2-BD59-A6C34878D82A}">
                    <a16:rowId xmlns:a16="http://schemas.microsoft.com/office/drawing/2014/main" val="10005"/>
                  </a:ext>
                </a:extLst>
              </a:tr>
              <a:tr h="292608">
                <a:tc>
                  <a:txBody>
                    <a:bodyPr/>
                    <a:lstStyle/>
                    <a:p>
                      <a:pPr marL="0" indent="0" algn="ctr">
                        <a:buNone/>
                      </a:pPr>
                      <a:r>
                        <a:rPr lang="en-US" sz="1100">
                          <a:solidFill>
                            <a:srgbClr val="7A7974"/>
                          </a:solidFill>
                          <a:latin typeface="Calibri" pitchFamily="34" charset="0"/>
                          <a:ea typeface="Calibri" pitchFamily="34" charset="-122"/>
                          <a:cs typeface="Calibri" pitchFamily="34" charset="-120"/>
                        </a:rPr>
                        <a:t>9</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--clear-logs</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--plot</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buNone/>
                      </a:pPr>
                      <a:r>
                        <a:rPr lang="en-US" sz="1100">
                          <a:solidFill>
                            <a:srgbClr val="28251D"/>
                          </a:solidFill>
                          <a:latin typeface="Calibri" pitchFamily="34" charset="0"/>
                          <a:ea typeface="Calibri" pitchFamily="34" charset="-122"/>
                          <a:cs typeface="Calibri" pitchFamily="34" charset="-120"/>
                        </a:rPr>
                        <a:t>Logs cleared; plot ignored</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extLst>
                  <a:ext uri="{0D108BD9-81ED-4DB2-BD59-A6C34878D82A}">
                    <a16:rowId xmlns:a16="http://schemas.microsoft.com/office/drawing/2014/main" val="10006"/>
                  </a:ext>
                </a:extLst>
              </a:tr>
              <a:tr h="292608">
                <a:tc>
                  <a:txBody>
                    <a:bodyPr/>
                    <a:lstStyle/>
                    <a:p>
                      <a:pPr marL="0" indent="0" algn="ctr">
                        <a:buNone/>
                      </a:pPr>
                      <a:r>
                        <a:rPr lang="en-US" sz="1100">
                          <a:solidFill>
                            <a:srgbClr val="7A7974"/>
                          </a:solidFill>
                          <a:latin typeface="Calibri" pitchFamily="34" charset="0"/>
                          <a:ea typeface="Calibri" pitchFamily="34" charset="-122"/>
                          <a:cs typeface="Calibri" pitchFamily="34" charset="-120"/>
                        </a:rPr>
                        <a:t>16</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--plot</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--plot</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buNone/>
                      </a:pPr>
                      <a:r>
                        <a:rPr lang="en-US" sz="1100">
                          <a:solidFill>
                            <a:srgbClr val="28251D"/>
                          </a:solidFill>
                          <a:latin typeface="Calibri" pitchFamily="34" charset="0"/>
                          <a:ea typeface="Calibri" pitchFamily="34" charset="-122"/>
                          <a:cs typeface="Calibri" pitchFamily="34" charset="-120"/>
                        </a:rPr>
                        <a:t>Duplicate flag; processed once</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extLst>
                  <a:ext uri="{0D108BD9-81ED-4DB2-BD59-A6C34878D82A}">
                    <a16:rowId xmlns:a16="http://schemas.microsoft.com/office/drawing/2014/main" val="10007"/>
                  </a:ext>
                </a:extLst>
              </a:tr>
              <a:tr h="292608">
                <a:tc>
                  <a:txBody>
                    <a:bodyPr/>
                    <a:lstStyle/>
                    <a:p>
                      <a:pPr marL="0" indent="0" algn="ctr">
                        <a:buNone/>
                      </a:pPr>
                      <a:r>
                        <a:rPr lang="en-US" sz="1100">
                          <a:solidFill>
                            <a:srgbClr val="7A7974"/>
                          </a:solidFill>
                          <a:latin typeface="Calibri" pitchFamily="34" charset="0"/>
                          <a:ea typeface="Calibri" pitchFamily="34" charset="-122"/>
                          <a:cs typeface="Calibri" pitchFamily="34" charset="-120"/>
                        </a:rPr>
                        <a:t>17</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--plot</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(no habits)</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buNone/>
                      </a:pPr>
                      <a:r>
                        <a:rPr lang="en-US" sz="1100">
                          <a:solidFill>
                            <a:srgbClr val="28251D"/>
                          </a:solidFill>
                          <a:latin typeface="Calibri" pitchFamily="34" charset="0"/>
                          <a:ea typeface="Calibri" pitchFamily="34" charset="-122"/>
                          <a:cs typeface="Calibri" pitchFamily="34" charset="-120"/>
                        </a:rPr>
                        <a:t>Exit 1: No habits found</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extLst>
                  <a:ext uri="{0D108BD9-81ED-4DB2-BD59-A6C34878D82A}">
                    <a16:rowId xmlns:a16="http://schemas.microsoft.com/office/drawing/2014/main" val="10008"/>
                  </a:ext>
                </a:extLst>
              </a:tr>
              <a:tr h="292608">
                <a:tc>
                  <a:txBody>
                    <a:bodyPr/>
                    <a:lstStyle/>
                    <a:p>
                      <a:pPr marL="0" indent="0" algn="ctr">
                        <a:buNone/>
                      </a:pPr>
                      <a:r>
                        <a:rPr lang="en-US" sz="1100">
                          <a:solidFill>
                            <a:srgbClr val="7A7974"/>
                          </a:solidFill>
                          <a:latin typeface="Calibri" pitchFamily="34" charset="0"/>
                          <a:ea typeface="Calibri" pitchFamily="34" charset="-122"/>
                          <a:cs typeface="Calibri" pitchFamily="34" charset="-120"/>
                        </a:rPr>
                        <a:t>18</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--plot</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(no logs)</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buNone/>
                      </a:pPr>
                      <a:r>
                        <a:rPr lang="en-US" sz="1100">
                          <a:solidFill>
                            <a:srgbClr val="28251D"/>
                          </a:solidFill>
                          <a:latin typeface="Calibri" pitchFamily="34" charset="0"/>
                          <a:ea typeface="Calibri" pitchFamily="34" charset="-122"/>
                          <a:cs typeface="Calibri" pitchFamily="34" charset="-120"/>
                        </a:rPr>
                        <a:t>Exit 1: No tracking data</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extLst>
                  <a:ext uri="{0D108BD9-81ED-4DB2-BD59-A6C34878D82A}">
                    <a16:rowId xmlns:a16="http://schemas.microsoft.com/office/drawing/2014/main" val="10009"/>
                  </a:ext>
                </a:extLst>
              </a:tr>
              <a:tr h="292608">
                <a:tc>
                  <a:txBody>
                    <a:bodyPr/>
                    <a:lstStyle/>
                    <a:p>
                      <a:pPr marL="0" indent="0" algn="ctr">
                        <a:buNone/>
                      </a:pPr>
                      <a:r>
                        <a:rPr lang="en-US" sz="1100">
                          <a:solidFill>
                            <a:srgbClr val="7A7974"/>
                          </a:solidFill>
                          <a:latin typeface="Calibri" pitchFamily="34" charset="0"/>
                          <a:ea typeface="Calibri" pitchFamily="34" charset="-122"/>
                          <a:cs typeface="Calibri" pitchFamily="34" charset="-120"/>
                        </a:rPr>
                        <a:t>19</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--plot</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(bad input)</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buNone/>
                      </a:pPr>
                      <a:r>
                        <a:rPr lang="en-US" sz="1100">
                          <a:solidFill>
                            <a:srgbClr val="28251D"/>
                          </a:solidFill>
                          <a:latin typeface="Calibri" pitchFamily="34" charset="0"/>
                          <a:ea typeface="Calibri" pitchFamily="34" charset="-122"/>
                          <a:cs typeface="Calibri" pitchFamily="34" charset="-120"/>
                        </a:rPr>
                        <a:t>Exit 1: Invalid input</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extLst>
                  <a:ext uri="{0D108BD9-81ED-4DB2-BD59-A6C34878D82A}">
                    <a16:rowId xmlns:a16="http://schemas.microsoft.com/office/drawing/2014/main" val="10010"/>
                  </a:ext>
                </a:extLst>
              </a:tr>
              <a:tr h="292608">
                <a:tc>
                  <a:txBody>
                    <a:bodyPr/>
                    <a:lstStyle/>
                    <a:p>
                      <a:pPr marL="0" indent="0" algn="ctr">
                        <a:buNone/>
                      </a:pPr>
                      <a:r>
                        <a:rPr lang="en-US" sz="1100">
                          <a:solidFill>
                            <a:srgbClr val="7A7974"/>
                          </a:solidFill>
                          <a:latin typeface="Calibri" pitchFamily="34" charset="0"/>
                          <a:ea typeface="Calibri" pitchFamily="34" charset="-122"/>
                          <a:cs typeface="Calibri" pitchFamily="34" charset="-120"/>
                        </a:rPr>
                        <a:t>20</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--plot</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(out of range)</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buNone/>
                      </a:pPr>
                      <a:r>
                        <a:rPr lang="en-US" sz="1100">
                          <a:solidFill>
                            <a:srgbClr val="28251D"/>
                          </a:solidFill>
                          <a:latin typeface="Calibri" pitchFamily="34" charset="0"/>
                          <a:ea typeface="Calibri" pitchFamily="34" charset="-122"/>
                          <a:cs typeface="Calibri" pitchFamily="34" charset="-120"/>
                        </a:rPr>
                        <a:t>Exit 1: Invalid habit number</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extLst>
                  <a:ext uri="{0D108BD9-81ED-4DB2-BD59-A6C34878D82A}">
                    <a16:rowId xmlns:a16="http://schemas.microsoft.com/office/drawing/2014/main" val="10011"/>
                  </a:ext>
                </a:extLst>
              </a:tr>
              <a:tr h="292608">
                <a:tc>
                  <a:txBody>
                    <a:bodyPr/>
                    <a:lstStyle/>
                    <a:p>
                      <a:pPr marL="0" indent="0" algn="ctr">
                        <a:buNone/>
                      </a:pPr>
                      <a:r>
                        <a:rPr lang="en-US" sz="1100">
                          <a:solidFill>
                            <a:srgbClr val="7A7974"/>
                          </a:solidFill>
                          <a:latin typeface="Calibri" pitchFamily="34" charset="0"/>
                          <a:ea typeface="Calibri" pitchFamily="34" charset="-122"/>
                          <a:cs typeface="Calibri" pitchFamily="34" charset="-120"/>
                        </a:rPr>
                        <a:t>23</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--gui</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--plot</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buNone/>
                      </a:pPr>
                      <a:r>
                        <a:rPr lang="en-US" sz="1100">
                          <a:solidFill>
                            <a:srgbClr val="28251D"/>
                          </a:solidFill>
                          <a:latin typeface="Calibri" pitchFamily="34" charset="0"/>
                          <a:ea typeface="Calibri" pitchFamily="34" charset="-122"/>
                          <a:cs typeface="Calibri" pitchFamily="34" charset="-120"/>
                        </a:rPr>
                        <a:t>GUI mode; --plot ignored</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extLst>
                  <a:ext uri="{0D108BD9-81ED-4DB2-BD59-A6C34878D82A}">
                    <a16:rowId xmlns:a16="http://schemas.microsoft.com/office/drawing/2014/main" val="10012"/>
                  </a:ext>
                </a:extLst>
              </a:tr>
            </a:tbl>
          </a:graphicData>
        </a:graphic>
      </p:graphicFrame>
      <p:sp>
        <p:nvSpPr>
          <p:cNvPr id="6" name="Text 3"/>
          <p:cNvSpPr/>
          <p:nvPr/>
        </p:nvSpPr>
        <p:spPr>
          <a:xfrm>
            <a:off x="548640" y="6172200"/>
            <a:ext cx="11155680" cy="274320"/>
          </a:xfrm>
          <a:prstGeom prst="rect">
            <a:avLst/>
          </a:prstGeom>
          <a:noFill/>
          <a:ln/>
        </p:spPr>
        <p:txBody>
          <a:bodyPr wrap="square" rtlCol="0" anchor="ctr"/>
          <a:lstStyle/>
          <a:p>
            <a:pPr marL="0" indent="0">
              <a:buNone/>
            </a:pPr>
            <a:r>
              <a:rPr lang="en-US" sz="1000" i="1">
                <a:solidFill>
                  <a:srgbClr val="7A7974"/>
                </a:solidFill>
                <a:latin typeface="Calibri" pitchFamily="34" charset="0"/>
                <a:ea typeface="Calibri" pitchFamily="34" charset="-122"/>
                <a:cs typeface="Calibri" pitchFamily="34" charset="-120"/>
              </a:rPr>
              <a:t>Full 23-case matrix in tests/blackbox/test_plot_combinatorial.py; also exercises EG cases (missing data, corrupted files, bad input).</a:t>
            </a:r>
            <a:endParaRPr lang="en-US" sz="1000"/>
          </a:p>
        </p:txBody>
      </p:sp>
      <p:sp>
        <p:nvSpPr>
          <p:cNvPr id="7" name="Text 4"/>
          <p:cNvSpPr/>
          <p:nvPr/>
        </p:nvSpPr>
        <p:spPr>
          <a:xfrm>
            <a:off x="457200" y="6446520"/>
            <a:ext cx="9144000" cy="274320"/>
          </a:xfrm>
          <a:prstGeom prst="rect">
            <a:avLst/>
          </a:prstGeom>
          <a:noFill/>
          <a:ln/>
        </p:spPr>
        <p:txBody>
          <a:bodyPr wrap="square" rtlCol="0" anchor="ctr"/>
          <a:lstStyle/>
          <a:p>
            <a:pPr marL="0" indent="0">
              <a:buNone/>
            </a:pPr>
            <a:r>
              <a:rPr lang="en-US" sz="900">
                <a:solidFill>
                  <a:srgbClr val="7A7974"/>
                </a:solidFill>
                <a:latin typeface="Calibri" pitchFamily="34" charset="0"/>
                <a:ea typeface="Calibri" pitchFamily="34" charset="-122"/>
                <a:cs typeface="Calibri" pitchFamily="34" charset="-120"/>
              </a:rPr>
              <a:t>Systematic Testing of HERALDEXX/habit-tracker</a:t>
            </a:r>
            <a:r>
              <a:rPr lang="en-US" sz="900">
                <a:solidFill>
                  <a:srgbClr val="BAB9B4"/>
                </a:solidFill>
                <a:latin typeface="Calibri" pitchFamily="34" charset="0"/>
                <a:ea typeface="Calibri" pitchFamily="34" charset="-122"/>
                <a:cs typeface="Calibri" pitchFamily="34" charset="-120"/>
              </a:rPr>
              <a:t>   •   </a:t>
            </a:r>
            <a:r>
              <a:rPr lang="en-US" sz="900">
                <a:solidFill>
                  <a:srgbClr val="7A7974"/>
                </a:solidFill>
                <a:latin typeface="Calibri" pitchFamily="34" charset="0"/>
                <a:ea typeface="Calibri" pitchFamily="34" charset="-122"/>
                <a:cs typeface="Calibri" pitchFamily="34" charset="-120"/>
              </a:rPr>
              <a:t>CS422 Spring 2026</a:t>
            </a:r>
            <a:endParaRPr lang="en-US" sz="900"/>
          </a:p>
        </p:txBody>
      </p:sp>
      <p:sp>
        <p:nvSpPr>
          <p:cNvPr id="8" name="Text 5"/>
          <p:cNvSpPr/>
          <p:nvPr/>
        </p:nvSpPr>
        <p:spPr>
          <a:xfrm>
            <a:off x="10789920" y="6446520"/>
            <a:ext cx="914400" cy="274320"/>
          </a:xfrm>
          <a:prstGeom prst="rect">
            <a:avLst/>
          </a:prstGeom>
          <a:noFill/>
          <a:ln/>
        </p:spPr>
        <p:txBody>
          <a:bodyPr wrap="square" rtlCol="0" anchor="ctr"/>
          <a:lstStyle/>
          <a:p>
            <a:pPr marL="0" indent="0" algn="r">
              <a:buNone/>
            </a:pPr>
            <a:r>
              <a:rPr lang="en-US" sz="900">
                <a:solidFill>
                  <a:srgbClr val="7A7974"/>
                </a:solidFill>
                <a:latin typeface="Calibri" pitchFamily="34" charset="0"/>
                <a:ea typeface="Calibri" pitchFamily="34" charset="-122"/>
                <a:cs typeface="Calibri" pitchFamily="34" charset="-120"/>
              </a:rPr>
              <a:t>8 / 15</a:t>
            </a:r>
            <a:endParaRPr lang="en-US" sz="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rtlCol="0" anchor="ctr"/>
          <a:lstStyle/>
          <a:p>
            <a:pPr marL="0" indent="0">
              <a:buNone/>
            </a:pPr>
            <a:r>
              <a:rPr lang="en-US" sz="1100" b="1" kern="0" spc="200">
                <a:solidFill>
                  <a:srgbClr val="01696F"/>
                </a:solidFill>
                <a:latin typeface="Calibri" pitchFamily="34" charset="0"/>
                <a:ea typeface="Calibri" pitchFamily="34" charset="-122"/>
                <a:cs typeface="Calibri" pitchFamily="34" charset="-120"/>
              </a:rPr>
              <a:t>WHITEBOX</a:t>
            </a:r>
            <a:endParaRPr lang="en-US" sz="1100"/>
          </a:p>
        </p:txBody>
      </p:sp>
      <p:sp>
        <p:nvSpPr>
          <p:cNvPr id="3" name="Text 1"/>
          <p:cNvSpPr/>
          <p:nvPr/>
        </p:nvSpPr>
        <p:spPr>
          <a:xfrm>
            <a:off x="548640" y="731520"/>
            <a:ext cx="10972800" cy="731520"/>
          </a:xfrm>
          <a:prstGeom prst="rect">
            <a:avLst/>
          </a:prstGeom>
          <a:noFill/>
          <a:ln/>
        </p:spPr>
        <p:txBody>
          <a:bodyPr wrap="square" rtlCol="0" anchor="ctr"/>
          <a:lstStyle/>
          <a:p>
            <a:pPr marL="0" indent="0">
              <a:buNone/>
            </a:pPr>
            <a:r>
              <a:rPr lang="en-US" sz="3200" b="1">
                <a:solidFill>
                  <a:srgbClr val="28251D"/>
                </a:solidFill>
                <a:latin typeface="Calibri" pitchFamily="34" charset="0"/>
                <a:ea typeface="Calibri" pitchFamily="34" charset="-122"/>
                <a:cs typeface="Calibri" pitchFamily="34" charset="-120"/>
              </a:rPr>
              <a:t>Branch coverage on non-GUI logic — target ≥ 85%</a:t>
            </a:r>
            <a:endParaRPr lang="en-US" sz="320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7589520" cy="2667000"/>
        </p:xfrm>
        <a:graphic>
          <a:graphicData uri="http://schemas.openxmlformats.org/drawingml/2006/table">
            <a:tbl>
              <a:tblPr/>
              <a:tblGrid>
                <a:gridCol w="310896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tblGrid>
              <a:tr h="320040">
                <a:tc>
                  <a:txBody>
                    <a:bodyPr/>
                    <a:lstStyle/>
                    <a:p>
                      <a:pPr marL="0" indent="0" algn="l">
                        <a:buNone/>
                      </a:pPr>
                      <a:r>
                        <a:rPr lang="en-US" sz="1100" b="1">
                          <a:solidFill>
                            <a:srgbClr val="FFFFFF"/>
                          </a:solidFill>
                          <a:latin typeface="Calibri" pitchFamily="34" charset="0"/>
                          <a:ea typeface="Calibri" pitchFamily="34" charset="-122"/>
                          <a:cs typeface="Calibri" pitchFamily="34" charset="-120"/>
                        </a:rPr>
                        <a:t>Module</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Stmts</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Miss</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Branch</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BrPart</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Cover</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extLst>
                  <a:ext uri="{0D108BD9-81ED-4DB2-BD59-A6C34878D82A}">
                    <a16:rowId xmlns:a16="http://schemas.microsoft.com/office/drawing/2014/main" val="10000"/>
                  </a:ext>
                </a:extLst>
              </a:tr>
              <a:tr h="320040">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habit_engine/__init__.py</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14</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0</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0</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0</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lgn="ctr">
                        <a:buNone/>
                      </a:pPr>
                      <a:r>
                        <a:rPr lang="en-US" sz="1100" b="1">
                          <a:solidFill>
                            <a:srgbClr val="437A22"/>
                          </a:solidFill>
                          <a:latin typeface="Calibri" pitchFamily="34" charset="0"/>
                          <a:ea typeface="Calibri" pitchFamily="34" charset="-122"/>
                          <a:cs typeface="Calibri" pitchFamily="34" charset="-120"/>
                        </a:rPr>
                        <a:t>100%</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extLst>
                  <a:ext uri="{0D108BD9-81ED-4DB2-BD59-A6C34878D82A}">
                    <a16:rowId xmlns:a16="http://schemas.microsoft.com/office/drawing/2014/main" val="10001"/>
                  </a:ext>
                </a:extLst>
              </a:tr>
              <a:tr h="320040">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habit_engine/habit_display.py</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63</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0</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16</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0</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lgn="ctr">
                        <a:buNone/>
                      </a:pPr>
                      <a:r>
                        <a:rPr lang="en-US" sz="1100" b="1">
                          <a:solidFill>
                            <a:srgbClr val="437A22"/>
                          </a:solidFill>
                          <a:latin typeface="Calibri" pitchFamily="34" charset="0"/>
                          <a:ea typeface="Calibri" pitchFamily="34" charset="-122"/>
                          <a:cs typeface="Calibri" pitchFamily="34" charset="-120"/>
                        </a:rPr>
                        <a:t>100%</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extLst>
                  <a:ext uri="{0D108BD9-81ED-4DB2-BD59-A6C34878D82A}">
                    <a16:rowId xmlns:a16="http://schemas.microsoft.com/office/drawing/2014/main" val="10002"/>
                  </a:ext>
                </a:extLst>
              </a:tr>
              <a:tr h="320040">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habit_engine/habit_io.py</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230</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6</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62</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3</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lgn="ctr">
                        <a:buNone/>
                      </a:pPr>
                      <a:r>
                        <a:rPr lang="en-US" sz="1100" b="1">
                          <a:solidFill>
                            <a:srgbClr val="437A22"/>
                          </a:solidFill>
                          <a:latin typeface="Calibri" pitchFamily="34" charset="0"/>
                          <a:ea typeface="Calibri" pitchFamily="34" charset="-122"/>
                          <a:cs typeface="Calibri" pitchFamily="34" charset="-120"/>
                        </a:rPr>
                        <a:t>97%</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extLst>
                  <a:ext uri="{0D108BD9-81ED-4DB2-BD59-A6C34878D82A}">
                    <a16:rowId xmlns:a16="http://schemas.microsoft.com/office/drawing/2014/main" val="10003"/>
                  </a:ext>
                </a:extLst>
              </a:tr>
              <a:tr h="320040">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habit_engine/habit_logic.py</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117</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0</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64</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0</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lgn="ctr">
                        <a:buNone/>
                      </a:pPr>
                      <a:r>
                        <a:rPr lang="en-US" sz="1100" b="1">
                          <a:solidFill>
                            <a:srgbClr val="437A22"/>
                          </a:solidFill>
                          <a:latin typeface="Calibri" pitchFamily="34" charset="0"/>
                          <a:ea typeface="Calibri" pitchFamily="34" charset="-122"/>
                          <a:cs typeface="Calibri" pitchFamily="34" charset="-120"/>
                        </a:rPr>
                        <a:t>100%</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extLst>
                  <a:ext uri="{0D108BD9-81ED-4DB2-BD59-A6C34878D82A}">
                    <a16:rowId xmlns:a16="http://schemas.microsoft.com/office/drawing/2014/main" val="10004"/>
                  </a:ext>
                </a:extLst>
              </a:tr>
              <a:tr h="320040">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habit_engine/habit_setup.py</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47</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0</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14</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1</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lgn="ctr">
                        <a:buNone/>
                      </a:pPr>
                      <a:r>
                        <a:rPr lang="en-US" sz="1100" b="1">
                          <a:solidFill>
                            <a:srgbClr val="437A22"/>
                          </a:solidFill>
                          <a:latin typeface="Calibri" pitchFamily="34" charset="0"/>
                          <a:ea typeface="Calibri" pitchFamily="34" charset="-122"/>
                          <a:cs typeface="Calibri" pitchFamily="34" charset="-120"/>
                        </a:rPr>
                        <a:t>98%</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extLst>
                  <a:ext uri="{0D108BD9-81ED-4DB2-BD59-A6C34878D82A}">
                    <a16:rowId xmlns:a16="http://schemas.microsoft.com/office/drawing/2014/main" val="10005"/>
                  </a:ext>
                </a:extLst>
              </a:tr>
              <a:tr h="320040">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habit_engine/habit_visualization.py</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138</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19</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44</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4</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lgn="ctr">
                        <a:buNone/>
                      </a:pPr>
                      <a:r>
                        <a:rPr lang="en-US" sz="1100" b="1">
                          <a:solidFill>
                            <a:srgbClr val="437A22"/>
                          </a:solidFill>
                          <a:latin typeface="Calibri" pitchFamily="34" charset="0"/>
                          <a:ea typeface="Calibri" pitchFamily="34" charset="-122"/>
                          <a:cs typeface="Calibri" pitchFamily="34" charset="-120"/>
                        </a:rPr>
                        <a:t>87%</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extLst>
                  <a:ext uri="{0D108BD9-81ED-4DB2-BD59-A6C34878D82A}">
                    <a16:rowId xmlns:a16="http://schemas.microsoft.com/office/drawing/2014/main" val="10006"/>
                  </a:ext>
                </a:extLst>
              </a:tr>
              <a:tr h="320040">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habit_engine/gui.py  (alternate)</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1638</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994</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350</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lgn="ctr">
                        <a:buNone/>
                      </a:pPr>
                      <a:r>
                        <a:rPr lang="en-US" sz="1100">
                          <a:solidFill>
                            <a:srgbClr val="28251D"/>
                          </a:solidFill>
                          <a:latin typeface="Calibri" pitchFamily="34" charset="0"/>
                          <a:ea typeface="Calibri" pitchFamily="34" charset="-122"/>
                          <a:cs typeface="Calibri" pitchFamily="34" charset="-120"/>
                        </a:rPr>
                        <a:t>43</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lgn="ctr">
                        <a:buNone/>
                      </a:pPr>
                      <a:r>
                        <a:rPr lang="en-US" sz="1100" b="1">
                          <a:solidFill>
                            <a:srgbClr val="964219"/>
                          </a:solidFill>
                          <a:latin typeface="Calibri" pitchFamily="34" charset="0"/>
                          <a:ea typeface="Calibri" pitchFamily="34" charset="-122"/>
                          <a:cs typeface="Calibri" pitchFamily="34" charset="-120"/>
                        </a:rPr>
                        <a:t>37%</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extLst>
                  <a:ext uri="{0D108BD9-81ED-4DB2-BD59-A6C34878D82A}">
                    <a16:rowId xmlns:a16="http://schemas.microsoft.com/office/drawing/2014/main" val="10007"/>
                  </a:ext>
                </a:extLst>
              </a:tr>
            </a:tbl>
          </a:graphicData>
        </a:graphic>
      </p:graphicFrame>
      <p:sp>
        <p:nvSpPr>
          <p:cNvPr id="5" name="Shape 2"/>
          <p:cNvSpPr/>
          <p:nvPr/>
        </p:nvSpPr>
        <p:spPr>
          <a:xfrm>
            <a:off x="8321040" y="1691640"/>
            <a:ext cx="3337560" cy="2103120"/>
          </a:xfrm>
          <a:prstGeom prst="rect">
            <a:avLst/>
          </a:prstGeom>
          <a:solidFill>
            <a:srgbClr val="E3F0F1"/>
          </a:solidFill>
          <a:ln w="9525">
            <a:solidFill>
              <a:srgbClr val="01696F"/>
            </a:solidFill>
            <a:prstDash val="solid"/>
          </a:ln>
        </p:spPr>
        <p:txBody>
          <a:bodyPr/>
          <a:lstStyle/>
          <a:p>
            <a:endParaRPr lang="en-US"/>
          </a:p>
        </p:txBody>
      </p:sp>
      <p:sp>
        <p:nvSpPr>
          <p:cNvPr id="6" name="Text 3"/>
          <p:cNvSpPr/>
          <p:nvPr/>
        </p:nvSpPr>
        <p:spPr>
          <a:xfrm>
            <a:off x="8458200" y="1783080"/>
            <a:ext cx="3108960" cy="274320"/>
          </a:xfrm>
          <a:prstGeom prst="rect">
            <a:avLst/>
          </a:prstGeom>
          <a:noFill/>
          <a:ln/>
        </p:spPr>
        <p:txBody>
          <a:bodyPr wrap="square" rtlCol="0" anchor="ctr"/>
          <a:lstStyle/>
          <a:p>
            <a:pPr marL="0" indent="0">
              <a:buNone/>
            </a:pPr>
            <a:r>
              <a:rPr lang="en-US" sz="1000" b="1" kern="0" spc="200">
                <a:solidFill>
                  <a:srgbClr val="01696F"/>
                </a:solidFill>
                <a:latin typeface="Calibri" pitchFamily="34" charset="0"/>
                <a:ea typeface="Calibri" pitchFamily="34" charset="-122"/>
                <a:cs typeface="Calibri" pitchFamily="34" charset="-120"/>
              </a:rPr>
              <a:t>PROPOSAL TARGET</a:t>
            </a:r>
            <a:endParaRPr lang="en-US" sz="1000"/>
          </a:p>
        </p:txBody>
      </p:sp>
      <p:sp>
        <p:nvSpPr>
          <p:cNvPr id="7" name="Text 4"/>
          <p:cNvSpPr/>
          <p:nvPr/>
        </p:nvSpPr>
        <p:spPr>
          <a:xfrm>
            <a:off x="8458200" y="2011680"/>
            <a:ext cx="3108960" cy="822960"/>
          </a:xfrm>
          <a:prstGeom prst="rect">
            <a:avLst/>
          </a:prstGeom>
          <a:noFill/>
          <a:ln/>
        </p:spPr>
        <p:txBody>
          <a:bodyPr wrap="square" rtlCol="0" anchor="ctr"/>
          <a:lstStyle/>
          <a:p>
            <a:pPr marL="0" indent="0">
              <a:buNone/>
            </a:pPr>
            <a:r>
              <a:rPr lang="en-US" sz="5000" b="1">
                <a:solidFill>
                  <a:srgbClr val="01696F"/>
                </a:solidFill>
                <a:latin typeface="Calibri" pitchFamily="34" charset="0"/>
                <a:ea typeface="Calibri" pitchFamily="34" charset="-122"/>
                <a:cs typeface="Calibri" pitchFamily="34" charset="-120"/>
              </a:rPr>
              <a:t>≥ 85%</a:t>
            </a:r>
            <a:endParaRPr lang="en-US" sz="5000"/>
          </a:p>
        </p:txBody>
      </p:sp>
      <p:sp>
        <p:nvSpPr>
          <p:cNvPr id="8" name="Text 5"/>
          <p:cNvSpPr/>
          <p:nvPr/>
        </p:nvSpPr>
        <p:spPr>
          <a:xfrm>
            <a:off x="8458200" y="2880360"/>
            <a:ext cx="3108960" cy="365760"/>
          </a:xfrm>
          <a:prstGeom prst="rect">
            <a:avLst/>
          </a:prstGeom>
          <a:noFill/>
          <a:ln/>
        </p:spPr>
        <p:txBody>
          <a:bodyPr wrap="square" rtlCol="0" anchor="ctr"/>
          <a:lstStyle/>
          <a:p>
            <a:pPr marL="0" indent="0">
              <a:buNone/>
            </a:pPr>
            <a:r>
              <a:rPr lang="en-US" sz="1100">
                <a:solidFill>
                  <a:srgbClr val="7A7974"/>
                </a:solidFill>
                <a:latin typeface="Calibri" pitchFamily="34" charset="0"/>
                <a:ea typeface="Calibri" pitchFamily="34" charset="-122"/>
                <a:cs typeface="Calibri" pitchFamily="34" charset="-120"/>
              </a:rPr>
              <a:t>branch coverage on non-GUI modules</a:t>
            </a:r>
            <a:endParaRPr lang="en-US" sz="1100"/>
          </a:p>
        </p:txBody>
      </p:sp>
      <p:sp>
        <p:nvSpPr>
          <p:cNvPr id="9" name="Text 6"/>
          <p:cNvSpPr/>
          <p:nvPr/>
        </p:nvSpPr>
        <p:spPr>
          <a:xfrm>
            <a:off x="8458200" y="3246120"/>
            <a:ext cx="3108960" cy="548640"/>
          </a:xfrm>
          <a:prstGeom prst="rect">
            <a:avLst/>
          </a:prstGeom>
          <a:noFill/>
          <a:ln/>
        </p:spPr>
        <p:txBody>
          <a:bodyPr wrap="square" rtlCol="0" anchor="ctr"/>
          <a:lstStyle/>
          <a:p>
            <a:pPr marL="0" indent="0">
              <a:buNone/>
            </a:pPr>
            <a:r>
              <a:rPr lang="en-US" sz="1200" b="1">
                <a:solidFill>
                  <a:srgbClr val="437A22"/>
                </a:solidFill>
                <a:latin typeface="Calibri" pitchFamily="34" charset="0"/>
                <a:ea typeface="Calibri" pitchFamily="34" charset="-122"/>
                <a:cs typeface="Calibri" pitchFamily="34" charset="-120"/>
              </a:rPr>
              <a:t>Achieved: 87–100% on all five non-GUI modules.</a:t>
            </a:r>
            <a:endParaRPr lang="en-US" sz="1200"/>
          </a:p>
        </p:txBody>
      </p:sp>
      <p:sp>
        <p:nvSpPr>
          <p:cNvPr id="4" name="Shape 7"/>
          <p:cNvSpPr/>
          <p:nvPr/>
        </p:nvSpPr>
        <p:spPr>
          <a:xfrm>
            <a:off x="8321040" y="3977640"/>
            <a:ext cx="3337560" cy="2148840"/>
          </a:xfrm>
          <a:prstGeom prst="rect">
            <a:avLst/>
          </a:prstGeom>
          <a:solidFill>
            <a:srgbClr val="FBEFE0"/>
          </a:solidFill>
          <a:ln w="9525">
            <a:solidFill>
              <a:srgbClr val="964219"/>
            </a:solidFill>
            <a:prstDash val="solid"/>
          </a:ln>
        </p:spPr>
        <p:txBody>
          <a:bodyPr/>
          <a:lstStyle/>
          <a:p>
            <a:endParaRPr lang="en-US"/>
          </a:p>
        </p:txBody>
      </p:sp>
      <p:sp>
        <p:nvSpPr>
          <p:cNvPr id="11" name="Text 8"/>
          <p:cNvSpPr/>
          <p:nvPr/>
        </p:nvSpPr>
        <p:spPr>
          <a:xfrm>
            <a:off x="8458200" y="4069080"/>
            <a:ext cx="3108960" cy="274320"/>
          </a:xfrm>
          <a:prstGeom prst="rect">
            <a:avLst/>
          </a:prstGeom>
          <a:noFill/>
          <a:ln/>
        </p:spPr>
        <p:txBody>
          <a:bodyPr wrap="square" rtlCol="0" anchor="ctr"/>
          <a:lstStyle/>
          <a:p>
            <a:pPr marL="0" indent="0">
              <a:buNone/>
            </a:pPr>
            <a:r>
              <a:rPr lang="en-US" sz="1000" b="1" kern="0" spc="200">
                <a:solidFill>
                  <a:srgbClr val="964219"/>
                </a:solidFill>
                <a:latin typeface="Calibri" pitchFamily="34" charset="0"/>
                <a:ea typeface="Calibri" pitchFamily="34" charset="-122"/>
                <a:cs typeface="Calibri" pitchFamily="34" charset="-120"/>
              </a:rPr>
              <a:t>WHY gui.py IS ONLY 37%</a:t>
            </a:r>
            <a:endParaRPr lang="en-US" sz="1000"/>
          </a:p>
        </p:txBody>
      </p:sp>
      <p:sp>
        <p:nvSpPr>
          <p:cNvPr id="12" name="Text 9"/>
          <p:cNvSpPr/>
          <p:nvPr/>
        </p:nvSpPr>
        <p:spPr>
          <a:xfrm>
            <a:off x="8458200" y="4343400"/>
            <a:ext cx="3108960" cy="1691640"/>
          </a:xfrm>
          <a:prstGeom prst="rect">
            <a:avLst/>
          </a:prstGeom>
          <a:noFill/>
          <a:ln/>
        </p:spPr>
        <p:txBody>
          <a:bodyPr wrap="square" rtlCol="0" anchor="t"/>
          <a:lstStyle/>
          <a:p>
            <a:pPr marL="0" indent="0">
              <a:buNone/>
            </a:pPr>
            <a:r>
              <a:rPr lang="en-US" sz="1150">
                <a:solidFill>
                  <a:srgbClr val="28251D"/>
                </a:solidFill>
                <a:latin typeface="Calibri" pitchFamily="34" charset="0"/>
                <a:ea typeface="Calibri" pitchFamily="34" charset="-122"/>
                <a:cs typeface="Calibri" pitchFamily="34" charset="-120"/>
              </a:rPr>
              <a:t>gui.py is ~70% of LOC and dominated by widget wiring. We intentionally exclude it from branch targets and validate it through the alternate (introspection) suite.</a:t>
            </a:r>
            <a:endParaRPr lang="en-US" sz="1150"/>
          </a:p>
        </p:txBody>
      </p:sp>
      <p:sp>
        <p:nvSpPr>
          <p:cNvPr id="13" name="Text 10"/>
          <p:cNvSpPr/>
          <p:nvPr/>
        </p:nvSpPr>
        <p:spPr>
          <a:xfrm>
            <a:off x="548640" y="5943600"/>
            <a:ext cx="11155680" cy="274320"/>
          </a:xfrm>
          <a:prstGeom prst="rect">
            <a:avLst/>
          </a:prstGeom>
          <a:noFill/>
          <a:ln/>
        </p:spPr>
        <p:txBody>
          <a:bodyPr wrap="square" rtlCol="0" anchor="ctr"/>
          <a:lstStyle/>
          <a:p>
            <a:pPr marL="0" indent="0">
              <a:buNone/>
            </a:pPr>
            <a:r>
              <a:rPr lang="en-US" sz="1000" i="1">
                <a:solidFill>
                  <a:srgbClr val="7A7974"/>
                </a:solidFill>
                <a:latin typeface="Calibri" pitchFamily="34" charset="0"/>
                <a:ea typeface="Calibri" pitchFamily="34" charset="-122"/>
                <a:cs typeface="Calibri" pitchFamily="34" charset="-120"/>
              </a:rPr>
              <a:t>134 whitebox unit tests + 18 integration tests · generated with pytest --cov=habit_engine --cov-branch</a:t>
            </a:r>
            <a:endParaRPr lang="en-US" sz="1000"/>
          </a:p>
        </p:txBody>
      </p:sp>
      <p:sp>
        <p:nvSpPr>
          <p:cNvPr id="14" name="Text 11"/>
          <p:cNvSpPr/>
          <p:nvPr/>
        </p:nvSpPr>
        <p:spPr>
          <a:xfrm>
            <a:off x="457200" y="6446520"/>
            <a:ext cx="9144000" cy="274320"/>
          </a:xfrm>
          <a:prstGeom prst="rect">
            <a:avLst/>
          </a:prstGeom>
          <a:noFill/>
          <a:ln/>
        </p:spPr>
        <p:txBody>
          <a:bodyPr wrap="square" rtlCol="0" anchor="ctr"/>
          <a:lstStyle/>
          <a:p>
            <a:pPr marL="0" indent="0">
              <a:buNone/>
            </a:pPr>
            <a:r>
              <a:rPr lang="en-US" sz="900">
                <a:solidFill>
                  <a:srgbClr val="7A7974"/>
                </a:solidFill>
                <a:latin typeface="Calibri" pitchFamily="34" charset="0"/>
                <a:ea typeface="Calibri" pitchFamily="34" charset="-122"/>
                <a:cs typeface="Calibri" pitchFamily="34" charset="-120"/>
              </a:rPr>
              <a:t>Systematic Testing of HERALDEXX/habit-tracker</a:t>
            </a:r>
            <a:r>
              <a:rPr lang="en-US" sz="900">
                <a:solidFill>
                  <a:srgbClr val="BAB9B4"/>
                </a:solidFill>
                <a:latin typeface="Calibri" pitchFamily="34" charset="0"/>
                <a:ea typeface="Calibri" pitchFamily="34" charset="-122"/>
                <a:cs typeface="Calibri" pitchFamily="34" charset="-120"/>
              </a:rPr>
              <a:t>   •   </a:t>
            </a:r>
            <a:r>
              <a:rPr lang="en-US" sz="900">
                <a:solidFill>
                  <a:srgbClr val="7A7974"/>
                </a:solidFill>
                <a:latin typeface="Calibri" pitchFamily="34" charset="0"/>
                <a:ea typeface="Calibri" pitchFamily="34" charset="-122"/>
                <a:cs typeface="Calibri" pitchFamily="34" charset="-120"/>
              </a:rPr>
              <a:t>CS422 Spring 2026</a:t>
            </a:r>
            <a:endParaRPr lang="en-US" sz="900"/>
          </a:p>
        </p:txBody>
      </p:sp>
      <p:sp>
        <p:nvSpPr>
          <p:cNvPr id="15" name="Text 12"/>
          <p:cNvSpPr/>
          <p:nvPr/>
        </p:nvSpPr>
        <p:spPr>
          <a:xfrm>
            <a:off x="10789920" y="6446520"/>
            <a:ext cx="914400" cy="274320"/>
          </a:xfrm>
          <a:prstGeom prst="rect">
            <a:avLst/>
          </a:prstGeom>
          <a:noFill/>
          <a:ln/>
        </p:spPr>
        <p:txBody>
          <a:bodyPr wrap="square" rtlCol="0" anchor="ctr"/>
          <a:lstStyle/>
          <a:p>
            <a:pPr marL="0" indent="0" algn="r">
              <a:buNone/>
            </a:pPr>
            <a:r>
              <a:rPr lang="en-US" sz="900">
                <a:solidFill>
                  <a:srgbClr val="7A7974"/>
                </a:solidFill>
                <a:latin typeface="Calibri" pitchFamily="34" charset="0"/>
                <a:ea typeface="Calibri" pitchFamily="34" charset="-122"/>
                <a:cs typeface="Calibri" pitchFamily="34" charset="-120"/>
              </a:rPr>
              <a:t>9 / 15</a:t>
            </a:r>
            <a:endParaRPr lang="en-US" sz="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rtlCol="0" anchor="ctr"/>
          <a:lstStyle/>
          <a:p>
            <a:pPr marL="0" indent="0">
              <a:buNone/>
            </a:pPr>
            <a:r>
              <a:rPr lang="en-US" sz="1100" b="1" kern="0" spc="200">
                <a:solidFill>
                  <a:srgbClr val="01696F"/>
                </a:solidFill>
                <a:latin typeface="Calibri" pitchFamily="34" charset="0"/>
                <a:ea typeface="Calibri" pitchFamily="34" charset="-122"/>
                <a:cs typeface="Calibri" pitchFamily="34" charset="-120"/>
              </a:rPr>
              <a:t>MUTATION TESTING</a:t>
            </a:r>
            <a:endParaRPr lang="en-US" sz="1100"/>
          </a:p>
        </p:txBody>
      </p:sp>
      <p:sp>
        <p:nvSpPr>
          <p:cNvPr id="3" name="Text 1"/>
          <p:cNvSpPr/>
          <p:nvPr/>
        </p:nvSpPr>
        <p:spPr>
          <a:xfrm>
            <a:off x="548640" y="731520"/>
            <a:ext cx="10972800" cy="731520"/>
          </a:xfrm>
          <a:prstGeom prst="rect">
            <a:avLst/>
          </a:prstGeom>
          <a:noFill/>
          <a:ln/>
        </p:spPr>
        <p:txBody>
          <a:bodyPr wrap="square" rtlCol="0" anchor="ctr"/>
          <a:lstStyle/>
          <a:p>
            <a:pPr marL="0" indent="0">
              <a:buNone/>
            </a:pPr>
            <a:r>
              <a:rPr lang="en-US" sz="3200" b="1">
                <a:solidFill>
                  <a:srgbClr val="28251D"/>
                </a:solidFill>
                <a:latin typeface="Calibri" pitchFamily="34" charset="0"/>
                <a:ea typeface="Calibri" pitchFamily="34" charset="-122"/>
                <a:cs typeface="Calibri" pitchFamily="34" charset="-120"/>
              </a:rPr>
              <a:t>Baseline → Post-Improvement: +28.2 points</a:t>
            </a:r>
            <a:endParaRPr lang="en-US" sz="3200"/>
          </a:p>
        </p:txBody>
      </p:sp>
      <p:sp>
        <p:nvSpPr>
          <p:cNvPr id="4" name="Shape 2"/>
          <p:cNvSpPr/>
          <p:nvPr/>
        </p:nvSpPr>
        <p:spPr>
          <a:xfrm>
            <a:off x="548640" y="1691640"/>
            <a:ext cx="3383280" cy="2103120"/>
          </a:xfrm>
          <a:prstGeom prst="rect">
            <a:avLst/>
          </a:prstGeom>
          <a:solidFill>
            <a:srgbClr val="FBFBF9"/>
          </a:solidFill>
          <a:ln w="9525">
            <a:solidFill>
              <a:srgbClr val="D4D1CA"/>
            </a:solidFill>
            <a:prstDash val="solid"/>
          </a:ln>
        </p:spPr>
        <p:txBody>
          <a:bodyPr/>
          <a:lstStyle/>
          <a:p>
            <a:endParaRPr lang="en-US"/>
          </a:p>
        </p:txBody>
      </p:sp>
      <p:sp>
        <p:nvSpPr>
          <p:cNvPr id="5" name="Text 3"/>
          <p:cNvSpPr/>
          <p:nvPr/>
        </p:nvSpPr>
        <p:spPr>
          <a:xfrm>
            <a:off x="731520" y="1783080"/>
            <a:ext cx="3017520" cy="274320"/>
          </a:xfrm>
          <a:prstGeom prst="rect">
            <a:avLst/>
          </a:prstGeom>
          <a:noFill/>
          <a:ln/>
        </p:spPr>
        <p:txBody>
          <a:bodyPr wrap="square" rtlCol="0" anchor="ctr"/>
          <a:lstStyle/>
          <a:p>
            <a:pPr marL="0" indent="0">
              <a:buNone/>
            </a:pPr>
            <a:r>
              <a:rPr lang="en-US" sz="1000" b="1" kern="0" spc="200">
                <a:solidFill>
                  <a:srgbClr val="7A7974"/>
                </a:solidFill>
                <a:latin typeface="Calibri" pitchFamily="34" charset="0"/>
                <a:ea typeface="Calibri" pitchFamily="34" charset="-122"/>
                <a:cs typeface="Calibri" pitchFamily="34" charset="-120"/>
              </a:rPr>
              <a:t>BASELINE (Apr 15)</a:t>
            </a:r>
            <a:endParaRPr lang="en-US" sz="1000"/>
          </a:p>
        </p:txBody>
      </p:sp>
      <p:sp>
        <p:nvSpPr>
          <p:cNvPr id="6" name="Text 4"/>
          <p:cNvSpPr/>
          <p:nvPr/>
        </p:nvSpPr>
        <p:spPr>
          <a:xfrm>
            <a:off x="731520" y="2057400"/>
            <a:ext cx="3017520" cy="914400"/>
          </a:xfrm>
          <a:prstGeom prst="rect">
            <a:avLst/>
          </a:prstGeom>
          <a:noFill/>
          <a:ln/>
        </p:spPr>
        <p:txBody>
          <a:bodyPr wrap="square" rtlCol="0" anchor="ctr"/>
          <a:lstStyle/>
          <a:p>
            <a:pPr marL="0" indent="0">
              <a:buNone/>
            </a:pPr>
            <a:r>
              <a:rPr lang="en-US" sz="6000" b="1">
                <a:solidFill>
                  <a:srgbClr val="964219"/>
                </a:solidFill>
                <a:latin typeface="Calibri" pitchFamily="34" charset="0"/>
                <a:ea typeface="Calibri" pitchFamily="34" charset="-122"/>
                <a:cs typeface="Calibri" pitchFamily="34" charset="-120"/>
              </a:rPr>
              <a:t>47.9%</a:t>
            </a:r>
            <a:endParaRPr lang="en-US" sz="6000"/>
          </a:p>
        </p:txBody>
      </p:sp>
      <p:sp>
        <p:nvSpPr>
          <p:cNvPr id="7" name="Text 5"/>
          <p:cNvSpPr/>
          <p:nvPr/>
        </p:nvSpPr>
        <p:spPr>
          <a:xfrm>
            <a:off x="731520" y="3017520"/>
            <a:ext cx="3017520" cy="365760"/>
          </a:xfrm>
          <a:prstGeom prst="rect">
            <a:avLst/>
          </a:prstGeom>
          <a:noFill/>
          <a:ln/>
        </p:spPr>
        <p:txBody>
          <a:bodyPr wrap="square" rtlCol="0" anchor="ctr"/>
          <a:lstStyle/>
          <a:p>
            <a:pPr marL="0" indent="0">
              <a:buNone/>
            </a:pPr>
            <a:r>
              <a:rPr lang="en-US" sz="1200">
                <a:solidFill>
                  <a:srgbClr val="7A7974"/>
                </a:solidFill>
                <a:latin typeface="Calibri" pitchFamily="34" charset="0"/>
                <a:ea typeface="Calibri" pitchFamily="34" charset="-122"/>
                <a:cs typeface="Calibri" pitchFamily="34" charset="-120"/>
              </a:rPr>
              <a:t>327 killed / 684 · 355 survived</a:t>
            </a:r>
            <a:endParaRPr lang="en-US" sz="1200"/>
          </a:p>
        </p:txBody>
      </p:sp>
      <p:sp>
        <p:nvSpPr>
          <p:cNvPr id="8" name="Text 6"/>
          <p:cNvSpPr/>
          <p:nvPr/>
        </p:nvSpPr>
        <p:spPr>
          <a:xfrm>
            <a:off x="731520" y="3337560"/>
            <a:ext cx="3017520" cy="365760"/>
          </a:xfrm>
          <a:prstGeom prst="rect">
            <a:avLst/>
          </a:prstGeom>
          <a:noFill/>
          <a:ln/>
        </p:spPr>
        <p:txBody>
          <a:bodyPr wrap="square" rtlCol="0" anchor="ctr"/>
          <a:lstStyle/>
          <a:p>
            <a:pPr marL="0" indent="0">
              <a:buNone/>
            </a:pPr>
            <a:r>
              <a:rPr lang="en-US" sz="1100">
                <a:solidFill>
                  <a:srgbClr val="28251D"/>
                </a:solidFill>
                <a:latin typeface="Calibri" pitchFamily="34" charset="0"/>
                <a:ea typeface="Calibri" pitchFamily="34" charset="-122"/>
                <a:cs typeface="Calibri" pitchFamily="34" charset="-120"/>
              </a:rPr>
              <a:t>Strongest: habit_logic.py  77.3%</a:t>
            </a:r>
            <a:endParaRPr lang="en-US" sz="1100"/>
          </a:p>
        </p:txBody>
      </p:sp>
      <p:sp>
        <p:nvSpPr>
          <p:cNvPr id="9" name="Shape 7"/>
          <p:cNvSpPr/>
          <p:nvPr/>
        </p:nvSpPr>
        <p:spPr>
          <a:xfrm>
            <a:off x="4160520" y="1691640"/>
            <a:ext cx="3383280" cy="2103120"/>
          </a:xfrm>
          <a:prstGeom prst="rect">
            <a:avLst/>
          </a:prstGeom>
          <a:solidFill>
            <a:srgbClr val="E3F0F1"/>
          </a:solidFill>
          <a:ln w="12700">
            <a:solidFill>
              <a:srgbClr val="01696F"/>
            </a:solidFill>
            <a:prstDash val="solid"/>
          </a:ln>
        </p:spPr>
        <p:txBody>
          <a:bodyPr/>
          <a:lstStyle/>
          <a:p>
            <a:endParaRPr lang="en-US"/>
          </a:p>
        </p:txBody>
      </p:sp>
      <p:sp>
        <p:nvSpPr>
          <p:cNvPr id="10" name="Text 8"/>
          <p:cNvSpPr/>
          <p:nvPr/>
        </p:nvSpPr>
        <p:spPr>
          <a:xfrm>
            <a:off x="4343400" y="1783080"/>
            <a:ext cx="3017520" cy="274320"/>
          </a:xfrm>
          <a:prstGeom prst="rect">
            <a:avLst/>
          </a:prstGeom>
          <a:noFill/>
          <a:ln/>
        </p:spPr>
        <p:txBody>
          <a:bodyPr wrap="square" rtlCol="0" anchor="ctr"/>
          <a:lstStyle/>
          <a:p>
            <a:pPr marL="0" indent="0">
              <a:buNone/>
            </a:pPr>
            <a:r>
              <a:rPr lang="en-US" sz="1000" b="1" kern="0" spc="200">
                <a:solidFill>
                  <a:srgbClr val="01696F"/>
                </a:solidFill>
                <a:latin typeface="Calibri" pitchFamily="34" charset="0"/>
                <a:ea typeface="Calibri" pitchFamily="34" charset="-122"/>
                <a:cs typeface="Calibri" pitchFamily="34" charset="-120"/>
              </a:rPr>
              <a:t>POST-IMPROVEMENT</a:t>
            </a:r>
            <a:endParaRPr lang="en-US" sz="1000"/>
          </a:p>
        </p:txBody>
      </p:sp>
      <p:sp>
        <p:nvSpPr>
          <p:cNvPr id="11" name="Text 9"/>
          <p:cNvSpPr/>
          <p:nvPr/>
        </p:nvSpPr>
        <p:spPr>
          <a:xfrm>
            <a:off x="4343400" y="2057400"/>
            <a:ext cx="3017520" cy="914400"/>
          </a:xfrm>
          <a:prstGeom prst="rect">
            <a:avLst/>
          </a:prstGeom>
          <a:noFill/>
          <a:ln/>
        </p:spPr>
        <p:txBody>
          <a:bodyPr wrap="square" rtlCol="0" anchor="ctr"/>
          <a:lstStyle/>
          <a:p>
            <a:pPr marL="0" indent="0">
              <a:buNone/>
            </a:pPr>
            <a:r>
              <a:rPr lang="en-US" sz="6000" b="1">
                <a:solidFill>
                  <a:srgbClr val="01696F"/>
                </a:solidFill>
                <a:latin typeface="Calibri" pitchFamily="34" charset="0"/>
                <a:ea typeface="Calibri" pitchFamily="34" charset="-122"/>
                <a:cs typeface="Calibri" pitchFamily="34" charset="-120"/>
              </a:rPr>
              <a:t>76.1%</a:t>
            </a:r>
            <a:endParaRPr lang="en-US" sz="6000"/>
          </a:p>
        </p:txBody>
      </p:sp>
      <p:sp>
        <p:nvSpPr>
          <p:cNvPr id="12" name="Text 10"/>
          <p:cNvSpPr/>
          <p:nvPr/>
        </p:nvSpPr>
        <p:spPr>
          <a:xfrm>
            <a:off x="4343400" y="3017520"/>
            <a:ext cx="3017520" cy="365760"/>
          </a:xfrm>
          <a:prstGeom prst="rect">
            <a:avLst/>
          </a:prstGeom>
          <a:noFill/>
          <a:ln/>
        </p:spPr>
        <p:txBody>
          <a:bodyPr wrap="square" rtlCol="0" anchor="ctr"/>
          <a:lstStyle/>
          <a:p>
            <a:pPr marL="0" indent="0">
              <a:buNone/>
            </a:pPr>
            <a:r>
              <a:rPr lang="en-US" sz="1200">
                <a:solidFill>
                  <a:srgbClr val="7A7974"/>
                </a:solidFill>
                <a:latin typeface="Calibri" pitchFamily="34" charset="0"/>
                <a:ea typeface="Calibri" pitchFamily="34" charset="-122"/>
                <a:cs typeface="Calibri" pitchFamily="34" charset="-120"/>
              </a:rPr>
              <a:t>521 killed / 684 · 163 survived</a:t>
            </a:r>
            <a:endParaRPr lang="en-US" sz="1200"/>
          </a:p>
        </p:txBody>
      </p:sp>
      <p:sp>
        <p:nvSpPr>
          <p:cNvPr id="13" name="Text 11"/>
          <p:cNvSpPr/>
          <p:nvPr/>
        </p:nvSpPr>
        <p:spPr>
          <a:xfrm>
            <a:off x="4343400" y="3337560"/>
            <a:ext cx="3017520" cy="365760"/>
          </a:xfrm>
          <a:prstGeom prst="rect">
            <a:avLst/>
          </a:prstGeom>
          <a:noFill/>
          <a:ln/>
        </p:spPr>
        <p:txBody>
          <a:bodyPr wrap="square" rtlCol="0" anchor="ctr"/>
          <a:lstStyle/>
          <a:p>
            <a:pPr marL="0" indent="0">
              <a:buNone/>
            </a:pPr>
            <a:r>
              <a:rPr lang="en-US" sz="1100">
                <a:solidFill>
                  <a:srgbClr val="28251D"/>
                </a:solidFill>
                <a:latin typeface="Calibri" pitchFamily="34" charset="0"/>
                <a:ea typeface="Calibri" pitchFamily="34" charset="-122"/>
                <a:cs typeface="Calibri" pitchFamily="34" charset="-120"/>
              </a:rPr>
              <a:t>+194 mutants killed after targeted killers</a:t>
            </a:r>
            <a:endParaRPr lang="en-US" sz="1100"/>
          </a:p>
        </p:txBody>
      </p:sp>
      <p:sp>
        <p:nvSpPr>
          <p:cNvPr id="14" name="Shape 12"/>
          <p:cNvSpPr/>
          <p:nvPr/>
        </p:nvSpPr>
        <p:spPr>
          <a:xfrm>
            <a:off x="7772400" y="1691640"/>
            <a:ext cx="3886200" cy="2103120"/>
          </a:xfrm>
          <a:prstGeom prst="rect">
            <a:avLst/>
          </a:prstGeom>
          <a:solidFill>
            <a:srgbClr val="28251D"/>
          </a:solidFill>
          <a:ln w="12700">
            <a:solidFill>
              <a:srgbClr val="28251D"/>
            </a:solidFill>
            <a:prstDash val="solid"/>
          </a:ln>
        </p:spPr>
        <p:txBody>
          <a:bodyPr/>
          <a:lstStyle/>
          <a:p>
            <a:endParaRPr lang="en-US"/>
          </a:p>
        </p:txBody>
      </p:sp>
      <p:sp>
        <p:nvSpPr>
          <p:cNvPr id="15" name="Text 13"/>
          <p:cNvSpPr/>
          <p:nvPr/>
        </p:nvSpPr>
        <p:spPr>
          <a:xfrm>
            <a:off x="7955280" y="1783080"/>
            <a:ext cx="3520440" cy="274320"/>
          </a:xfrm>
          <a:prstGeom prst="rect">
            <a:avLst/>
          </a:prstGeom>
          <a:noFill/>
          <a:ln/>
        </p:spPr>
        <p:txBody>
          <a:bodyPr wrap="square" rtlCol="0" anchor="ctr"/>
          <a:lstStyle/>
          <a:p>
            <a:pPr marL="0" indent="0">
              <a:buNone/>
            </a:pPr>
            <a:r>
              <a:rPr lang="en-US" sz="1000" b="1" kern="0" spc="200">
                <a:solidFill>
                  <a:srgbClr val="4F98A3"/>
                </a:solidFill>
                <a:latin typeface="Calibri" pitchFamily="34" charset="0"/>
                <a:ea typeface="Calibri" pitchFamily="34" charset="-122"/>
                <a:cs typeface="Calibri" pitchFamily="34" charset="-120"/>
              </a:rPr>
              <a:t>DELTA</a:t>
            </a:r>
            <a:endParaRPr lang="en-US" sz="1000"/>
          </a:p>
        </p:txBody>
      </p:sp>
      <p:sp>
        <p:nvSpPr>
          <p:cNvPr id="16" name="Text 14"/>
          <p:cNvSpPr/>
          <p:nvPr/>
        </p:nvSpPr>
        <p:spPr>
          <a:xfrm>
            <a:off x="7955280" y="2057400"/>
            <a:ext cx="3520440" cy="914400"/>
          </a:xfrm>
          <a:prstGeom prst="rect">
            <a:avLst/>
          </a:prstGeom>
          <a:noFill/>
          <a:ln/>
        </p:spPr>
        <p:txBody>
          <a:bodyPr wrap="square" rtlCol="0" anchor="ctr"/>
          <a:lstStyle/>
          <a:p>
            <a:pPr marL="0" indent="0">
              <a:buNone/>
            </a:pPr>
            <a:r>
              <a:rPr lang="en-US" sz="5200" b="1">
                <a:solidFill>
                  <a:srgbClr val="6DAA45"/>
                </a:solidFill>
                <a:latin typeface="Calibri" pitchFamily="34" charset="0"/>
                <a:ea typeface="Calibri" pitchFamily="34" charset="-122"/>
                <a:cs typeface="Calibri" pitchFamily="34" charset="-120"/>
              </a:rPr>
              <a:t>+28.2 pts</a:t>
            </a:r>
            <a:endParaRPr lang="en-US" sz="5200"/>
          </a:p>
        </p:txBody>
      </p:sp>
      <p:sp>
        <p:nvSpPr>
          <p:cNvPr id="17" name="Text 15"/>
          <p:cNvSpPr/>
          <p:nvPr/>
        </p:nvSpPr>
        <p:spPr>
          <a:xfrm>
            <a:off x="7955280" y="3017520"/>
            <a:ext cx="3520440" cy="640080"/>
          </a:xfrm>
          <a:prstGeom prst="rect">
            <a:avLst/>
          </a:prstGeom>
          <a:noFill/>
          <a:ln/>
        </p:spPr>
        <p:txBody>
          <a:bodyPr wrap="square" rtlCol="0" anchor="ctr"/>
          <a:lstStyle/>
          <a:p>
            <a:pPr marL="0" indent="0">
              <a:buNone/>
            </a:pPr>
            <a:r>
              <a:rPr lang="en-US" sz="1200">
                <a:solidFill>
                  <a:srgbClr val="CDCCCA"/>
                </a:solidFill>
                <a:latin typeface="Calibri" pitchFamily="34" charset="0"/>
                <a:ea typeface="Calibri" pitchFamily="34" charset="-122"/>
                <a:cs typeface="Calibri" pitchFamily="34" charset="-120"/>
              </a:rPr>
              <a:t>Score improvement after one round of deliberate mutant-killing</a:t>
            </a:r>
            <a:endParaRPr lang="en-US" sz="1200"/>
          </a:p>
        </p:txBody>
      </p:sp>
      <p:graphicFrame>
        <p:nvGraphicFramePr>
          <p:cNvPr id="18" name="Chart 0"/>
          <p:cNvGraphicFramePr/>
          <p:nvPr/>
        </p:nvGraphicFramePr>
        <p:xfrm>
          <a:off x="548640" y="3977640"/>
          <a:ext cx="11109960" cy="2148840"/>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 16"/>
          <p:cNvSpPr/>
          <p:nvPr/>
        </p:nvSpPr>
        <p:spPr>
          <a:xfrm>
            <a:off x="548640" y="6144768"/>
            <a:ext cx="11155680" cy="274320"/>
          </a:xfrm>
          <a:prstGeom prst="rect">
            <a:avLst/>
          </a:prstGeom>
          <a:noFill/>
          <a:ln/>
        </p:spPr>
        <p:txBody>
          <a:bodyPr wrap="square" rtlCol="0" anchor="ctr"/>
          <a:lstStyle/>
          <a:p>
            <a:pPr marL="0" indent="0">
              <a:buNone/>
            </a:pPr>
            <a:r>
              <a:rPr lang="en-US" sz="900" i="1">
                <a:solidFill>
                  <a:srgbClr val="7A7974"/>
                </a:solidFill>
                <a:latin typeface="Calibri" pitchFamily="34" charset="0"/>
                <a:ea typeface="Calibri" pitchFamily="34" charset="-122"/>
                <a:cs typeface="Calibri" pitchFamily="34" charset="-120"/>
              </a:rPr>
              <a:t>Some post-run per-module values are approximated from docs/mutation/post_improvement_report.md; __init__ and habit_logic are exact.</a:t>
            </a:r>
            <a:endParaRPr lang="en-US" sz="900"/>
          </a:p>
        </p:txBody>
      </p:sp>
      <p:sp>
        <p:nvSpPr>
          <p:cNvPr id="20" name="Text 17"/>
          <p:cNvSpPr/>
          <p:nvPr/>
        </p:nvSpPr>
        <p:spPr>
          <a:xfrm>
            <a:off x="457200" y="6446520"/>
            <a:ext cx="9144000" cy="274320"/>
          </a:xfrm>
          <a:prstGeom prst="rect">
            <a:avLst/>
          </a:prstGeom>
          <a:noFill/>
          <a:ln/>
        </p:spPr>
        <p:txBody>
          <a:bodyPr wrap="square" rtlCol="0" anchor="ctr"/>
          <a:lstStyle/>
          <a:p>
            <a:pPr marL="0" indent="0">
              <a:buNone/>
            </a:pPr>
            <a:r>
              <a:rPr lang="en-US" sz="900">
                <a:solidFill>
                  <a:srgbClr val="7A7974"/>
                </a:solidFill>
                <a:latin typeface="Calibri" pitchFamily="34" charset="0"/>
                <a:ea typeface="Calibri" pitchFamily="34" charset="-122"/>
                <a:cs typeface="Calibri" pitchFamily="34" charset="-120"/>
              </a:rPr>
              <a:t>Systematic Testing of HERALDEXX/habit-tracker</a:t>
            </a:r>
            <a:r>
              <a:rPr lang="en-US" sz="900">
                <a:solidFill>
                  <a:srgbClr val="BAB9B4"/>
                </a:solidFill>
                <a:latin typeface="Calibri" pitchFamily="34" charset="0"/>
                <a:ea typeface="Calibri" pitchFamily="34" charset="-122"/>
                <a:cs typeface="Calibri" pitchFamily="34" charset="-120"/>
              </a:rPr>
              <a:t>   •   </a:t>
            </a:r>
            <a:r>
              <a:rPr lang="en-US" sz="900">
                <a:solidFill>
                  <a:srgbClr val="7A7974"/>
                </a:solidFill>
                <a:latin typeface="Calibri" pitchFamily="34" charset="0"/>
                <a:ea typeface="Calibri" pitchFamily="34" charset="-122"/>
                <a:cs typeface="Calibri" pitchFamily="34" charset="-120"/>
              </a:rPr>
              <a:t>CS422 Spring 2026</a:t>
            </a:r>
            <a:endParaRPr lang="en-US" sz="900"/>
          </a:p>
        </p:txBody>
      </p:sp>
      <p:sp>
        <p:nvSpPr>
          <p:cNvPr id="21" name="Text 18"/>
          <p:cNvSpPr/>
          <p:nvPr/>
        </p:nvSpPr>
        <p:spPr>
          <a:xfrm>
            <a:off x="10789920" y="6446520"/>
            <a:ext cx="914400" cy="274320"/>
          </a:xfrm>
          <a:prstGeom prst="rect">
            <a:avLst/>
          </a:prstGeom>
          <a:noFill/>
          <a:ln/>
        </p:spPr>
        <p:txBody>
          <a:bodyPr wrap="square" rtlCol="0" anchor="ctr"/>
          <a:lstStyle/>
          <a:p>
            <a:pPr marL="0" indent="0" algn="r">
              <a:buNone/>
            </a:pPr>
            <a:r>
              <a:rPr lang="en-US" sz="900">
                <a:solidFill>
                  <a:srgbClr val="7A7974"/>
                </a:solidFill>
                <a:latin typeface="Calibri" pitchFamily="34" charset="0"/>
                <a:ea typeface="Calibri" pitchFamily="34" charset="-122"/>
                <a:cs typeface="Calibri" pitchFamily="34" charset="-120"/>
              </a:rPr>
              <a:t>10 / 15</a:t>
            </a:r>
            <a:endParaRPr lang="en-US" sz="9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rtlCol="0" anchor="ctr"/>
          <a:lstStyle/>
          <a:p>
            <a:pPr marL="0" indent="0">
              <a:buNone/>
            </a:pPr>
            <a:r>
              <a:rPr lang="en-US" sz="1100" b="1" kern="0" spc="200">
                <a:solidFill>
                  <a:srgbClr val="01696F"/>
                </a:solidFill>
                <a:latin typeface="Calibri" pitchFamily="34" charset="0"/>
                <a:ea typeface="Calibri" pitchFamily="34" charset="-122"/>
                <a:cs typeface="Calibri" pitchFamily="34" charset="-120"/>
              </a:rPr>
              <a:t>MUTATION TESTING</a:t>
            </a:r>
            <a:endParaRPr lang="en-US" sz="1100"/>
          </a:p>
        </p:txBody>
      </p:sp>
      <p:sp>
        <p:nvSpPr>
          <p:cNvPr id="3" name="Text 1"/>
          <p:cNvSpPr/>
          <p:nvPr/>
        </p:nvSpPr>
        <p:spPr>
          <a:xfrm>
            <a:off x="548640" y="731520"/>
            <a:ext cx="10972800" cy="731520"/>
          </a:xfrm>
          <a:prstGeom prst="rect">
            <a:avLst/>
          </a:prstGeom>
          <a:noFill/>
          <a:ln/>
        </p:spPr>
        <p:txBody>
          <a:bodyPr wrap="square" rtlCol="0" anchor="ctr"/>
          <a:lstStyle/>
          <a:p>
            <a:pPr marL="0" indent="0">
              <a:buNone/>
            </a:pPr>
            <a:r>
              <a:rPr lang="en-US" sz="3200" b="1">
                <a:solidFill>
                  <a:srgbClr val="28251D"/>
                </a:solidFill>
                <a:latin typeface="Calibri" pitchFamily="34" charset="0"/>
                <a:ea typeface="Calibri" pitchFamily="34" charset="-122"/>
                <a:cs typeface="Calibri" pitchFamily="34" charset="-120"/>
              </a:rPr>
              <a:t>Surviving mutants &amp; equivalence analysis</a:t>
            </a:r>
            <a:endParaRPr lang="en-US" sz="320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7132320" cy="2880360"/>
        </p:xfrm>
        <a:graphic>
          <a:graphicData uri="http://schemas.openxmlformats.org/drawingml/2006/table">
            <a:tbl>
              <a:tblPr/>
              <a:tblGrid>
                <a:gridCol w="23774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411480">
                <a:tc>
                  <a:txBody>
                    <a:bodyPr/>
                    <a:lstStyle/>
                    <a:p>
                      <a:pPr marL="0" indent="0" algn="l">
                        <a:buNone/>
                      </a:pPr>
                      <a:r>
                        <a:rPr lang="en-US" sz="1100" b="1">
                          <a:solidFill>
                            <a:srgbClr val="FFFFFF"/>
                          </a:solidFill>
                          <a:latin typeface="Calibri" pitchFamily="34" charset="0"/>
                          <a:ea typeface="Calibri" pitchFamily="34" charset="-122"/>
                          <a:cs typeface="Calibri" pitchFamily="34" charset="-120"/>
                        </a:rPr>
                        <a:t>Module</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marL="0" indent="0" algn="ctr">
                        <a:buNone/>
                      </a:pPr>
                      <a:r>
                        <a:rPr lang="en-US" sz="1100" b="1">
                          <a:solidFill>
                            <a:srgbClr val="FFFFFF"/>
                          </a:solidFill>
                          <a:latin typeface="Calibri" pitchFamily="34" charset="0"/>
                          <a:ea typeface="Calibri" pitchFamily="34" charset="-122"/>
                          <a:cs typeface="Calibri" pitchFamily="34" charset="-120"/>
                        </a:rPr>
                        <a:t>Survivors</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tc>
                  <a:txBody>
                    <a:bodyPr/>
                    <a:lstStyle/>
                    <a:p>
                      <a:pPr marL="0" indent="0" algn="l">
                        <a:buNone/>
                      </a:pPr>
                      <a:r>
                        <a:rPr lang="en-US" sz="1100" b="1">
                          <a:solidFill>
                            <a:srgbClr val="FFFFFF"/>
                          </a:solidFill>
                          <a:latin typeface="Calibri" pitchFamily="34" charset="0"/>
                          <a:ea typeface="Calibri" pitchFamily="34" charset="-122"/>
                          <a:cs typeface="Calibri" pitchFamily="34" charset="-120"/>
                        </a:rPr>
                        <a:t>Classification</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01696F"/>
                    </a:solidFill>
                  </a:tcPr>
                </a:tc>
                <a:extLst>
                  <a:ext uri="{0D108BD9-81ED-4DB2-BD59-A6C34878D82A}">
                    <a16:rowId xmlns:a16="http://schemas.microsoft.com/office/drawing/2014/main" val="10000"/>
                  </a:ext>
                </a:extLst>
              </a:tr>
              <a:tr h="411480">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habit_display.py</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lgn="ctr">
                        <a:buNone/>
                      </a:pPr>
                      <a:r>
                        <a:rPr lang="en-US" sz="1100" b="1">
                          <a:solidFill>
                            <a:srgbClr val="28251D"/>
                          </a:solidFill>
                          <a:latin typeface="Calibri" pitchFamily="34" charset="0"/>
                          <a:ea typeface="Calibri" pitchFamily="34" charset="-122"/>
                          <a:cs typeface="Calibri" pitchFamily="34" charset="-120"/>
                        </a:rPr>
                        <a:t>2</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buNone/>
                      </a:pPr>
                      <a:r>
                        <a:rPr lang="en-US" sz="1100">
                          <a:solidFill>
                            <a:srgbClr val="28251D"/>
                          </a:solidFill>
                          <a:latin typeface="Calibri" pitchFamily="34" charset="0"/>
                          <a:ea typeface="Calibri" pitchFamily="34" charset="-122"/>
                          <a:cs typeface="Calibri" pitchFamily="34" charset="-120"/>
                        </a:rPr>
                        <a:t>Cosmetic string mutants</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extLst>
                  <a:ext uri="{0D108BD9-81ED-4DB2-BD59-A6C34878D82A}">
                    <a16:rowId xmlns:a16="http://schemas.microsoft.com/office/drawing/2014/main" val="10001"/>
                  </a:ext>
                </a:extLst>
              </a:tr>
              <a:tr h="411480">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habit_io.py</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lgn="ctr">
                        <a:buNone/>
                      </a:pPr>
                      <a:r>
                        <a:rPr lang="en-US" sz="1100" b="1">
                          <a:solidFill>
                            <a:srgbClr val="28251D"/>
                          </a:solidFill>
                          <a:latin typeface="Calibri" pitchFamily="34" charset="0"/>
                          <a:ea typeface="Calibri" pitchFamily="34" charset="-122"/>
                          <a:cs typeface="Calibri" pitchFamily="34" charset="-120"/>
                        </a:rPr>
                        <a:t>7</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buNone/>
                      </a:pPr>
                      <a:r>
                        <a:rPr lang="en-US" sz="1100">
                          <a:solidFill>
                            <a:srgbClr val="28251D"/>
                          </a:solidFill>
                          <a:latin typeface="Calibri" pitchFamily="34" charset="0"/>
                          <a:ea typeface="Calibri" pitchFamily="34" charset="-122"/>
                          <a:cs typeface="Calibri" pitchFamily="34" charset="-120"/>
                        </a:rPr>
                        <a:t>Backup/restore + env-path booleans</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extLst>
                  <a:ext uri="{0D108BD9-81ED-4DB2-BD59-A6C34878D82A}">
                    <a16:rowId xmlns:a16="http://schemas.microsoft.com/office/drawing/2014/main" val="10002"/>
                  </a:ext>
                </a:extLst>
              </a:tr>
              <a:tr h="411480">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habit_logic.py</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lgn="ctr">
                        <a:buNone/>
                      </a:pPr>
                      <a:r>
                        <a:rPr lang="en-US" sz="1100" b="1">
                          <a:solidFill>
                            <a:srgbClr val="28251D"/>
                          </a:solidFill>
                          <a:latin typeface="Calibri" pitchFamily="34" charset="0"/>
                          <a:ea typeface="Calibri" pitchFamily="34" charset="-122"/>
                          <a:cs typeface="Calibri" pitchFamily="34" charset="-120"/>
                        </a:rPr>
                        <a:t>2</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buNone/>
                      </a:pPr>
                      <a:r>
                        <a:rPr lang="en-US" sz="1100">
                          <a:solidFill>
                            <a:srgbClr val="28251D"/>
                          </a:solidFill>
                          <a:latin typeface="Calibri" pitchFamily="34" charset="0"/>
                          <a:ea typeface="Calibri" pitchFamily="34" charset="-122"/>
                          <a:cs typeface="Calibri" pitchFamily="34" charset="-120"/>
                        </a:rPr>
                        <a:t>Equivalent (loop continue vs break on failed date)</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extLst>
                  <a:ext uri="{0D108BD9-81ED-4DB2-BD59-A6C34878D82A}">
                    <a16:rowId xmlns:a16="http://schemas.microsoft.com/office/drawing/2014/main" val="10003"/>
                  </a:ext>
                </a:extLst>
              </a:tr>
              <a:tr h="411480">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habit_setup.py</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lgn="ctr">
                        <a:buNone/>
                      </a:pPr>
                      <a:r>
                        <a:rPr lang="en-US" sz="1100" b="1">
                          <a:solidFill>
                            <a:srgbClr val="28251D"/>
                          </a:solidFill>
                          <a:latin typeface="Calibri" pitchFamily="34" charset="0"/>
                          <a:ea typeface="Calibri" pitchFamily="34" charset="-122"/>
                          <a:cs typeface="Calibri" pitchFamily="34" charset="-120"/>
                        </a:rPr>
                        <a:t>1</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buNone/>
                      </a:pPr>
                      <a:r>
                        <a:rPr lang="en-US" sz="1100">
                          <a:solidFill>
                            <a:srgbClr val="28251D"/>
                          </a:solidFill>
                          <a:latin typeface="Calibri" pitchFamily="34" charset="0"/>
                          <a:ea typeface="Calibri" pitchFamily="34" charset="-122"/>
                          <a:cs typeface="Calibri" pitchFamily="34" charset="-120"/>
                        </a:rPr>
                        <a:t>Interaction-loop input timing</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extLst>
                  <a:ext uri="{0D108BD9-81ED-4DB2-BD59-A6C34878D82A}">
                    <a16:rowId xmlns:a16="http://schemas.microsoft.com/office/drawing/2014/main" val="10004"/>
                  </a:ext>
                </a:extLst>
              </a:tr>
              <a:tr h="411480">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habit_visualization.py</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lgn="ctr">
                        <a:buNone/>
                      </a:pPr>
                      <a:r>
                        <a:rPr lang="en-US" sz="1100" b="1">
                          <a:solidFill>
                            <a:srgbClr val="964219"/>
                          </a:solidFill>
                          <a:latin typeface="Calibri" pitchFamily="34" charset="0"/>
                          <a:ea typeface="Calibri" pitchFamily="34" charset="-122"/>
                          <a:cs typeface="Calibri" pitchFamily="34" charset="-120"/>
                        </a:rPr>
                        <a:t>~150</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tc>
                  <a:txBody>
                    <a:bodyPr/>
                    <a:lstStyle/>
                    <a:p>
                      <a:pPr marL="0" indent="0">
                        <a:buNone/>
                      </a:pPr>
                      <a:r>
                        <a:rPr lang="en-US" sz="1100">
                          <a:solidFill>
                            <a:srgbClr val="28251D"/>
                          </a:solidFill>
                          <a:latin typeface="Calibri" pitchFamily="34" charset="0"/>
                          <a:ea typeface="Calibri" pitchFamily="34" charset="-122"/>
                          <a:cs typeface="Calibri" pitchFamily="34" charset="-120"/>
                        </a:rPr>
                        <a:t>Matplotlib aesthetics (figsize, colors, titles)</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7F6F2"/>
                    </a:solidFill>
                  </a:tcPr>
                </a:tc>
                <a:extLst>
                  <a:ext uri="{0D108BD9-81ED-4DB2-BD59-A6C34878D82A}">
                    <a16:rowId xmlns:a16="http://schemas.microsoft.com/office/drawing/2014/main" val="10005"/>
                  </a:ext>
                </a:extLst>
              </a:tr>
              <a:tr h="411480">
                <a:tc>
                  <a:txBody>
                    <a:bodyPr/>
                    <a:lstStyle/>
                    <a:p>
                      <a:pPr marL="0" indent="0">
                        <a:buNone/>
                      </a:pPr>
                      <a:r>
                        <a:rPr lang="en-US" sz="1100">
                          <a:solidFill>
                            <a:srgbClr val="28251D"/>
                          </a:solidFill>
                          <a:latin typeface="Courier New" pitchFamily="34" charset="0"/>
                          <a:ea typeface="Courier New" pitchFamily="34" charset="-122"/>
                          <a:cs typeface="Courier New" pitchFamily="34" charset="-120"/>
                        </a:rPr>
                        <a:t>__init__.py</a:t>
                      </a:r>
                      <a:endParaRPr lang="en-US" sz="1100">
                        <a:latin typeface="Courier New" charset="0"/>
                        <a:ea typeface="Courier New" charset="0"/>
                        <a:cs typeface="Courier New"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lgn="ctr">
                        <a:buNone/>
                      </a:pPr>
                      <a:r>
                        <a:rPr lang="en-US" sz="1100" b="1">
                          <a:solidFill>
                            <a:srgbClr val="437A22"/>
                          </a:solidFill>
                          <a:latin typeface="Calibri" pitchFamily="34" charset="0"/>
                          <a:ea typeface="Calibri" pitchFamily="34" charset="-122"/>
                          <a:cs typeface="Calibri" pitchFamily="34" charset="-120"/>
                        </a:rPr>
                        <a:t>0</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tc>
                  <a:txBody>
                    <a:bodyPr/>
                    <a:lstStyle/>
                    <a:p>
                      <a:pPr marL="0" indent="0">
                        <a:buNone/>
                      </a:pPr>
                      <a:r>
                        <a:rPr lang="en-US" sz="1100">
                          <a:solidFill>
                            <a:srgbClr val="28251D"/>
                          </a:solidFill>
                          <a:latin typeface="Calibri" pitchFamily="34" charset="0"/>
                          <a:ea typeface="Calibri" pitchFamily="34" charset="-122"/>
                          <a:cs typeface="Calibri" pitchFamily="34" charset="-120"/>
                        </a:rPr>
                        <a:t>All 28 killed via string assertions</a:t>
                      </a:r>
                      <a:endParaRPr lang="en-US" sz="1100">
                        <a:latin typeface="Calibri" charset="0"/>
                        <a:ea typeface="Calibri" charset="0"/>
                        <a:cs typeface="Calibri" charset="0"/>
                      </a:endParaRPr>
                    </a:p>
                  </a:txBody>
                  <a:tcPr>
                    <a:lnL w="6350" cap="flat" cmpd="sng" algn="ctr">
                      <a:solidFill>
                        <a:srgbClr val="D4D1CA"/>
                      </a:solidFill>
                      <a:prstDash val="solid"/>
                      <a:round/>
                      <a:headEnd type="none" w="med" len="med"/>
                      <a:tailEnd type="none" w="med" len="med"/>
                    </a:lnL>
                    <a:lnR w="6350" cap="flat" cmpd="sng" algn="ctr">
                      <a:solidFill>
                        <a:srgbClr val="D4D1CA"/>
                      </a:solidFill>
                      <a:prstDash val="solid"/>
                      <a:round/>
                      <a:headEnd type="none" w="med" len="med"/>
                      <a:tailEnd type="none" w="med" len="med"/>
                    </a:lnR>
                    <a:lnT w="6350" cap="flat" cmpd="sng" algn="ctr">
                      <a:solidFill>
                        <a:srgbClr val="D4D1CA"/>
                      </a:solidFill>
                      <a:prstDash val="solid"/>
                      <a:round/>
                      <a:headEnd type="none" w="med" len="med"/>
                      <a:tailEnd type="none" w="med" len="med"/>
                    </a:lnT>
                    <a:lnB w="6350" cap="flat" cmpd="sng" algn="ctr">
                      <a:solidFill>
                        <a:srgbClr val="D4D1CA"/>
                      </a:solidFill>
                      <a:prstDash val="solid"/>
                      <a:round/>
                      <a:headEnd type="none" w="med" len="med"/>
                      <a:tailEnd type="none" w="med" len="med"/>
                    </a:lnB>
                    <a:solidFill>
                      <a:srgbClr val="FBFBF9"/>
                    </a:solidFill>
                  </a:tcPr>
                </a:tc>
                <a:extLst>
                  <a:ext uri="{0D108BD9-81ED-4DB2-BD59-A6C34878D82A}">
                    <a16:rowId xmlns:a16="http://schemas.microsoft.com/office/drawing/2014/main" val="10006"/>
                  </a:ext>
                </a:extLst>
              </a:tr>
            </a:tbl>
          </a:graphicData>
        </a:graphic>
      </p:graphicFrame>
      <p:sp>
        <p:nvSpPr>
          <p:cNvPr id="5" name="Shape 2"/>
          <p:cNvSpPr/>
          <p:nvPr/>
        </p:nvSpPr>
        <p:spPr>
          <a:xfrm>
            <a:off x="7863840" y="1691640"/>
            <a:ext cx="3794760" cy="4480560"/>
          </a:xfrm>
          <a:prstGeom prst="rect">
            <a:avLst/>
          </a:prstGeom>
          <a:solidFill>
            <a:srgbClr val="FBFBF9"/>
          </a:solidFill>
          <a:ln w="9525">
            <a:solidFill>
              <a:srgbClr val="D4D1CA"/>
            </a:solidFill>
            <a:prstDash val="solid"/>
          </a:ln>
        </p:spPr>
        <p:txBody>
          <a:bodyPr/>
          <a:lstStyle/>
          <a:p>
            <a:endParaRPr lang="en-US"/>
          </a:p>
        </p:txBody>
      </p:sp>
      <p:sp>
        <p:nvSpPr>
          <p:cNvPr id="6" name="Text 3"/>
          <p:cNvSpPr/>
          <p:nvPr/>
        </p:nvSpPr>
        <p:spPr>
          <a:xfrm>
            <a:off x="8046720" y="1783080"/>
            <a:ext cx="3520440" cy="274320"/>
          </a:xfrm>
          <a:prstGeom prst="rect">
            <a:avLst/>
          </a:prstGeom>
          <a:noFill/>
          <a:ln/>
        </p:spPr>
        <p:txBody>
          <a:bodyPr wrap="square" rtlCol="0" anchor="ctr"/>
          <a:lstStyle/>
          <a:p>
            <a:pPr marL="0" indent="0">
              <a:buNone/>
            </a:pPr>
            <a:r>
              <a:rPr lang="en-US" sz="1000" b="1" kern="0" spc="200">
                <a:solidFill>
                  <a:srgbClr val="01696F"/>
                </a:solidFill>
                <a:latin typeface="Calibri" pitchFamily="34" charset="0"/>
                <a:ea typeface="Calibri" pitchFamily="34" charset="-122"/>
                <a:cs typeface="Calibri" pitchFamily="34" charset="-120"/>
              </a:rPr>
              <a:t>PLATEAU JUSTIFICATION</a:t>
            </a:r>
            <a:endParaRPr lang="en-US" sz="1000"/>
          </a:p>
        </p:txBody>
      </p:sp>
      <p:sp>
        <p:nvSpPr>
          <p:cNvPr id="7" name="Text 4"/>
          <p:cNvSpPr/>
          <p:nvPr/>
        </p:nvSpPr>
        <p:spPr>
          <a:xfrm>
            <a:off x="8046720" y="2057400"/>
            <a:ext cx="3520440" cy="365760"/>
          </a:xfrm>
          <a:prstGeom prst="rect">
            <a:avLst/>
          </a:prstGeom>
          <a:noFill/>
          <a:ln/>
        </p:spPr>
        <p:txBody>
          <a:bodyPr wrap="square" rtlCol="0" anchor="ctr"/>
          <a:lstStyle/>
          <a:p>
            <a:pPr marL="0" indent="0">
              <a:buNone/>
            </a:pPr>
            <a:r>
              <a:rPr lang="en-US" sz="1600" b="1">
                <a:solidFill>
                  <a:srgbClr val="28251D"/>
                </a:solidFill>
                <a:latin typeface="Calibri" pitchFamily="34" charset="0"/>
                <a:ea typeface="Calibri" pitchFamily="34" charset="-122"/>
                <a:cs typeface="Calibri" pitchFamily="34" charset="-120"/>
              </a:rPr>
              <a:t>Why we did not chase 100%</a:t>
            </a:r>
            <a:endParaRPr lang="en-US" sz="1600"/>
          </a:p>
        </p:txBody>
      </p:sp>
      <p:sp>
        <p:nvSpPr>
          <p:cNvPr id="8" name="Text 5"/>
          <p:cNvSpPr/>
          <p:nvPr/>
        </p:nvSpPr>
        <p:spPr>
          <a:xfrm>
            <a:off x="8046720" y="2468880"/>
            <a:ext cx="3520440" cy="3611880"/>
          </a:xfrm>
          <a:prstGeom prst="rect">
            <a:avLst/>
          </a:prstGeom>
          <a:noFill/>
          <a:ln/>
        </p:spPr>
        <p:txBody>
          <a:bodyPr wrap="square" rtlCol="0" anchor="t"/>
          <a:lstStyle/>
          <a:p>
            <a:pPr marL="0" indent="0">
              <a:spcAft>
                <a:spcPts val="300"/>
              </a:spcAft>
              <a:buNone/>
            </a:pPr>
            <a:r>
              <a:rPr lang="en-US" sz="1150">
                <a:solidFill>
                  <a:srgbClr val="28251D"/>
                </a:solidFill>
                <a:latin typeface="Calibri" pitchFamily="34" charset="0"/>
                <a:ea typeface="Calibri" pitchFamily="34" charset="-122"/>
                <a:cs typeface="Calibri" pitchFamily="34" charset="-120"/>
              </a:rPr>
              <a:t>The remaining ~163 survivors concentrate in habit_visualization.py.
Killing them would require asserting exact matplotlib attributes (figsize, hex colors, legend titles, spinner prints).
That overfits tests to visual spec, not correctness — brittle regressions on any UI polish.
Remaining logic mutants in habit_logic.py are provably Equivalent Mutants (e.g., continue vs break on an immediately failing date check).</a:t>
            </a:r>
            <a:endParaRPr lang="en-US" sz="1150"/>
          </a:p>
        </p:txBody>
      </p:sp>
      <p:sp>
        <p:nvSpPr>
          <p:cNvPr id="9" name="Text 6"/>
          <p:cNvSpPr/>
          <p:nvPr/>
        </p:nvSpPr>
        <p:spPr>
          <a:xfrm>
            <a:off x="548640" y="6263640"/>
            <a:ext cx="11155680" cy="228600"/>
          </a:xfrm>
          <a:prstGeom prst="rect">
            <a:avLst/>
          </a:prstGeom>
          <a:noFill/>
          <a:ln/>
        </p:spPr>
        <p:txBody>
          <a:bodyPr wrap="square" rtlCol="0" anchor="ctr"/>
          <a:lstStyle/>
          <a:p>
            <a:pPr marL="0" indent="0">
              <a:buNone/>
            </a:pPr>
            <a:r>
              <a:rPr lang="en-US" sz="900" i="1">
                <a:solidFill>
                  <a:srgbClr val="7A7974"/>
                </a:solidFill>
                <a:latin typeface="Calibri" pitchFamily="34" charset="0"/>
                <a:ea typeface="Calibri" pitchFamily="34" charset="-122"/>
                <a:cs typeface="Calibri" pitchFamily="34" charset="-120"/>
              </a:rPr>
              <a:t>Source: docs/mutation/baseline_report.md, post_improvement_report.md, survivors_by_module.md</a:t>
            </a:r>
            <a:endParaRPr lang="en-US" sz="900"/>
          </a:p>
        </p:txBody>
      </p:sp>
      <p:sp>
        <p:nvSpPr>
          <p:cNvPr id="10" name="Text 7"/>
          <p:cNvSpPr/>
          <p:nvPr/>
        </p:nvSpPr>
        <p:spPr>
          <a:xfrm>
            <a:off x="457200" y="6446520"/>
            <a:ext cx="9144000" cy="274320"/>
          </a:xfrm>
          <a:prstGeom prst="rect">
            <a:avLst/>
          </a:prstGeom>
          <a:noFill/>
          <a:ln/>
        </p:spPr>
        <p:txBody>
          <a:bodyPr wrap="square" rtlCol="0" anchor="ctr"/>
          <a:lstStyle/>
          <a:p>
            <a:pPr marL="0" indent="0">
              <a:buNone/>
            </a:pPr>
            <a:r>
              <a:rPr lang="en-US" sz="900">
                <a:solidFill>
                  <a:srgbClr val="7A7974"/>
                </a:solidFill>
                <a:latin typeface="Calibri" pitchFamily="34" charset="0"/>
                <a:ea typeface="Calibri" pitchFamily="34" charset="-122"/>
                <a:cs typeface="Calibri" pitchFamily="34" charset="-120"/>
              </a:rPr>
              <a:t>Systematic Testing of HERALDEXX/habit-tracker</a:t>
            </a:r>
            <a:r>
              <a:rPr lang="en-US" sz="900">
                <a:solidFill>
                  <a:srgbClr val="BAB9B4"/>
                </a:solidFill>
                <a:latin typeface="Calibri" pitchFamily="34" charset="0"/>
                <a:ea typeface="Calibri" pitchFamily="34" charset="-122"/>
                <a:cs typeface="Calibri" pitchFamily="34" charset="-120"/>
              </a:rPr>
              <a:t>   •   </a:t>
            </a:r>
            <a:r>
              <a:rPr lang="en-US" sz="900">
                <a:solidFill>
                  <a:srgbClr val="7A7974"/>
                </a:solidFill>
                <a:latin typeface="Calibri" pitchFamily="34" charset="0"/>
                <a:ea typeface="Calibri" pitchFamily="34" charset="-122"/>
                <a:cs typeface="Calibri" pitchFamily="34" charset="-120"/>
              </a:rPr>
              <a:t>CS422 Spring 2026</a:t>
            </a:r>
            <a:endParaRPr lang="en-US" sz="900"/>
          </a:p>
        </p:txBody>
      </p:sp>
      <p:sp>
        <p:nvSpPr>
          <p:cNvPr id="11" name="Text 8"/>
          <p:cNvSpPr/>
          <p:nvPr/>
        </p:nvSpPr>
        <p:spPr>
          <a:xfrm>
            <a:off x="10789920" y="6446520"/>
            <a:ext cx="914400" cy="274320"/>
          </a:xfrm>
          <a:prstGeom prst="rect">
            <a:avLst/>
          </a:prstGeom>
          <a:noFill/>
          <a:ln/>
        </p:spPr>
        <p:txBody>
          <a:bodyPr wrap="square" rtlCol="0" anchor="ctr"/>
          <a:lstStyle/>
          <a:p>
            <a:pPr marL="0" indent="0" algn="r">
              <a:buNone/>
            </a:pPr>
            <a:r>
              <a:rPr lang="en-US" sz="900">
                <a:solidFill>
                  <a:srgbClr val="7A7974"/>
                </a:solidFill>
                <a:latin typeface="Calibri" pitchFamily="34" charset="0"/>
                <a:ea typeface="Calibri" pitchFamily="34" charset="-122"/>
                <a:cs typeface="Calibri" pitchFamily="34" charset="-120"/>
              </a:rPr>
              <a:t>11 / 15</a:t>
            </a:r>
            <a:endParaRPr lang="en-US" sz="9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rtlCol="0" anchor="ctr"/>
          <a:lstStyle/>
          <a:p>
            <a:pPr marL="0" indent="0">
              <a:buNone/>
            </a:pPr>
            <a:r>
              <a:rPr lang="en-US" sz="1100" b="1" kern="0" spc="200">
                <a:solidFill>
                  <a:srgbClr val="01696F"/>
                </a:solidFill>
                <a:latin typeface="Calibri" pitchFamily="34" charset="0"/>
                <a:ea typeface="Calibri" pitchFamily="34" charset="-122"/>
                <a:cs typeface="Calibri" pitchFamily="34" charset="-120"/>
              </a:rPr>
              <a:t>ALTERNATE TESTING</a:t>
            </a:r>
            <a:endParaRPr lang="en-US" sz="1100"/>
          </a:p>
        </p:txBody>
      </p:sp>
      <p:sp>
        <p:nvSpPr>
          <p:cNvPr id="3" name="Text 1"/>
          <p:cNvSpPr/>
          <p:nvPr/>
        </p:nvSpPr>
        <p:spPr>
          <a:xfrm>
            <a:off x="548640" y="731520"/>
            <a:ext cx="10972800" cy="731520"/>
          </a:xfrm>
          <a:prstGeom prst="rect">
            <a:avLst/>
          </a:prstGeom>
          <a:noFill/>
          <a:ln/>
        </p:spPr>
        <p:txBody>
          <a:bodyPr wrap="square" rtlCol="0" anchor="ctr"/>
          <a:lstStyle/>
          <a:p>
            <a:pPr marL="0" indent="0">
              <a:buNone/>
            </a:pPr>
            <a:r>
              <a:rPr lang="en-US" sz="3200" b="1">
                <a:solidFill>
                  <a:srgbClr val="28251D"/>
                </a:solidFill>
                <a:latin typeface="Calibri" pitchFamily="34" charset="0"/>
                <a:ea typeface="Calibri" pitchFamily="34" charset="-122"/>
                <a:cs typeface="Calibri" pitchFamily="34" charset="-120"/>
              </a:rPr>
              <a:t>GUI introspection — no mainloop, no pixels</a:t>
            </a:r>
            <a:endParaRPr lang="en-US" sz="3200"/>
          </a:p>
        </p:txBody>
      </p:sp>
      <p:sp>
        <p:nvSpPr>
          <p:cNvPr id="4" name="Text 2"/>
          <p:cNvSpPr/>
          <p:nvPr/>
        </p:nvSpPr>
        <p:spPr>
          <a:xfrm>
            <a:off x="548640" y="1600200"/>
            <a:ext cx="6766560" cy="320040"/>
          </a:xfrm>
          <a:prstGeom prst="rect">
            <a:avLst/>
          </a:prstGeom>
          <a:noFill/>
          <a:ln/>
        </p:spPr>
        <p:txBody>
          <a:bodyPr wrap="square" rtlCol="0" anchor="ctr"/>
          <a:lstStyle/>
          <a:p>
            <a:pPr marL="0" indent="0">
              <a:buNone/>
            </a:pPr>
            <a:r>
              <a:rPr lang="en-US" sz="1100" b="1" kern="0" spc="200">
                <a:solidFill>
                  <a:srgbClr val="01696F"/>
                </a:solidFill>
                <a:latin typeface="Calibri" pitchFamily="34" charset="0"/>
                <a:ea typeface="Calibri" pitchFamily="34" charset="-122"/>
                <a:cs typeface="Calibri" pitchFamily="34" charset="-120"/>
              </a:rPr>
              <a:t>APPROACH: RAW Tk INTROSPECTION</a:t>
            </a:r>
            <a:endParaRPr lang="en-US" sz="1100"/>
          </a:p>
        </p:txBody>
      </p:sp>
      <p:sp>
        <p:nvSpPr>
          <p:cNvPr id="5" name="Text 3"/>
          <p:cNvSpPr/>
          <p:nvPr/>
        </p:nvSpPr>
        <p:spPr>
          <a:xfrm>
            <a:off x="548640" y="1920240"/>
            <a:ext cx="6766560" cy="2560320"/>
          </a:xfrm>
          <a:prstGeom prst="rect">
            <a:avLst/>
          </a:prstGeom>
          <a:noFill/>
          <a:ln/>
        </p:spPr>
        <p:txBody>
          <a:bodyPr wrap="square" rtlCol="0" anchor="ctr"/>
          <a:lstStyle/>
          <a:p>
            <a:pPr marL="342900" indent="-342900">
              <a:spcAft>
                <a:spcPts val="600"/>
              </a:spcAft>
              <a:buSzPct val="100000"/>
              <a:buChar char="•"/>
            </a:pPr>
            <a:r>
              <a:rPr lang="en-US" sz="1300">
                <a:solidFill>
                  <a:srgbClr val="28251D"/>
                </a:solidFill>
                <a:latin typeface="Calibri" pitchFamily="34" charset="0"/>
                <a:ea typeface="Calibri" pitchFamily="34" charset="-122"/>
                <a:cs typeface="Calibri" pitchFamily="34" charset="-120"/>
              </a:rPr>
              <a:t>Instantiate HabitTrackerGUI with real widgets — never call mainloop().</a:t>
            </a:r>
            <a:endParaRPr lang="en-US" sz="1300"/>
          </a:p>
          <a:p>
            <a:pPr marL="342900" indent="-342900">
              <a:spcAft>
                <a:spcPts val="600"/>
              </a:spcAft>
              <a:buSzPct val="100000"/>
              <a:buChar char="•"/>
            </a:pPr>
            <a:r>
              <a:rPr lang="en-US" sz="1300">
                <a:solidFill>
                  <a:srgbClr val="28251D"/>
                </a:solidFill>
                <a:latin typeface="Calibri" pitchFamily="34" charset="0"/>
                <a:ea typeface="Calibri" pitchFamily="34" charset="-122"/>
                <a:cs typeface="Calibri" pitchFamily="34" charset="-120"/>
              </a:rPr>
              <a:t>Pump layout with update_idletasks(); invoke buttons via button.invoke().</a:t>
            </a:r>
            <a:endParaRPr lang="en-US" sz="1300"/>
          </a:p>
          <a:p>
            <a:pPr marL="342900" indent="-342900">
              <a:spcAft>
                <a:spcPts val="600"/>
              </a:spcAft>
              <a:buSzPct val="100000"/>
              <a:buChar char="•"/>
            </a:pPr>
            <a:r>
              <a:rPr lang="en-US" sz="1300">
                <a:solidFill>
                  <a:srgbClr val="28251D"/>
                </a:solidFill>
                <a:latin typeface="Calibri" pitchFamily="34" charset="0"/>
                <a:ea typeface="Calibri" pitchFamily="34" charset="-122"/>
                <a:cs typeface="Calibri" pitchFamily="34" charset="-120"/>
              </a:rPr>
              <a:t>Replace background-threaded _load_data with a synchronous version during tests.</a:t>
            </a:r>
            <a:endParaRPr lang="en-US" sz="1300"/>
          </a:p>
          <a:p>
            <a:pPr marL="342900" indent="-342900">
              <a:spcAft>
                <a:spcPts val="600"/>
              </a:spcAft>
              <a:buSzPct val="100000"/>
              <a:buChar char="•"/>
            </a:pPr>
            <a:r>
              <a:rPr lang="en-US" sz="1300">
                <a:solidFill>
                  <a:srgbClr val="28251D"/>
                </a:solidFill>
                <a:latin typeface="Calibri" pitchFamily="34" charset="0"/>
                <a:ea typeface="Calibri" pitchFamily="34" charset="-122"/>
                <a:cs typeface="Calibri" pitchFamily="34" charset="-120"/>
              </a:rPr>
              <a:t>All 7 gui_app fixtures redirect data + plot paths to tmp_path for full isolation.</a:t>
            </a:r>
            <a:endParaRPr lang="en-US" sz="1300"/>
          </a:p>
          <a:p>
            <a:pPr marL="342900" indent="-342900">
              <a:spcAft>
                <a:spcPts val="600"/>
              </a:spcAft>
              <a:buSzPct val="100000"/>
              <a:buChar char="•"/>
            </a:pPr>
            <a:r>
              <a:rPr lang="en-US" sz="1300">
                <a:solidFill>
                  <a:srgbClr val="28251D"/>
                </a:solidFill>
                <a:latin typeface="Calibri" pitchFamily="34" charset="0"/>
                <a:ea typeface="Calibri" pitchFamily="34" charset="-122"/>
                <a:cs typeface="Calibri" pitchFamily="34" charset="-120"/>
              </a:rPr>
              <a:t>Runs headless on Linux CI via xvfb-run.</a:t>
            </a:r>
            <a:endParaRPr lang="en-US" sz="1300"/>
          </a:p>
        </p:txBody>
      </p:sp>
      <p:sp>
        <p:nvSpPr>
          <p:cNvPr id="6" name="Text 4"/>
          <p:cNvSpPr/>
          <p:nvPr/>
        </p:nvSpPr>
        <p:spPr>
          <a:xfrm>
            <a:off x="548640" y="4617720"/>
            <a:ext cx="6766560" cy="320040"/>
          </a:xfrm>
          <a:prstGeom prst="rect">
            <a:avLst/>
          </a:prstGeom>
          <a:noFill/>
          <a:ln/>
        </p:spPr>
        <p:txBody>
          <a:bodyPr wrap="square" rtlCol="0" anchor="ctr"/>
          <a:lstStyle/>
          <a:p>
            <a:pPr marL="0" indent="0">
              <a:buNone/>
            </a:pPr>
            <a:r>
              <a:rPr lang="en-US" sz="1100" b="1" kern="0" spc="200">
                <a:solidFill>
                  <a:srgbClr val="01696F"/>
                </a:solidFill>
                <a:latin typeface="Calibri" pitchFamily="34" charset="0"/>
                <a:ea typeface="Calibri" pitchFamily="34" charset="-122"/>
                <a:cs typeface="Calibri" pitchFamily="34" charset="-120"/>
              </a:rPr>
              <a:t>WHY NOT pytest-tk OR pyautogui?</a:t>
            </a:r>
            <a:endParaRPr lang="en-US" sz="1100"/>
          </a:p>
        </p:txBody>
      </p:sp>
      <p:sp>
        <p:nvSpPr>
          <p:cNvPr id="7" name="Text 5"/>
          <p:cNvSpPr/>
          <p:nvPr/>
        </p:nvSpPr>
        <p:spPr>
          <a:xfrm>
            <a:off x="548640" y="4937760"/>
            <a:ext cx="6766560" cy="1417320"/>
          </a:xfrm>
          <a:prstGeom prst="rect">
            <a:avLst/>
          </a:prstGeom>
          <a:noFill/>
          <a:ln/>
        </p:spPr>
        <p:txBody>
          <a:bodyPr wrap="square" rtlCol="0" anchor="ctr"/>
          <a:lstStyle/>
          <a:p>
            <a:pPr marL="342900" indent="-342900">
              <a:spcAft>
                <a:spcPts val="400"/>
              </a:spcAft>
              <a:buSzPct val="100000"/>
              <a:buChar char="•"/>
            </a:pPr>
            <a:r>
              <a:rPr lang="en-US" sz="1250">
                <a:solidFill>
                  <a:srgbClr val="28251D"/>
                </a:solidFill>
                <a:latin typeface="Calibri" pitchFamily="34" charset="0"/>
                <a:ea typeface="Calibri" pitchFamily="34" charset="-122"/>
                <a:cs typeface="Calibri" pitchFamily="34" charset="-120"/>
              </a:rPr>
              <a:t>pytest-tk — unmaintained; no customtkinter support.</a:t>
            </a:r>
            <a:endParaRPr lang="en-US" sz="1250"/>
          </a:p>
          <a:p>
            <a:pPr marL="342900" indent="-342900">
              <a:spcAft>
                <a:spcPts val="400"/>
              </a:spcAft>
              <a:buSzPct val="100000"/>
              <a:buChar char="•"/>
            </a:pPr>
            <a:r>
              <a:rPr lang="en-US" sz="1250">
                <a:solidFill>
                  <a:srgbClr val="28251D"/>
                </a:solidFill>
                <a:latin typeface="Calibri" pitchFamily="34" charset="0"/>
                <a:ea typeface="Calibri" pitchFamily="34" charset="-122"/>
                <a:cs typeface="Calibri" pitchFamily="34" charset="-120"/>
              </a:rPr>
              <a:t>pyautogui — needs a visible display; fragile pixel coordinates; slow in CI.</a:t>
            </a:r>
            <a:endParaRPr lang="en-US" sz="1250"/>
          </a:p>
          <a:p>
            <a:pPr marL="342900" indent="-342900">
              <a:spcAft>
                <a:spcPts val="400"/>
              </a:spcAft>
              <a:buSzPct val="100000"/>
              <a:buChar char="•"/>
            </a:pPr>
            <a:r>
              <a:rPr lang="en-US" sz="1250">
                <a:solidFill>
                  <a:srgbClr val="28251D"/>
                </a:solidFill>
                <a:latin typeface="Calibri" pitchFamily="34" charset="0"/>
                <a:ea typeface="Calibri" pitchFamily="34" charset="-122"/>
                <a:cs typeface="Calibri" pitchFamily="34" charset="-120"/>
              </a:rPr>
              <a:t>Introspection — zero extra deps, full widget-tree access, fastest in the harness.</a:t>
            </a:r>
            <a:endParaRPr lang="en-US" sz="1250"/>
          </a:p>
        </p:txBody>
      </p:sp>
      <p:pic>
        <p:nvPicPr>
          <p:cNvPr id="8" name="Image 0" descr="/home/user/workspace/presentation_assets/gui-dark.png"/>
          <p:cNvPicPr>
            <a:picLocks noChangeAspect="1"/>
          </p:cNvPicPr>
          <p:nvPr/>
        </p:nvPicPr>
        <p:blipFill>
          <a:blip r:embed="rId3"/>
          <a:srcRect/>
          <a:stretch/>
        </p:blipFill>
        <p:spPr>
          <a:xfrm>
            <a:off x="7543800" y="1691640"/>
            <a:ext cx="4160520" cy="2834640"/>
          </a:xfrm>
          <a:prstGeom prst="rect">
            <a:avLst/>
          </a:prstGeom>
        </p:spPr>
      </p:pic>
      <p:sp>
        <p:nvSpPr>
          <p:cNvPr id="9" name="Text 6"/>
          <p:cNvSpPr/>
          <p:nvPr/>
        </p:nvSpPr>
        <p:spPr>
          <a:xfrm>
            <a:off x="7543800" y="4526280"/>
            <a:ext cx="4160520" cy="274320"/>
          </a:xfrm>
          <a:prstGeom prst="rect">
            <a:avLst/>
          </a:prstGeom>
          <a:noFill/>
          <a:ln/>
        </p:spPr>
        <p:txBody>
          <a:bodyPr wrap="square" rtlCol="0" anchor="ctr"/>
          <a:lstStyle/>
          <a:p>
            <a:pPr marL="0" indent="0" algn="ctr">
              <a:buNone/>
            </a:pPr>
            <a:r>
              <a:rPr lang="en-US" sz="1000" i="1">
                <a:solidFill>
                  <a:srgbClr val="7A7974"/>
                </a:solidFill>
                <a:latin typeface="Calibri" pitchFamily="34" charset="0"/>
                <a:ea typeface="Calibri" pitchFamily="34" charset="-122"/>
                <a:cs typeface="Calibri" pitchFamily="34" charset="-120"/>
              </a:rPr>
              <a:t>Subject app — GUI view (dark theme)</a:t>
            </a:r>
            <a:endParaRPr lang="en-US" sz="1000"/>
          </a:p>
        </p:txBody>
      </p:sp>
      <p:sp>
        <p:nvSpPr>
          <p:cNvPr id="10" name="Shape 7"/>
          <p:cNvSpPr/>
          <p:nvPr/>
        </p:nvSpPr>
        <p:spPr>
          <a:xfrm>
            <a:off x="7543800" y="4892040"/>
            <a:ext cx="4160520" cy="1234440"/>
          </a:xfrm>
          <a:prstGeom prst="rect">
            <a:avLst/>
          </a:prstGeom>
          <a:solidFill>
            <a:srgbClr val="FBFBF9"/>
          </a:solidFill>
          <a:ln w="9525">
            <a:solidFill>
              <a:srgbClr val="D4D1CA"/>
            </a:solidFill>
            <a:prstDash val="solid"/>
          </a:ln>
        </p:spPr>
        <p:txBody>
          <a:bodyPr/>
          <a:lstStyle/>
          <a:p>
            <a:endParaRPr lang="en-US"/>
          </a:p>
        </p:txBody>
      </p:sp>
      <p:sp>
        <p:nvSpPr>
          <p:cNvPr id="11" name="Text 8"/>
          <p:cNvSpPr/>
          <p:nvPr/>
        </p:nvSpPr>
        <p:spPr>
          <a:xfrm>
            <a:off x="7680960" y="4983480"/>
            <a:ext cx="1554480" cy="1051560"/>
          </a:xfrm>
          <a:prstGeom prst="rect">
            <a:avLst/>
          </a:prstGeom>
          <a:noFill/>
          <a:ln/>
        </p:spPr>
        <p:txBody>
          <a:bodyPr wrap="square" rtlCol="0" anchor="ctr"/>
          <a:lstStyle/>
          <a:p>
            <a:pPr marL="0" indent="0">
              <a:buNone/>
            </a:pPr>
            <a:r>
              <a:rPr lang="en-US" sz="5400" b="1">
                <a:solidFill>
                  <a:srgbClr val="01696F"/>
                </a:solidFill>
                <a:latin typeface="Calibri" pitchFamily="34" charset="0"/>
                <a:ea typeface="Calibri" pitchFamily="34" charset="-122"/>
                <a:cs typeface="Calibri" pitchFamily="34" charset="-120"/>
              </a:rPr>
              <a:t>45</a:t>
            </a:r>
            <a:endParaRPr lang="en-US" sz="5400"/>
          </a:p>
        </p:txBody>
      </p:sp>
      <p:sp>
        <p:nvSpPr>
          <p:cNvPr id="12" name="Text 9"/>
          <p:cNvSpPr/>
          <p:nvPr/>
        </p:nvSpPr>
        <p:spPr>
          <a:xfrm>
            <a:off x="9235440" y="5029200"/>
            <a:ext cx="2423160" cy="1005840"/>
          </a:xfrm>
          <a:prstGeom prst="rect">
            <a:avLst/>
          </a:prstGeom>
          <a:noFill/>
          <a:ln/>
        </p:spPr>
        <p:txBody>
          <a:bodyPr wrap="square" rtlCol="0" anchor="ctr"/>
          <a:lstStyle/>
          <a:p>
            <a:pPr marL="0" indent="0">
              <a:buNone/>
            </a:pPr>
            <a:r>
              <a:rPr lang="en-US" sz="1100">
                <a:solidFill>
                  <a:srgbClr val="28251D"/>
                </a:solidFill>
                <a:latin typeface="Calibri" pitchFamily="34" charset="0"/>
                <a:ea typeface="Calibri" pitchFamily="34" charset="-122"/>
                <a:cs typeface="Calibri" pitchFamily="34" charset="-120"/>
              </a:rPr>
              <a:t>GUI tests covering wizard, dashboard, theming, logs, stats, reminders, autosave.</a:t>
            </a:r>
            <a:endParaRPr lang="en-US" sz="1100"/>
          </a:p>
        </p:txBody>
      </p:sp>
      <p:sp>
        <p:nvSpPr>
          <p:cNvPr id="13" name="Text 10"/>
          <p:cNvSpPr/>
          <p:nvPr/>
        </p:nvSpPr>
        <p:spPr>
          <a:xfrm>
            <a:off x="457200" y="6446520"/>
            <a:ext cx="9144000" cy="274320"/>
          </a:xfrm>
          <a:prstGeom prst="rect">
            <a:avLst/>
          </a:prstGeom>
          <a:noFill/>
          <a:ln/>
        </p:spPr>
        <p:txBody>
          <a:bodyPr wrap="square" rtlCol="0" anchor="ctr"/>
          <a:lstStyle/>
          <a:p>
            <a:pPr marL="0" indent="0">
              <a:buNone/>
            </a:pPr>
            <a:r>
              <a:rPr lang="en-US" sz="900">
                <a:solidFill>
                  <a:srgbClr val="7A7974"/>
                </a:solidFill>
                <a:latin typeface="Calibri" pitchFamily="34" charset="0"/>
                <a:ea typeface="Calibri" pitchFamily="34" charset="-122"/>
                <a:cs typeface="Calibri" pitchFamily="34" charset="-120"/>
              </a:rPr>
              <a:t>Systematic Testing of HERALDEXX/habit-tracker</a:t>
            </a:r>
            <a:r>
              <a:rPr lang="en-US" sz="900">
                <a:solidFill>
                  <a:srgbClr val="BAB9B4"/>
                </a:solidFill>
                <a:latin typeface="Calibri" pitchFamily="34" charset="0"/>
                <a:ea typeface="Calibri" pitchFamily="34" charset="-122"/>
                <a:cs typeface="Calibri" pitchFamily="34" charset="-120"/>
              </a:rPr>
              <a:t>   •   </a:t>
            </a:r>
            <a:r>
              <a:rPr lang="en-US" sz="900">
                <a:solidFill>
                  <a:srgbClr val="7A7974"/>
                </a:solidFill>
                <a:latin typeface="Calibri" pitchFamily="34" charset="0"/>
                <a:ea typeface="Calibri" pitchFamily="34" charset="-122"/>
                <a:cs typeface="Calibri" pitchFamily="34" charset="-120"/>
              </a:rPr>
              <a:t>CS422 Spring 2026</a:t>
            </a:r>
            <a:endParaRPr lang="en-US" sz="900"/>
          </a:p>
        </p:txBody>
      </p:sp>
      <p:sp>
        <p:nvSpPr>
          <p:cNvPr id="14" name="Text 11"/>
          <p:cNvSpPr/>
          <p:nvPr/>
        </p:nvSpPr>
        <p:spPr>
          <a:xfrm>
            <a:off x="10789920" y="6446520"/>
            <a:ext cx="914400" cy="274320"/>
          </a:xfrm>
          <a:prstGeom prst="rect">
            <a:avLst/>
          </a:prstGeom>
          <a:noFill/>
          <a:ln/>
        </p:spPr>
        <p:txBody>
          <a:bodyPr wrap="square" rtlCol="0" anchor="ctr"/>
          <a:lstStyle/>
          <a:p>
            <a:pPr marL="0" indent="0" algn="r">
              <a:buNone/>
            </a:pPr>
            <a:r>
              <a:rPr lang="en-US" sz="900">
                <a:solidFill>
                  <a:srgbClr val="7A7974"/>
                </a:solidFill>
                <a:latin typeface="Calibri" pitchFamily="34" charset="0"/>
                <a:ea typeface="Calibri" pitchFamily="34" charset="-122"/>
                <a:cs typeface="Calibri" pitchFamily="34" charset="-120"/>
              </a:rPr>
              <a:t>12 / 15</a:t>
            </a:r>
            <a:endParaRPr lang="en-US" sz="9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rtlCol="0" anchor="ctr"/>
          <a:lstStyle/>
          <a:p>
            <a:pPr marL="0" indent="0">
              <a:buNone/>
            </a:pPr>
            <a:r>
              <a:rPr lang="en-US" sz="1100" b="1" kern="0" spc="200">
                <a:solidFill>
                  <a:srgbClr val="01696F"/>
                </a:solidFill>
                <a:latin typeface="Calibri" pitchFamily="34" charset="0"/>
                <a:ea typeface="Calibri" pitchFamily="34" charset="-122"/>
                <a:cs typeface="Calibri" pitchFamily="34" charset="-120"/>
              </a:rPr>
              <a:t>FINDINGS</a:t>
            </a:r>
            <a:endParaRPr lang="en-US" sz="1100"/>
          </a:p>
        </p:txBody>
      </p:sp>
      <p:sp>
        <p:nvSpPr>
          <p:cNvPr id="3" name="Text 1"/>
          <p:cNvSpPr/>
          <p:nvPr/>
        </p:nvSpPr>
        <p:spPr>
          <a:xfrm>
            <a:off x="548640" y="731520"/>
            <a:ext cx="10972800" cy="731520"/>
          </a:xfrm>
          <a:prstGeom prst="rect">
            <a:avLst/>
          </a:prstGeom>
          <a:noFill/>
          <a:ln/>
        </p:spPr>
        <p:txBody>
          <a:bodyPr wrap="square" rtlCol="0" anchor="ctr"/>
          <a:lstStyle/>
          <a:p>
            <a:pPr marL="0" indent="0">
              <a:buNone/>
            </a:pPr>
            <a:r>
              <a:rPr lang="en-US" sz="3200" b="1">
                <a:solidFill>
                  <a:srgbClr val="28251D"/>
                </a:solidFill>
                <a:latin typeface="Calibri" pitchFamily="34" charset="0"/>
                <a:ea typeface="Calibri" pitchFamily="34" charset="-122"/>
                <a:cs typeface="Calibri" pitchFamily="34" charset="-120"/>
              </a:rPr>
              <a:t>Defects &amp; behaviours surfaced by the suite</a:t>
            </a:r>
            <a:endParaRPr lang="en-US" sz="3200"/>
          </a:p>
        </p:txBody>
      </p:sp>
      <p:sp>
        <p:nvSpPr>
          <p:cNvPr id="4" name="Shape 2"/>
          <p:cNvSpPr/>
          <p:nvPr/>
        </p:nvSpPr>
        <p:spPr>
          <a:xfrm>
            <a:off x="548640" y="1691640"/>
            <a:ext cx="11109960" cy="1051560"/>
          </a:xfrm>
          <a:prstGeom prst="rect">
            <a:avLst/>
          </a:prstGeom>
          <a:solidFill>
            <a:srgbClr val="FBFBF9"/>
          </a:solidFill>
          <a:ln w="9525">
            <a:solidFill>
              <a:srgbClr val="D4D1CA"/>
            </a:solidFill>
            <a:prstDash val="solid"/>
          </a:ln>
        </p:spPr>
        <p:txBody>
          <a:bodyPr/>
          <a:lstStyle/>
          <a:p>
            <a:endParaRPr lang="en-US"/>
          </a:p>
        </p:txBody>
      </p:sp>
      <p:sp>
        <p:nvSpPr>
          <p:cNvPr id="5" name="Shape 3"/>
          <p:cNvSpPr/>
          <p:nvPr/>
        </p:nvSpPr>
        <p:spPr>
          <a:xfrm>
            <a:off x="731520" y="1847088"/>
            <a:ext cx="1188720" cy="320040"/>
          </a:xfrm>
          <a:prstGeom prst="roundRect">
            <a:avLst>
              <a:gd name="adj" fmla="val 28571"/>
            </a:avLst>
          </a:prstGeom>
          <a:solidFill>
            <a:srgbClr val="964219"/>
          </a:solidFill>
          <a:ln w="12700">
            <a:solidFill>
              <a:srgbClr val="964219"/>
            </a:solidFill>
            <a:prstDash val="solid"/>
          </a:ln>
        </p:spPr>
        <p:txBody>
          <a:bodyPr/>
          <a:lstStyle/>
          <a:p>
            <a:endParaRPr lang="en-US"/>
          </a:p>
        </p:txBody>
      </p:sp>
      <p:sp>
        <p:nvSpPr>
          <p:cNvPr id="6" name="Text 4"/>
          <p:cNvSpPr/>
          <p:nvPr/>
        </p:nvSpPr>
        <p:spPr>
          <a:xfrm>
            <a:off x="731520" y="1847088"/>
            <a:ext cx="1188720" cy="320040"/>
          </a:xfrm>
          <a:prstGeom prst="rect">
            <a:avLst/>
          </a:prstGeom>
          <a:noFill/>
          <a:ln/>
        </p:spPr>
        <p:txBody>
          <a:bodyPr wrap="square" rtlCol="0" anchor="ctr"/>
          <a:lstStyle/>
          <a:p>
            <a:pPr marL="0" indent="0" algn="ctr">
              <a:buNone/>
            </a:pPr>
            <a:r>
              <a:rPr lang="en-US" sz="1000" b="1" kern="0" spc="200">
                <a:solidFill>
                  <a:srgbClr val="FFFFFF"/>
                </a:solidFill>
                <a:latin typeface="Calibri" pitchFamily="34" charset="0"/>
                <a:ea typeface="Calibri" pitchFamily="34" charset="-122"/>
                <a:cs typeface="Calibri" pitchFamily="34" charset="-120"/>
              </a:rPr>
              <a:t>MINOR</a:t>
            </a:r>
            <a:endParaRPr lang="en-US" sz="1000"/>
          </a:p>
        </p:txBody>
      </p:sp>
      <p:sp>
        <p:nvSpPr>
          <p:cNvPr id="7" name="Text 5"/>
          <p:cNvSpPr/>
          <p:nvPr/>
        </p:nvSpPr>
        <p:spPr>
          <a:xfrm>
            <a:off x="2057400" y="1801368"/>
            <a:ext cx="9418320" cy="365760"/>
          </a:xfrm>
          <a:prstGeom prst="rect">
            <a:avLst/>
          </a:prstGeom>
          <a:noFill/>
          <a:ln/>
        </p:spPr>
        <p:txBody>
          <a:bodyPr wrap="square" rtlCol="0" anchor="ctr"/>
          <a:lstStyle/>
          <a:p>
            <a:pPr marL="0" indent="0">
              <a:buNone/>
            </a:pPr>
            <a:r>
              <a:rPr lang="en-US" sz="1500" b="1">
                <a:solidFill>
                  <a:srgbClr val="28251D"/>
                </a:solidFill>
                <a:latin typeface="Calibri" pitchFamily="34" charset="0"/>
                <a:ea typeface="Calibri" pitchFamily="34" charset="-122"/>
                <a:cs typeface="Calibri" pitchFamily="34" charset="-120"/>
              </a:rPr>
              <a:t>CLI flag precedence silently drops later flags</a:t>
            </a:r>
            <a:endParaRPr lang="en-US" sz="1500"/>
          </a:p>
        </p:txBody>
      </p:sp>
      <p:sp>
        <p:nvSpPr>
          <p:cNvPr id="8" name="Text 6"/>
          <p:cNvSpPr/>
          <p:nvPr/>
        </p:nvSpPr>
        <p:spPr>
          <a:xfrm>
            <a:off x="2057400" y="2167128"/>
            <a:ext cx="9418320" cy="548640"/>
          </a:xfrm>
          <a:prstGeom prst="rect">
            <a:avLst/>
          </a:prstGeom>
          <a:noFill/>
          <a:ln/>
        </p:spPr>
        <p:txBody>
          <a:bodyPr wrap="square" rtlCol="0" anchor="ctr"/>
          <a:lstStyle/>
          <a:p>
            <a:pPr marL="0" indent="0">
              <a:buNone/>
            </a:pPr>
            <a:r>
              <a:rPr lang="en-US" sz="1150">
                <a:solidFill>
                  <a:srgbClr val="28251D"/>
                </a:solidFill>
                <a:latin typeface="Calibri" pitchFamily="34" charset="0"/>
                <a:ea typeface="Calibri" pitchFamily="34" charset="-122"/>
                <a:cs typeface="Calibri" pitchFamily="34" charset="-120"/>
              </a:rPr>
              <a:t>Only argv[1] is honoured — e.g., `habit-tracker --plot --reset` skips the reset. Surfaced by combinatorial tests 4–15. Documented, not fixed.</a:t>
            </a:r>
            <a:endParaRPr lang="en-US" sz="1150"/>
          </a:p>
        </p:txBody>
      </p:sp>
      <p:sp>
        <p:nvSpPr>
          <p:cNvPr id="9" name="Shape 7"/>
          <p:cNvSpPr/>
          <p:nvPr/>
        </p:nvSpPr>
        <p:spPr>
          <a:xfrm>
            <a:off x="548640" y="2816352"/>
            <a:ext cx="11109960" cy="1051560"/>
          </a:xfrm>
          <a:prstGeom prst="rect">
            <a:avLst/>
          </a:prstGeom>
          <a:solidFill>
            <a:srgbClr val="FBFBF9"/>
          </a:solidFill>
          <a:ln w="9525">
            <a:solidFill>
              <a:srgbClr val="D4D1CA"/>
            </a:solidFill>
            <a:prstDash val="solid"/>
          </a:ln>
        </p:spPr>
        <p:txBody>
          <a:bodyPr/>
          <a:lstStyle/>
          <a:p>
            <a:endParaRPr lang="en-US"/>
          </a:p>
        </p:txBody>
      </p:sp>
      <p:sp>
        <p:nvSpPr>
          <p:cNvPr id="10" name="Shape 8"/>
          <p:cNvSpPr/>
          <p:nvPr/>
        </p:nvSpPr>
        <p:spPr>
          <a:xfrm>
            <a:off x="731520" y="2971800"/>
            <a:ext cx="1188720" cy="320040"/>
          </a:xfrm>
          <a:prstGeom prst="roundRect">
            <a:avLst>
              <a:gd name="adj" fmla="val 28571"/>
            </a:avLst>
          </a:prstGeom>
          <a:solidFill>
            <a:srgbClr val="A12C7B"/>
          </a:solidFill>
          <a:ln w="12700">
            <a:solidFill>
              <a:srgbClr val="A12C7B"/>
            </a:solidFill>
            <a:prstDash val="solid"/>
          </a:ln>
        </p:spPr>
        <p:txBody>
          <a:bodyPr/>
          <a:lstStyle/>
          <a:p>
            <a:endParaRPr lang="en-US"/>
          </a:p>
        </p:txBody>
      </p:sp>
      <p:sp>
        <p:nvSpPr>
          <p:cNvPr id="11" name="Text 9"/>
          <p:cNvSpPr/>
          <p:nvPr/>
        </p:nvSpPr>
        <p:spPr>
          <a:xfrm>
            <a:off x="731520" y="2971800"/>
            <a:ext cx="1188720" cy="320040"/>
          </a:xfrm>
          <a:prstGeom prst="rect">
            <a:avLst/>
          </a:prstGeom>
          <a:noFill/>
          <a:ln/>
        </p:spPr>
        <p:txBody>
          <a:bodyPr wrap="square" rtlCol="0" anchor="ctr"/>
          <a:lstStyle/>
          <a:p>
            <a:pPr marL="0" indent="0" algn="ctr">
              <a:buNone/>
            </a:pPr>
            <a:r>
              <a:rPr lang="en-US" sz="1000" b="1" kern="0" spc="200">
                <a:solidFill>
                  <a:srgbClr val="FFFFFF"/>
                </a:solidFill>
                <a:latin typeface="Calibri" pitchFamily="34" charset="0"/>
                <a:ea typeface="Calibri" pitchFamily="34" charset="-122"/>
                <a:cs typeface="Calibri" pitchFamily="34" charset="-120"/>
              </a:rPr>
              <a:t>QUALITY</a:t>
            </a:r>
            <a:endParaRPr lang="en-US" sz="1000"/>
          </a:p>
        </p:txBody>
      </p:sp>
      <p:sp>
        <p:nvSpPr>
          <p:cNvPr id="12" name="Text 10"/>
          <p:cNvSpPr/>
          <p:nvPr/>
        </p:nvSpPr>
        <p:spPr>
          <a:xfrm>
            <a:off x="2057400" y="2926080"/>
            <a:ext cx="9418320" cy="365760"/>
          </a:xfrm>
          <a:prstGeom prst="rect">
            <a:avLst/>
          </a:prstGeom>
          <a:noFill/>
          <a:ln/>
        </p:spPr>
        <p:txBody>
          <a:bodyPr wrap="square" rtlCol="0" anchor="ctr"/>
          <a:lstStyle/>
          <a:p>
            <a:pPr marL="0" indent="0">
              <a:buNone/>
            </a:pPr>
            <a:r>
              <a:rPr lang="en-US" sz="1500" b="1">
                <a:solidFill>
                  <a:srgbClr val="28251D"/>
                </a:solidFill>
                <a:latin typeface="Calibri" pitchFamily="34" charset="0"/>
                <a:ea typeface="Calibri" pitchFamily="34" charset="-122"/>
                <a:cs typeface="Calibri" pitchFamily="34" charset="-120"/>
              </a:rPr>
              <a:t>Stream of matplotlib print/spinner output tightly coupled to logic</a:t>
            </a:r>
            <a:endParaRPr lang="en-US" sz="1500"/>
          </a:p>
        </p:txBody>
      </p:sp>
      <p:sp>
        <p:nvSpPr>
          <p:cNvPr id="13" name="Text 11"/>
          <p:cNvSpPr/>
          <p:nvPr/>
        </p:nvSpPr>
        <p:spPr>
          <a:xfrm>
            <a:off x="2057400" y="3291840"/>
            <a:ext cx="9418320" cy="548640"/>
          </a:xfrm>
          <a:prstGeom prst="rect">
            <a:avLst/>
          </a:prstGeom>
          <a:noFill/>
          <a:ln/>
        </p:spPr>
        <p:txBody>
          <a:bodyPr wrap="square" rtlCol="0" anchor="ctr"/>
          <a:lstStyle/>
          <a:p>
            <a:pPr marL="0" indent="0">
              <a:buNone/>
            </a:pPr>
            <a:r>
              <a:rPr lang="en-US" sz="1150">
                <a:solidFill>
                  <a:srgbClr val="28251D"/>
                </a:solidFill>
                <a:latin typeface="Calibri" pitchFamily="34" charset="0"/>
                <a:ea typeface="Calibri" pitchFamily="34" charset="-122"/>
                <a:cs typeface="Calibri" pitchFamily="34" charset="-120"/>
              </a:rPr>
              <a:t>habit_visualization.py mixes progress prints with data logic — makes mutation testing infeasible without refactor. Main driver behind the 163 remaining survivors.</a:t>
            </a:r>
            <a:endParaRPr lang="en-US" sz="1150"/>
          </a:p>
        </p:txBody>
      </p:sp>
      <p:sp>
        <p:nvSpPr>
          <p:cNvPr id="14" name="Shape 12"/>
          <p:cNvSpPr/>
          <p:nvPr/>
        </p:nvSpPr>
        <p:spPr>
          <a:xfrm>
            <a:off x="548640" y="3941064"/>
            <a:ext cx="11109960" cy="1051560"/>
          </a:xfrm>
          <a:prstGeom prst="rect">
            <a:avLst/>
          </a:prstGeom>
          <a:solidFill>
            <a:srgbClr val="FBFBF9"/>
          </a:solidFill>
          <a:ln w="9525">
            <a:solidFill>
              <a:srgbClr val="D4D1CA"/>
            </a:solidFill>
            <a:prstDash val="solid"/>
          </a:ln>
        </p:spPr>
        <p:txBody>
          <a:bodyPr/>
          <a:lstStyle/>
          <a:p>
            <a:endParaRPr lang="en-US"/>
          </a:p>
        </p:txBody>
      </p:sp>
      <p:sp>
        <p:nvSpPr>
          <p:cNvPr id="15" name="Shape 13"/>
          <p:cNvSpPr/>
          <p:nvPr/>
        </p:nvSpPr>
        <p:spPr>
          <a:xfrm>
            <a:off x="731520" y="4096512"/>
            <a:ext cx="1188720" cy="320040"/>
          </a:xfrm>
          <a:prstGeom prst="roundRect">
            <a:avLst>
              <a:gd name="adj" fmla="val 28571"/>
            </a:avLst>
          </a:prstGeom>
          <a:solidFill>
            <a:srgbClr val="7A7974"/>
          </a:solidFill>
          <a:ln w="12700">
            <a:solidFill>
              <a:srgbClr val="7A7974"/>
            </a:solidFill>
            <a:prstDash val="solid"/>
          </a:ln>
        </p:spPr>
        <p:txBody>
          <a:bodyPr/>
          <a:lstStyle/>
          <a:p>
            <a:endParaRPr lang="en-US"/>
          </a:p>
        </p:txBody>
      </p:sp>
      <p:sp>
        <p:nvSpPr>
          <p:cNvPr id="16" name="Text 14"/>
          <p:cNvSpPr/>
          <p:nvPr/>
        </p:nvSpPr>
        <p:spPr>
          <a:xfrm>
            <a:off x="731520" y="4096512"/>
            <a:ext cx="1188720" cy="320040"/>
          </a:xfrm>
          <a:prstGeom prst="rect">
            <a:avLst/>
          </a:prstGeom>
          <a:noFill/>
          <a:ln/>
        </p:spPr>
        <p:txBody>
          <a:bodyPr wrap="square" rtlCol="0" anchor="ctr"/>
          <a:lstStyle/>
          <a:p>
            <a:pPr marL="0" indent="0" algn="ctr">
              <a:buNone/>
            </a:pPr>
            <a:r>
              <a:rPr lang="en-US" sz="1000" b="1" kern="0" spc="200">
                <a:solidFill>
                  <a:srgbClr val="FFFFFF"/>
                </a:solidFill>
                <a:latin typeface="Calibri" pitchFamily="34" charset="0"/>
                <a:ea typeface="Calibri" pitchFamily="34" charset="-122"/>
                <a:cs typeface="Calibri" pitchFamily="34" charset="-120"/>
              </a:rPr>
              <a:t>N/A</a:t>
            </a:r>
            <a:endParaRPr lang="en-US" sz="1000"/>
          </a:p>
        </p:txBody>
      </p:sp>
      <p:sp>
        <p:nvSpPr>
          <p:cNvPr id="17" name="Text 15"/>
          <p:cNvSpPr/>
          <p:nvPr/>
        </p:nvSpPr>
        <p:spPr>
          <a:xfrm>
            <a:off x="2057400" y="4050792"/>
            <a:ext cx="9418320" cy="365760"/>
          </a:xfrm>
          <a:prstGeom prst="rect">
            <a:avLst/>
          </a:prstGeom>
          <a:noFill/>
          <a:ln/>
        </p:spPr>
        <p:txBody>
          <a:bodyPr wrap="square" rtlCol="0" anchor="ctr"/>
          <a:lstStyle/>
          <a:p>
            <a:pPr marL="0" indent="0">
              <a:buNone/>
            </a:pPr>
            <a:r>
              <a:rPr lang="en-US" sz="1500" b="1">
                <a:solidFill>
                  <a:srgbClr val="28251D"/>
                </a:solidFill>
                <a:latin typeface="Calibri" pitchFamily="34" charset="0"/>
                <a:ea typeface="Calibri" pitchFamily="34" charset="-122"/>
                <a:cs typeface="Calibri" pitchFamily="34" charset="-120"/>
              </a:rPr>
              <a:t>Equivalent mutants in habit_logic.py date loop</a:t>
            </a:r>
            <a:endParaRPr lang="en-US" sz="1500"/>
          </a:p>
        </p:txBody>
      </p:sp>
      <p:sp>
        <p:nvSpPr>
          <p:cNvPr id="18" name="Text 16"/>
          <p:cNvSpPr/>
          <p:nvPr/>
        </p:nvSpPr>
        <p:spPr>
          <a:xfrm>
            <a:off x="2057400" y="4416552"/>
            <a:ext cx="9418320" cy="548640"/>
          </a:xfrm>
          <a:prstGeom prst="rect">
            <a:avLst/>
          </a:prstGeom>
          <a:noFill/>
          <a:ln/>
        </p:spPr>
        <p:txBody>
          <a:bodyPr wrap="square" rtlCol="0" anchor="ctr"/>
          <a:lstStyle/>
          <a:p>
            <a:pPr marL="0" indent="0">
              <a:buNone/>
            </a:pPr>
            <a:r>
              <a:rPr lang="en-US" sz="1150">
                <a:solidFill>
                  <a:srgbClr val="28251D"/>
                </a:solidFill>
                <a:latin typeface="Calibri" pitchFamily="34" charset="0"/>
                <a:ea typeface="Calibri" pitchFamily="34" charset="-122"/>
                <a:cs typeface="Calibri" pitchFamily="34" charset="-120"/>
              </a:rPr>
              <a:t>`continue` vs `break` after an already-failing `validate_date_format` call is provably equivalent — no observable behaviour changes. Survivors: mutmut IDs 97 &amp; 98 (see docs/mutation/survivors_by_module.md).</a:t>
            </a:r>
            <a:endParaRPr lang="en-US" sz="1150"/>
          </a:p>
        </p:txBody>
      </p:sp>
      <p:sp>
        <p:nvSpPr>
          <p:cNvPr id="19" name="Shape 17"/>
          <p:cNvSpPr/>
          <p:nvPr/>
        </p:nvSpPr>
        <p:spPr>
          <a:xfrm>
            <a:off x="548640" y="5065776"/>
            <a:ext cx="11109960" cy="1051560"/>
          </a:xfrm>
          <a:prstGeom prst="rect">
            <a:avLst/>
          </a:prstGeom>
          <a:solidFill>
            <a:srgbClr val="FBFBF9"/>
          </a:solidFill>
          <a:ln w="9525">
            <a:solidFill>
              <a:srgbClr val="D4D1CA"/>
            </a:solidFill>
            <a:prstDash val="solid"/>
          </a:ln>
        </p:spPr>
        <p:txBody>
          <a:bodyPr/>
          <a:lstStyle/>
          <a:p>
            <a:endParaRPr lang="en-US"/>
          </a:p>
        </p:txBody>
      </p:sp>
      <p:sp>
        <p:nvSpPr>
          <p:cNvPr id="20" name="Shape 18"/>
          <p:cNvSpPr/>
          <p:nvPr/>
        </p:nvSpPr>
        <p:spPr>
          <a:xfrm>
            <a:off x="731520" y="5221224"/>
            <a:ext cx="1188720" cy="320040"/>
          </a:xfrm>
          <a:prstGeom prst="roundRect">
            <a:avLst>
              <a:gd name="adj" fmla="val 28571"/>
            </a:avLst>
          </a:prstGeom>
          <a:solidFill>
            <a:srgbClr val="7A7974"/>
          </a:solidFill>
          <a:ln w="12700">
            <a:solidFill>
              <a:srgbClr val="7A7974"/>
            </a:solidFill>
            <a:prstDash val="solid"/>
          </a:ln>
        </p:spPr>
        <p:txBody>
          <a:bodyPr/>
          <a:lstStyle/>
          <a:p>
            <a:endParaRPr lang="en-US"/>
          </a:p>
        </p:txBody>
      </p:sp>
      <p:sp>
        <p:nvSpPr>
          <p:cNvPr id="21" name="Text 19"/>
          <p:cNvSpPr/>
          <p:nvPr/>
        </p:nvSpPr>
        <p:spPr>
          <a:xfrm>
            <a:off x="731520" y="5221224"/>
            <a:ext cx="1188720" cy="320040"/>
          </a:xfrm>
          <a:prstGeom prst="rect">
            <a:avLst/>
          </a:prstGeom>
          <a:noFill/>
          <a:ln/>
        </p:spPr>
        <p:txBody>
          <a:bodyPr wrap="square" rtlCol="0" anchor="ctr"/>
          <a:lstStyle/>
          <a:p>
            <a:pPr marL="0" indent="0" algn="ctr">
              <a:buNone/>
            </a:pPr>
            <a:r>
              <a:rPr lang="en-US" sz="1000" b="1" kern="0" spc="200">
                <a:solidFill>
                  <a:srgbClr val="FFFFFF"/>
                </a:solidFill>
                <a:latin typeface="Calibri" pitchFamily="34" charset="0"/>
                <a:ea typeface="Calibri" pitchFamily="34" charset="-122"/>
                <a:cs typeface="Calibri" pitchFamily="34" charset="-120"/>
              </a:rPr>
              <a:t>COSMETIC</a:t>
            </a:r>
            <a:endParaRPr lang="en-US" sz="1000"/>
          </a:p>
        </p:txBody>
      </p:sp>
      <p:sp>
        <p:nvSpPr>
          <p:cNvPr id="22" name="Text 20"/>
          <p:cNvSpPr/>
          <p:nvPr/>
        </p:nvSpPr>
        <p:spPr>
          <a:xfrm>
            <a:off x="2057400" y="5175504"/>
            <a:ext cx="9418320" cy="365760"/>
          </a:xfrm>
          <a:prstGeom prst="rect">
            <a:avLst/>
          </a:prstGeom>
          <a:noFill/>
          <a:ln/>
        </p:spPr>
        <p:txBody>
          <a:bodyPr wrap="square" rtlCol="0" anchor="ctr"/>
          <a:lstStyle/>
          <a:p>
            <a:pPr marL="0" indent="0">
              <a:buNone/>
            </a:pPr>
            <a:r>
              <a:rPr lang="en-US" sz="1500" b="1">
                <a:solidFill>
                  <a:srgbClr val="28251D"/>
                </a:solidFill>
                <a:latin typeface="Calibri" pitchFamily="34" charset="0"/>
                <a:ea typeface="Calibri" pitchFamily="34" charset="-122"/>
                <a:cs typeface="Calibri" pitchFamily="34" charset="-120"/>
              </a:rPr>
              <a:t>customtkinter _set_window_icon warning on macOS</a:t>
            </a:r>
            <a:endParaRPr lang="en-US" sz="1500"/>
          </a:p>
        </p:txBody>
      </p:sp>
      <p:sp>
        <p:nvSpPr>
          <p:cNvPr id="23" name="Text 21"/>
          <p:cNvSpPr/>
          <p:nvPr/>
        </p:nvSpPr>
        <p:spPr>
          <a:xfrm>
            <a:off x="2057400" y="5541264"/>
            <a:ext cx="9418320" cy="548640"/>
          </a:xfrm>
          <a:prstGeom prst="rect">
            <a:avLst/>
          </a:prstGeom>
          <a:noFill/>
          <a:ln/>
        </p:spPr>
        <p:txBody>
          <a:bodyPr wrap="square" rtlCol="0" anchor="ctr"/>
          <a:lstStyle/>
          <a:p>
            <a:pPr marL="0" indent="0">
              <a:buNone/>
            </a:pPr>
            <a:r>
              <a:rPr lang="en-US" sz="1150">
                <a:solidFill>
                  <a:srgbClr val="28251D"/>
                </a:solidFill>
                <a:latin typeface="Calibri" pitchFamily="34" charset="0"/>
                <a:ea typeface="Calibri" pitchFamily="34" charset="-122"/>
                <a:cs typeface="Calibri" pitchFamily="34" charset="-120"/>
              </a:rPr>
              <a:t>Surfaces during GUI tests; upstream CTk quirk. Documented in tests/gui/README.md · Limitations.</a:t>
            </a:r>
            <a:endParaRPr lang="en-US" sz="1150"/>
          </a:p>
        </p:txBody>
      </p:sp>
      <p:sp>
        <p:nvSpPr>
          <p:cNvPr id="24" name="Text 22"/>
          <p:cNvSpPr/>
          <p:nvPr/>
        </p:nvSpPr>
        <p:spPr>
          <a:xfrm>
            <a:off x="457200" y="6446520"/>
            <a:ext cx="9144000" cy="274320"/>
          </a:xfrm>
          <a:prstGeom prst="rect">
            <a:avLst/>
          </a:prstGeom>
          <a:noFill/>
          <a:ln/>
        </p:spPr>
        <p:txBody>
          <a:bodyPr wrap="square" rtlCol="0" anchor="ctr"/>
          <a:lstStyle/>
          <a:p>
            <a:pPr marL="0" indent="0">
              <a:buNone/>
            </a:pPr>
            <a:r>
              <a:rPr lang="en-US" sz="900">
                <a:solidFill>
                  <a:srgbClr val="7A7974"/>
                </a:solidFill>
                <a:latin typeface="Calibri" pitchFamily="34" charset="0"/>
                <a:ea typeface="Calibri" pitchFamily="34" charset="-122"/>
                <a:cs typeface="Calibri" pitchFamily="34" charset="-120"/>
              </a:rPr>
              <a:t>Systematic Testing of HERALDEXX/habit-tracker</a:t>
            </a:r>
            <a:r>
              <a:rPr lang="en-US" sz="900">
                <a:solidFill>
                  <a:srgbClr val="BAB9B4"/>
                </a:solidFill>
                <a:latin typeface="Calibri" pitchFamily="34" charset="0"/>
                <a:ea typeface="Calibri" pitchFamily="34" charset="-122"/>
                <a:cs typeface="Calibri" pitchFamily="34" charset="-120"/>
              </a:rPr>
              <a:t>   •   </a:t>
            </a:r>
            <a:r>
              <a:rPr lang="en-US" sz="900">
                <a:solidFill>
                  <a:srgbClr val="7A7974"/>
                </a:solidFill>
                <a:latin typeface="Calibri" pitchFamily="34" charset="0"/>
                <a:ea typeface="Calibri" pitchFamily="34" charset="-122"/>
                <a:cs typeface="Calibri" pitchFamily="34" charset="-120"/>
              </a:rPr>
              <a:t>CS422 Spring 2026</a:t>
            </a:r>
            <a:endParaRPr lang="en-US" sz="900"/>
          </a:p>
        </p:txBody>
      </p:sp>
      <p:sp>
        <p:nvSpPr>
          <p:cNvPr id="25" name="Text 23"/>
          <p:cNvSpPr/>
          <p:nvPr/>
        </p:nvSpPr>
        <p:spPr>
          <a:xfrm>
            <a:off x="10789920" y="6446520"/>
            <a:ext cx="914400" cy="274320"/>
          </a:xfrm>
          <a:prstGeom prst="rect">
            <a:avLst/>
          </a:prstGeom>
          <a:noFill/>
          <a:ln/>
        </p:spPr>
        <p:txBody>
          <a:bodyPr wrap="square" rtlCol="0" anchor="ctr"/>
          <a:lstStyle/>
          <a:p>
            <a:pPr marL="0" indent="0" algn="r">
              <a:buNone/>
            </a:pPr>
            <a:r>
              <a:rPr lang="en-US" sz="900">
                <a:solidFill>
                  <a:srgbClr val="7A7974"/>
                </a:solidFill>
                <a:latin typeface="Calibri" pitchFamily="34" charset="0"/>
                <a:ea typeface="Calibri" pitchFamily="34" charset="-122"/>
                <a:cs typeface="Calibri" pitchFamily="34" charset="-120"/>
              </a:rPr>
              <a:t>14 / 15</a:t>
            </a:r>
            <a:endParaRPr lang="en-US" sz="9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171614"/>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1696F"/>
          </a:solidFill>
          <a:ln w="12700">
            <a:solidFill>
              <a:srgbClr val="01696F"/>
            </a:solidFill>
            <a:prstDash val="solid"/>
          </a:ln>
        </p:spPr>
        <p:txBody>
          <a:bodyPr/>
          <a:lstStyle/>
          <a:p>
            <a:endParaRPr lang="en-US"/>
          </a:p>
        </p:txBody>
      </p:sp>
      <p:sp>
        <p:nvSpPr>
          <p:cNvPr id="3" name="Text 1"/>
          <p:cNvSpPr/>
          <p:nvPr/>
        </p:nvSpPr>
        <p:spPr>
          <a:xfrm>
            <a:off x="822960" y="502920"/>
            <a:ext cx="10058400" cy="274320"/>
          </a:xfrm>
          <a:prstGeom prst="rect">
            <a:avLst/>
          </a:prstGeom>
          <a:noFill/>
          <a:ln/>
        </p:spPr>
        <p:txBody>
          <a:bodyPr wrap="square" rtlCol="0" anchor="ctr"/>
          <a:lstStyle/>
          <a:p>
            <a:pPr marL="0" indent="0">
              <a:buNone/>
            </a:pPr>
            <a:r>
              <a:rPr lang="en-US" sz="1100" b="1" kern="0" spc="300">
                <a:solidFill>
                  <a:srgbClr val="4F98A3"/>
                </a:solidFill>
                <a:latin typeface="Calibri" pitchFamily="34" charset="0"/>
                <a:ea typeface="Calibri" pitchFamily="34" charset="-122"/>
                <a:cs typeface="Calibri" pitchFamily="34" charset="-120"/>
              </a:rPr>
              <a:t>PART 3 · WRAP-UP</a:t>
            </a:r>
            <a:endParaRPr lang="en-US" sz="1100"/>
          </a:p>
        </p:txBody>
      </p:sp>
      <p:sp>
        <p:nvSpPr>
          <p:cNvPr id="4" name="Text 2"/>
          <p:cNvSpPr/>
          <p:nvPr/>
        </p:nvSpPr>
        <p:spPr>
          <a:xfrm>
            <a:off x="822960" y="822960"/>
            <a:ext cx="10058400" cy="731520"/>
          </a:xfrm>
          <a:prstGeom prst="rect">
            <a:avLst/>
          </a:prstGeom>
          <a:noFill/>
          <a:ln/>
        </p:spPr>
        <p:txBody>
          <a:bodyPr wrap="square" rtlCol="0" anchor="ctr"/>
          <a:lstStyle/>
          <a:p>
            <a:pPr marL="0" indent="0">
              <a:buNone/>
            </a:pPr>
            <a:r>
              <a:rPr lang="en-US" sz="3200" b="1">
                <a:solidFill>
                  <a:srgbClr val="FFFFFF"/>
                </a:solidFill>
                <a:latin typeface="Calibri" pitchFamily="34" charset="0"/>
                <a:ea typeface="Calibri" pitchFamily="34" charset="-122"/>
                <a:cs typeface="Calibri" pitchFamily="34" charset="-120"/>
              </a:rPr>
              <a:t>What we achieved, what we learned</a:t>
            </a:r>
            <a:endParaRPr lang="en-US" sz="3200"/>
          </a:p>
        </p:txBody>
      </p:sp>
      <p:sp>
        <p:nvSpPr>
          <p:cNvPr id="5" name="Shape 3"/>
          <p:cNvSpPr/>
          <p:nvPr/>
        </p:nvSpPr>
        <p:spPr>
          <a:xfrm>
            <a:off x="822960" y="1783080"/>
            <a:ext cx="3566160" cy="1737360"/>
          </a:xfrm>
          <a:prstGeom prst="rect">
            <a:avLst/>
          </a:prstGeom>
          <a:solidFill>
            <a:srgbClr val="1C1B19"/>
          </a:solidFill>
          <a:ln w="9525">
            <a:solidFill>
              <a:srgbClr val="393836"/>
            </a:solidFill>
            <a:prstDash val="solid"/>
          </a:ln>
        </p:spPr>
        <p:txBody>
          <a:bodyPr/>
          <a:lstStyle/>
          <a:p>
            <a:endParaRPr lang="en-US"/>
          </a:p>
        </p:txBody>
      </p:sp>
      <p:sp>
        <p:nvSpPr>
          <p:cNvPr id="6" name="Text 4"/>
          <p:cNvSpPr/>
          <p:nvPr/>
        </p:nvSpPr>
        <p:spPr>
          <a:xfrm>
            <a:off x="1051560" y="1874520"/>
            <a:ext cx="3291840" cy="822960"/>
          </a:xfrm>
          <a:prstGeom prst="rect">
            <a:avLst/>
          </a:prstGeom>
          <a:noFill/>
          <a:ln/>
        </p:spPr>
        <p:txBody>
          <a:bodyPr wrap="square" rtlCol="0" anchor="ctr"/>
          <a:lstStyle/>
          <a:p>
            <a:pPr marL="0" indent="0">
              <a:buNone/>
            </a:pPr>
            <a:r>
              <a:rPr lang="en-US" sz="4800" b="1">
                <a:solidFill>
                  <a:srgbClr val="4F98A3"/>
                </a:solidFill>
                <a:latin typeface="Calibri" pitchFamily="34" charset="0"/>
                <a:ea typeface="Calibri" pitchFamily="34" charset="-122"/>
                <a:cs typeface="Calibri" pitchFamily="34" charset="-120"/>
              </a:rPr>
              <a:t>355</a:t>
            </a:r>
            <a:endParaRPr lang="en-US" sz="4800"/>
          </a:p>
        </p:txBody>
      </p:sp>
      <p:sp>
        <p:nvSpPr>
          <p:cNvPr id="7" name="Text 5"/>
          <p:cNvSpPr/>
          <p:nvPr/>
        </p:nvSpPr>
        <p:spPr>
          <a:xfrm>
            <a:off x="1051560" y="2697480"/>
            <a:ext cx="3291840" cy="320040"/>
          </a:xfrm>
          <a:prstGeom prst="rect">
            <a:avLst/>
          </a:prstGeom>
          <a:noFill/>
          <a:ln/>
        </p:spPr>
        <p:txBody>
          <a:bodyPr wrap="square" rtlCol="0" anchor="ctr"/>
          <a:lstStyle/>
          <a:p>
            <a:pPr marL="0" indent="0">
              <a:buNone/>
            </a:pPr>
            <a:r>
              <a:rPr lang="en-US" sz="1400" b="1">
                <a:solidFill>
                  <a:srgbClr val="FFFFFF"/>
                </a:solidFill>
                <a:latin typeface="Calibri" pitchFamily="34" charset="0"/>
                <a:ea typeface="Calibri" pitchFamily="34" charset="-122"/>
                <a:cs typeface="Calibri" pitchFamily="34" charset="-120"/>
              </a:rPr>
              <a:t>tests written</a:t>
            </a:r>
            <a:endParaRPr lang="en-US" sz="1400"/>
          </a:p>
        </p:txBody>
      </p:sp>
      <p:sp>
        <p:nvSpPr>
          <p:cNvPr id="8" name="Text 6"/>
          <p:cNvSpPr/>
          <p:nvPr/>
        </p:nvSpPr>
        <p:spPr>
          <a:xfrm>
            <a:off x="1051560" y="3017520"/>
            <a:ext cx="3291840" cy="365760"/>
          </a:xfrm>
          <a:prstGeom prst="rect">
            <a:avLst/>
          </a:prstGeom>
          <a:noFill/>
          <a:ln/>
        </p:spPr>
        <p:txBody>
          <a:bodyPr wrap="square" rtlCol="0" anchor="ctr"/>
          <a:lstStyle/>
          <a:p>
            <a:pPr marL="0" indent="0">
              <a:buNone/>
            </a:pPr>
            <a:r>
              <a:rPr lang="en-US" sz="1200">
                <a:solidFill>
                  <a:srgbClr val="CDCCCA"/>
                </a:solidFill>
                <a:latin typeface="Calibri" pitchFamily="34" charset="0"/>
                <a:ea typeface="Calibri" pitchFamily="34" charset="-122"/>
                <a:cs typeface="Calibri" pitchFamily="34" charset="-120"/>
              </a:rPr>
              <a:t>0 pre-existing</a:t>
            </a:r>
            <a:endParaRPr lang="en-US" sz="1200"/>
          </a:p>
        </p:txBody>
      </p:sp>
      <p:sp>
        <p:nvSpPr>
          <p:cNvPr id="9" name="Shape 7"/>
          <p:cNvSpPr/>
          <p:nvPr/>
        </p:nvSpPr>
        <p:spPr>
          <a:xfrm>
            <a:off x="4617720" y="1783080"/>
            <a:ext cx="3566160" cy="1737360"/>
          </a:xfrm>
          <a:prstGeom prst="rect">
            <a:avLst/>
          </a:prstGeom>
          <a:solidFill>
            <a:srgbClr val="1C1B19"/>
          </a:solidFill>
          <a:ln w="9525">
            <a:solidFill>
              <a:srgbClr val="393836"/>
            </a:solidFill>
            <a:prstDash val="solid"/>
          </a:ln>
        </p:spPr>
        <p:txBody>
          <a:bodyPr/>
          <a:lstStyle/>
          <a:p>
            <a:endParaRPr lang="en-US"/>
          </a:p>
        </p:txBody>
      </p:sp>
      <p:sp>
        <p:nvSpPr>
          <p:cNvPr id="10" name="Text 8"/>
          <p:cNvSpPr/>
          <p:nvPr/>
        </p:nvSpPr>
        <p:spPr>
          <a:xfrm>
            <a:off x="4846320" y="1874520"/>
            <a:ext cx="3291840" cy="822960"/>
          </a:xfrm>
          <a:prstGeom prst="rect">
            <a:avLst/>
          </a:prstGeom>
          <a:noFill/>
          <a:ln/>
        </p:spPr>
        <p:txBody>
          <a:bodyPr wrap="square" rtlCol="0" anchor="ctr"/>
          <a:lstStyle/>
          <a:p>
            <a:pPr marL="0" indent="0">
              <a:buNone/>
            </a:pPr>
            <a:r>
              <a:rPr lang="en-US" sz="4800" b="1">
                <a:solidFill>
                  <a:srgbClr val="4F98A3"/>
                </a:solidFill>
                <a:latin typeface="Calibri" pitchFamily="34" charset="0"/>
                <a:ea typeface="Calibri" pitchFamily="34" charset="-122"/>
                <a:cs typeface="Calibri" pitchFamily="34" charset="-120"/>
              </a:rPr>
              <a:t>87–100%</a:t>
            </a:r>
            <a:endParaRPr lang="en-US" sz="4800"/>
          </a:p>
        </p:txBody>
      </p:sp>
      <p:sp>
        <p:nvSpPr>
          <p:cNvPr id="11" name="Text 9"/>
          <p:cNvSpPr/>
          <p:nvPr/>
        </p:nvSpPr>
        <p:spPr>
          <a:xfrm>
            <a:off x="4846320" y="2697480"/>
            <a:ext cx="3291840" cy="320040"/>
          </a:xfrm>
          <a:prstGeom prst="rect">
            <a:avLst/>
          </a:prstGeom>
          <a:noFill/>
          <a:ln/>
        </p:spPr>
        <p:txBody>
          <a:bodyPr wrap="square" rtlCol="0" anchor="ctr"/>
          <a:lstStyle/>
          <a:p>
            <a:pPr marL="0" indent="0">
              <a:buNone/>
            </a:pPr>
            <a:r>
              <a:rPr lang="en-US" sz="1400" b="1">
                <a:solidFill>
                  <a:srgbClr val="FFFFFF"/>
                </a:solidFill>
                <a:latin typeface="Calibri" pitchFamily="34" charset="0"/>
                <a:ea typeface="Calibri" pitchFamily="34" charset="-122"/>
                <a:cs typeface="Calibri" pitchFamily="34" charset="-120"/>
              </a:rPr>
              <a:t>branch coverage</a:t>
            </a:r>
            <a:endParaRPr lang="en-US" sz="1400"/>
          </a:p>
        </p:txBody>
      </p:sp>
      <p:sp>
        <p:nvSpPr>
          <p:cNvPr id="12" name="Text 10"/>
          <p:cNvSpPr/>
          <p:nvPr/>
        </p:nvSpPr>
        <p:spPr>
          <a:xfrm>
            <a:off x="4846320" y="3017520"/>
            <a:ext cx="3291840" cy="365760"/>
          </a:xfrm>
          <a:prstGeom prst="rect">
            <a:avLst/>
          </a:prstGeom>
          <a:noFill/>
          <a:ln/>
        </p:spPr>
        <p:txBody>
          <a:bodyPr wrap="square" rtlCol="0" anchor="ctr"/>
          <a:lstStyle/>
          <a:p>
            <a:pPr marL="0" indent="0">
              <a:buNone/>
            </a:pPr>
            <a:r>
              <a:rPr lang="en-US" sz="1200">
                <a:solidFill>
                  <a:srgbClr val="CDCCCA"/>
                </a:solidFill>
                <a:latin typeface="Calibri" pitchFamily="34" charset="0"/>
                <a:ea typeface="Calibri" pitchFamily="34" charset="-122"/>
                <a:cs typeface="Calibri" pitchFamily="34" charset="-120"/>
              </a:rPr>
              <a:t>non-GUI modules</a:t>
            </a:r>
            <a:endParaRPr lang="en-US" sz="1200"/>
          </a:p>
        </p:txBody>
      </p:sp>
      <p:sp>
        <p:nvSpPr>
          <p:cNvPr id="13" name="Shape 11"/>
          <p:cNvSpPr/>
          <p:nvPr/>
        </p:nvSpPr>
        <p:spPr>
          <a:xfrm>
            <a:off x="8412480" y="1783080"/>
            <a:ext cx="3566160" cy="1737360"/>
          </a:xfrm>
          <a:prstGeom prst="rect">
            <a:avLst/>
          </a:prstGeom>
          <a:solidFill>
            <a:srgbClr val="1C1B19"/>
          </a:solidFill>
          <a:ln w="9525">
            <a:solidFill>
              <a:srgbClr val="393836"/>
            </a:solidFill>
            <a:prstDash val="solid"/>
          </a:ln>
        </p:spPr>
        <p:txBody>
          <a:bodyPr/>
          <a:lstStyle/>
          <a:p>
            <a:endParaRPr lang="en-US"/>
          </a:p>
        </p:txBody>
      </p:sp>
      <p:sp>
        <p:nvSpPr>
          <p:cNvPr id="14" name="Text 12"/>
          <p:cNvSpPr/>
          <p:nvPr/>
        </p:nvSpPr>
        <p:spPr>
          <a:xfrm>
            <a:off x="8641080" y="1874520"/>
            <a:ext cx="3291840" cy="822960"/>
          </a:xfrm>
          <a:prstGeom prst="rect">
            <a:avLst/>
          </a:prstGeom>
          <a:noFill/>
          <a:ln/>
        </p:spPr>
        <p:txBody>
          <a:bodyPr wrap="square" rtlCol="0" anchor="ctr"/>
          <a:lstStyle/>
          <a:p>
            <a:pPr marL="0" indent="0">
              <a:buNone/>
            </a:pPr>
            <a:r>
              <a:rPr lang="en-US" sz="4800" b="1">
                <a:solidFill>
                  <a:srgbClr val="4F98A3"/>
                </a:solidFill>
                <a:latin typeface="Calibri" pitchFamily="34" charset="0"/>
                <a:ea typeface="Calibri" pitchFamily="34" charset="-122"/>
                <a:cs typeface="Calibri" pitchFamily="34" charset="-120"/>
              </a:rPr>
              <a:t>76.1%</a:t>
            </a:r>
            <a:endParaRPr lang="en-US" sz="4800"/>
          </a:p>
        </p:txBody>
      </p:sp>
      <p:sp>
        <p:nvSpPr>
          <p:cNvPr id="15" name="Text 13"/>
          <p:cNvSpPr/>
          <p:nvPr/>
        </p:nvSpPr>
        <p:spPr>
          <a:xfrm>
            <a:off x="8641080" y="2697480"/>
            <a:ext cx="3291840" cy="320040"/>
          </a:xfrm>
          <a:prstGeom prst="rect">
            <a:avLst/>
          </a:prstGeom>
          <a:noFill/>
          <a:ln/>
        </p:spPr>
        <p:txBody>
          <a:bodyPr wrap="square" rtlCol="0" anchor="ctr"/>
          <a:lstStyle/>
          <a:p>
            <a:pPr marL="0" indent="0">
              <a:buNone/>
            </a:pPr>
            <a:r>
              <a:rPr lang="en-US" sz="1400" b="1">
                <a:solidFill>
                  <a:srgbClr val="FFFFFF"/>
                </a:solidFill>
                <a:latin typeface="Calibri" pitchFamily="34" charset="0"/>
                <a:ea typeface="Calibri" pitchFamily="34" charset="-122"/>
                <a:cs typeface="Calibri" pitchFamily="34" charset="-120"/>
              </a:rPr>
              <a:t>mutation score</a:t>
            </a:r>
            <a:endParaRPr lang="en-US" sz="1400"/>
          </a:p>
        </p:txBody>
      </p:sp>
      <p:sp>
        <p:nvSpPr>
          <p:cNvPr id="16" name="Text 14"/>
          <p:cNvSpPr/>
          <p:nvPr/>
        </p:nvSpPr>
        <p:spPr>
          <a:xfrm>
            <a:off x="8641080" y="3017520"/>
            <a:ext cx="3291840" cy="365760"/>
          </a:xfrm>
          <a:prstGeom prst="rect">
            <a:avLst/>
          </a:prstGeom>
          <a:noFill/>
          <a:ln/>
        </p:spPr>
        <p:txBody>
          <a:bodyPr wrap="square" rtlCol="0" anchor="ctr"/>
          <a:lstStyle/>
          <a:p>
            <a:pPr marL="0" indent="0">
              <a:buNone/>
            </a:pPr>
            <a:r>
              <a:rPr lang="en-US" sz="1200">
                <a:solidFill>
                  <a:srgbClr val="CDCCCA"/>
                </a:solidFill>
                <a:latin typeface="Calibri" pitchFamily="34" charset="0"/>
                <a:ea typeface="Calibri" pitchFamily="34" charset="-122"/>
                <a:cs typeface="Calibri" pitchFamily="34" charset="-120"/>
              </a:rPr>
              <a:t>+28.2 pts vs baseline</a:t>
            </a:r>
            <a:endParaRPr lang="en-US" sz="1200"/>
          </a:p>
        </p:txBody>
      </p:sp>
      <p:sp>
        <p:nvSpPr>
          <p:cNvPr id="17" name="Text 15"/>
          <p:cNvSpPr/>
          <p:nvPr/>
        </p:nvSpPr>
        <p:spPr>
          <a:xfrm>
            <a:off x="822960" y="3794760"/>
            <a:ext cx="10058400" cy="320040"/>
          </a:xfrm>
          <a:prstGeom prst="rect">
            <a:avLst/>
          </a:prstGeom>
          <a:noFill/>
          <a:ln/>
        </p:spPr>
        <p:txBody>
          <a:bodyPr wrap="square" rtlCol="0" anchor="ctr"/>
          <a:lstStyle/>
          <a:p>
            <a:pPr marL="0" indent="0">
              <a:buNone/>
            </a:pPr>
            <a:r>
              <a:rPr lang="en-US" sz="1100" b="1" kern="0" spc="200">
                <a:solidFill>
                  <a:srgbClr val="4F98A3"/>
                </a:solidFill>
                <a:latin typeface="Calibri" pitchFamily="34" charset="0"/>
                <a:ea typeface="Calibri" pitchFamily="34" charset="-122"/>
                <a:cs typeface="Calibri" pitchFamily="34" charset="-120"/>
              </a:rPr>
              <a:t>LESSONS LEARNED</a:t>
            </a:r>
            <a:endParaRPr lang="en-US" sz="1100"/>
          </a:p>
        </p:txBody>
      </p:sp>
      <p:sp>
        <p:nvSpPr>
          <p:cNvPr id="18" name="Text 16"/>
          <p:cNvSpPr/>
          <p:nvPr/>
        </p:nvSpPr>
        <p:spPr>
          <a:xfrm>
            <a:off x="822960" y="4114800"/>
            <a:ext cx="10058400" cy="1554480"/>
          </a:xfrm>
          <a:prstGeom prst="rect">
            <a:avLst/>
          </a:prstGeom>
          <a:noFill/>
          <a:ln/>
        </p:spPr>
        <p:txBody>
          <a:bodyPr wrap="square" rtlCol="0" anchor="ctr"/>
          <a:lstStyle/>
          <a:p>
            <a:pPr marL="342900" indent="-342900">
              <a:spcAft>
                <a:spcPts val="400"/>
              </a:spcAft>
              <a:buSzPct val="100000"/>
              <a:buChar char="•"/>
            </a:pPr>
            <a:r>
              <a:rPr lang="en-US" sz="1300">
                <a:solidFill>
                  <a:srgbClr val="FFFFFF"/>
                </a:solidFill>
                <a:latin typeface="Calibri" pitchFamily="34" charset="0"/>
                <a:ea typeface="Calibri" pitchFamily="34" charset="-122"/>
                <a:cs typeface="Calibri" pitchFamily="34" charset="-120"/>
              </a:rPr>
              <a:t>Isolating GUI code under 70% of the codebase early unblocked a realistic coverage target.</a:t>
            </a:r>
            <a:endParaRPr lang="en-US" sz="1300"/>
          </a:p>
          <a:p>
            <a:pPr marL="342900" indent="-342900">
              <a:spcAft>
                <a:spcPts val="400"/>
              </a:spcAft>
              <a:buSzPct val="100000"/>
              <a:buChar char="•"/>
            </a:pPr>
            <a:r>
              <a:rPr lang="en-US" sz="1300">
                <a:solidFill>
                  <a:srgbClr val="FFFFFF"/>
                </a:solidFill>
                <a:latin typeface="Calibri" pitchFamily="34" charset="0"/>
                <a:ea typeface="Calibri" pitchFamily="34" charset="-122"/>
                <a:cs typeface="Calibri" pitchFamily="34" charset="-120"/>
              </a:rPr>
              <a:t>Baseline → targeted killers → re-run is far more productive than writing tests blindly.</a:t>
            </a:r>
            <a:endParaRPr lang="en-US" sz="1300"/>
          </a:p>
          <a:p>
            <a:pPr marL="342900" indent="-342900">
              <a:spcAft>
                <a:spcPts val="400"/>
              </a:spcAft>
              <a:buSzPct val="100000"/>
              <a:buChar char="•"/>
            </a:pPr>
            <a:r>
              <a:rPr lang="en-US" sz="1300">
                <a:solidFill>
                  <a:srgbClr val="FFFFFF"/>
                </a:solidFill>
                <a:latin typeface="Calibri" pitchFamily="34" charset="0"/>
                <a:ea typeface="Calibri" pitchFamily="34" charset="-122"/>
                <a:cs typeface="Calibri" pitchFamily="34" charset="-120"/>
              </a:rPr>
              <a:t>Equivalent-mutant analysis is essential — not every survivor is a test gap.</a:t>
            </a:r>
            <a:endParaRPr lang="en-US" sz="1300"/>
          </a:p>
          <a:p>
            <a:pPr marL="342900" indent="-342900">
              <a:spcAft>
                <a:spcPts val="400"/>
              </a:spcAft>
              <a:buSzPct val="100000"/>
              <a:buChar char="•"/>
            </a:pPr>
            <a:r>
              <a:rPr lang="en-US" sz="1300">
                <a:solidFill>
                  <a:srgbClr val="FFFFFF"/>
                </a:solidFill>
                <a:latin typeface="Calibri" pitchFamily="34" charset="0"/>
                <a:ea typeface="Calibri" pitchFamily="34" charset="-122"/>
                <a:cs typeface="Calibri" pitchFamily="34" charset="-120"/>
              </a:rPr>
              <a:t>Tk introspection beat pytest-tk and pyautogui on speed, CI-friendliness, and maintenance.</a:t>
            </a:r>
            <a:endParaRPr lang="en-US" sz="1300"/>
          </a:p>
        </p:txBody>
      </p:sp>
      <p:sp>
        <p:nvSpPr>
          <p:cNvPr id="19" name="Shape 17"/>
          <p:cNvSpPr/>
          <p:nvPr/>
        </p:nvSpPr>
        <p:spPr>
          <a:xfrm>
            <a:off x="822960" y="5623560"/>
            <a:ext cx="10789920" cy="777240"/>
          </a:xfrm>
          <a:prstGeom prst="rect">
            <a:avLst/>
          </a:prstGeom>
          <a:solidFill>
            <a:srgbClr val="1C1B19"/>
          </a:solidFill>
          <a:ln w="12700">
            <a:solidFill>
              <a:srgbClr val="01696F"/>
            </a:solidFill>
            <a:prstDash val="solid"/>
          </a:ln>
        </p:spPr>
        <p:txBody>
          <a:bodyPr/>
          <a:lstStyle/>
          <a:p>
            <a:endParaRPr lang="en-US"/>
          </a:p>
        </p:txBody>
      </p:sp>
      <p:sp>
        <p:nvSpPr>
          <p:cNvPr id="20" name="Text 18"/>
          <p:cNvSpPr/>
          <p:nvPr/>
        </p:nvSpPr>
        <p:spPr>
          <a:xfrm>
            <a:off x="1005840" y="5623560"/>
            <a:ext cx="2743200" cy="777240"/>
          </a:xfrm>
          <a:prstGeom prst="rect">
            <a:avLst/>
          </a:prstGeom>
          <a:noFill/>
          <a:ln/>
        </p:spPr>
        <p:txBody>
          <a:bodyPr wrap="square" rtlCol="0" anchor="ctr"/>
          <a:lstStyle/>
          <a:p>
            <a:pPr marL="0" indent="0">
              <a:buNone/>
            </a:pPr>
            <a:r>
              <a:rPr lang="en-US" sz="2800" b="1">
                <a:solidFill>
                  <a:srgbClr val="FFFFFF"/>
                </a:solidFill>
                <a:latin typeface="Calibri" pitchFamily="34" charset="0"/>
                <a:ea typeface="Calibri" pitchFamily="34" charset="-122"/>
                <a:cs typeface="Calibri" pitchFamily="34" charset="-120"/>
              </a:rPr>
              <a:t>Q &amp; A</a:t>
            </a:r>
            <a:endParaRPr lang="en-US" sz="2800"/>
          </a:p>
        </p:txBody>
      </p:sp>
      <p:sp>
        <p:nvSpPr>
          <p:cNvPr id="21" name="Text 19"/>
          <p:cNvSpPr/>
          <p:nvPr/>
        </p:nvSpPr>
        <p:spPr>
          <a:xfrm>
            <a:off x="3749040" y="5715000"/>
            <a:ext cx="7680960" cy="548640"/>
          </a:xfrm>
          <a:prstGeom prst="rect">
            <a:avLst/>
          </a:prstGeom>
          <a:noFill/>
          <a:ln/>
        </p:spPr>
        <p:txBody>
          <a:bodyPr wrap="square" rtlCol="0" anchor="ctr"/>
          <a:lstStyle/>
          <a:p>
            <a:pPr marL="0" indent="0" algn="r">
              <a:buNone/>
            </a:pPr>
            <a:r>
              <a:rPr lang="en-US" sz="1200" u="sng">
                <a:solidFill>
                  <a:srgbClr val="4F98A3"/>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github.com/taranagarwal/stad_final_habit_tracker</a:t>
            </a:r>
            <a:r>
              <a:rPr lang="en-US" sz="1200">
                <a:solidFill>
                  <a:srgbClr val="CDCCCA"/>
                </a:solidFill>
                <a:latin typeface="Calibri" pitchFamily="34" charset="0"/>
                <a:ea typeface="Calibri" pitchFamily="34" charset="-122"/>
                <a:cs typeface="Calibri" pitchFamily="34" charset="-120"/>
              </a:rPr>
              <a:t>     •     Justin Bravo · Taran Agarwal</a:t>
            </a:r>
            <a:endParaRPr lang="en-US" sz="1200"/>
          </a:p>
        </p:txBody>
      </p:sp>
      <p:pic>
        <p:nvPicPr>
          <p:cNvPr id="1026" name="Picture 2" descr="Jay is ready for his close-up | Hub">
            <a:extLst>
              <a:ext uri="{FF2B5EF4-FFF2-40B4-BE49-F238E27FC236}">
                <a16:creationId xmlns:a16="http://schemas.microsoft.com/office/drawing/2014/main" id="{88E6E9C2-BFC4-CB4F-A619-513922122E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21262" y="3657600"/>
            <a:ext cx="2447778" cy="163185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4304</Words>
  <Application>Microsoft Macintosh PowerPoint</Application>
  <PresentationFormat>Widescreen</PresentationFormat>
  <Paragraphs>473</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Systematic Testing of HERALDEXX/habit-tracker</dc:title>
  <dc:subject>PptxGenJS Presentation</dc:subject>
  <dc:creator>Justin Bravo &amp; Taran Agarwal</dc:creator>
  <cp:lastModifiedBy>Taran Agarwal</cp:lastModifiedBy>
  <cp:revision>1</cp:revision>
  <dcterms:created xsi:type="dcterms:W3CDTF">2026-04-19T18:40:11Z</dcterms:created>
  <dcterms:modified xsi:type="dcterms:W3CDTF">2026-04-20T18:14:32Z</dcterms:modified>
</cp:coreProperties>
</file>